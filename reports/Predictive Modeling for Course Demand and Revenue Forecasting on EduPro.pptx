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9220200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1028699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219" y="1677002"/>
            <a:ext cx="18103344" cy="69348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21670" y="3746531"/>
            <a:ext cx="14244659" cy="143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227445" y="2397509"/>
            <a:ext cx="5240019" cy="55968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46494" y="1865807"/>
            <a:ext cx="17288510" cy="6557645"/>
          </a:xfrm>
          <a:custGeom>
            <a:avLst/>
            <a:gdLst/>
            <a:ahLst/>
            <a:cxnLst/>
            <a:rect l="l" t="t" r="r" b="b"/>
            <a:pathLst>
              <a:path w="17288510" h="6557645">
                <a:moveTo>
                  <a:pt x="17288498" y="1684756"/>
                </a:moveTo>
                <a:lnTo>
                  <a:pt x="17285627" y="1543380"/>
                </a:lnTo>
                <a:lnTo>
                  <a:pt x="17277334" y="1406321"/>
                </a:lnTo>
                <a:lnTo>
                  <a:pt x="17268800" y="1317498"/>
                </a:lnTo>
                <a:lnTo>
                  <a:pt x="17257865" y="1230795"/>
                </a:lnTo>
                <a:lnTo>
                  <a:pt x="17244530" y="1146314"/>
                </a:lnTo>
                <a:lnTo>
                  <a:pt x="17228808" y="1064120"/>
                </a:lnTo>
                <a:lnTo>
                  <a:pt x="17210685" y="984313"/>
                </a:lnTo>
                <a:lnTo>
                  <a:pt x="17190174" y="906970"/>
                </a:lnTo>
                <a:lnTo>
                  <a:pt x="17167289" y="832167"/>
                </a:lnTo>
                <a:lnTo>
                  <a:pt x="17142016" y="759993"/>
                </a:lnTo>
                <a:lnTo>
                  <a:pt x="17114368" y="690524"/>
                </a:lnTo>
                <a:lnTo>
                  <a:pt x="17084345" y="623862"/>
                </a:lnTo>
                <a:lnTo>
                  <a:pt x="17051960" y="560070"/>
                </a:lnTo>
                <a:lnTo>
                  <a:pt x="17017200" y="499237"/>
                </a:lnTo>
                <a:lnTo>
                  <a:pt x="16980078" y="441464"/>
                </a:lnTo>
                <a:lnTo>
                  <a:pt x="16940594" y="386803"/>
                </a:lnTo>
                <a:lnTo>
                  <a:pt x="16898760" y="335356"/>
                </a:lnTo>
                <a:lnTo>
                  <a:pt x="16854577" y="287210"/>
                </a:lnTo>
                <a:lnTo>
                  <a:pt x="16808031" y="242430"/>
                </a:lnTo>
                <a:lnTo>
                  <a:pt x="16759149" y="201129"/>
                </a:lnTo>
                <a:lnTo>
                  <a:pt x="16707930" y="163360"/>
                </a:lnTo>
                <a:lnTo>
                  <a:pt x="16654361" y="129209"/>
                </a:lnTo>
                <a:lnTo>
                  <a:pt x="16598468" y="98780"/>
                </a:lnTo>
                <a:lnTo>
                  <a:pt x="16537153" y="70891"/>
                </a:lnTo>
                <a:lnTo>
                  <a:pt x="16470922" y="46596"/>
                </a:lnTo>
                <a:lnTo>
                  <a:pt x="16403142" y="27457"/>
                </a:lnTo>
                <a:lnTo>
                  <a:pt x="16298748" y="8255"/>
                </a:lnTo>
                <a:lnTo>
                  <a:pt x="16227463" y="1676"/>
                </a:lnTo>
                <a:lnTo>
                  <a:pt x="16154934" y="0"/>
                </a:lnTo>
                <a:lnTo>
                  <a:pt x="16081248" y="3162"/>
                </a:lnTo>
                <a:lnTo>
                  <a:pt x="16006483" y="11074"/>
                </a:lnTo>
                <a:lnTo>
                  <a:pt x="15930741" y="23685"/>
                </a:lnTo>
                <a:lnTo>
                  <a:pt x="15854109" y="40906"/>
                </a:lnTo>
                <a:lnTo>
                  <a:pt x="15776677" y="62687"/>
                </a:lnTo>
                <a:lnTo>
                  <a:pt x="15698534" y="88925"/>
                </a:lnTo>
                <a:lnTo>
                  <a:pt x="15619756" y="119583"/>
                </a:lnTo>
                <a:lnTo>
                  <a:pt x="15540444" y="154571"/>
                </a:lnTo>
                <a:lnTo>
                  <a:pt x="15460675" y="193827"/>
                </a:lnTo>
                <a:lnTo>
                  <a:pt x="15380564" y="237274"/>
                </a:lnTo>
                <a:lnTo>
                  <a:pt x="15300173" y="284848"/>
                </a:lnTo>
                <a:lnTo>
                  <a:pt x="15219591" y="336473"/>
                </a:lnTo>
                <a:lnTo>
                  <a:pt x="15138934" y="392074"/>
                </a:lnTo>
                <a:lnTo>
                  <a:pt x="15058251" y="451586"/>
                </a:lnTo>
                <a:lnTo>
                  <a:pt x="14977669" y="514934"/>
                </a:lnTo>
                <a:lnTo>
                  <a:pt x="14897253" y="582053"/>
                </a:lnTo>
                <a:lnTo>
                  <a:pt x="14817103" y="652881"/>
                </a:lnTo>
                <a:lnTo>
                  <a:pt x="14737296" y="727329"/>
                </a:lnTo>
                <a:lnTo>
                  <a:pt x="14657934" y="805319"/>
                </a:lnTo>
                <a:lnTo>
                  <a:pt x="14579105" y="886815"/>
                </a:lnTo>
                <a:lnTo>
                  <a:pt x="14500886" y="971715"/>
                </a:lnTo>
                <a:lnTo>
                  <a:pt x="14423365" y="1059954"/>
                </a:lnTo>
                <a:lnTo>
                  <a:pt x="14346657" y="1151470"/>
                </a:lnTo>
                <a:lnTo>
                  <a:pt x="14270812" y="1246187"/>
                </a:lnTo>
                <a:lnTo>
                  <a:pt x="14195946" y="1344041"/>
                </a:lnTo>
                <a:lnTo>
                  <a:pt x="14122146" y="1444955"/>
                </a:lnTo>
                <a:lnTo>
                  <a:pt x="14085672" y="1496529"/>
                </a:lnTo>
                <a:lnTo>
                  <a:pt x="14077150" y="1376768"/>
                </a:lnTo>
                <a:lnTo>
                  <a:pt x="14064437" y="1260627"/>
                </a:lnTo>
                <a:lnTo>
                  <a:pt x="14047508" y="1148295"/>
                </a:lnTo>
                <a:lnTo>
                  <a:pt x="14026388" y="1039990"/>
                </a:lnTo>
                <a:lnTo>
                  <a:pt x="14001077" y="935888"/>
                </a:lnTo>
                <a:lnTo>
                  <a:pt x="13986853" y="885469"/>
                </a:lnTo>
                <a:lnTo>
                  <a:pt x="13971575" y="836180"/>
                </a:lnTo>
                <a:lnTo>
                  <a:pt x="13955268" y="788035"/>
                </a:lnTo>
                <a:lnTo>
                  <a:pt x="13937907" y="741070"/>
                </a:lnTo>
                <a:lnTo>
                  <a:pt x="13919505" y="695286"/>
                </a:lnTo>
                <a:lnTo>
                  <a:pt x="13900049" y="650735"/>
                </a:lnTo>
                <a:lnTo>
                  <a:pt x="13879563" y="607428"/>
                </a:lnTo>
                <a:lnTo>
                  <a:pt x="13858024" y="565391"/>
                </a:lnTo>
                <a:lnTo>
                  <a:pt x="13835456" y="524637"/>
                </a:lnTo>
                <a:lnTo>
                  <a:pt x="13811847" y="485203"/>
                </a:lnTo>
                <a:lnTo>
                  <a:pt x="13787196" y="447116"/>
                </a:lnTo>
                <a:lnTo>
                  <a:pt x="13761504" y="410387"/>
                </a:lnTo>
                <a:lnTo>
                  <a:pt x="13734771" y="375056"/>
                </a:lnTo>
                <a:lnTo>
                  <a:pt x="13707009" y="341134"/>
                </a:lnTo>
                <a:lnTo>
                  <a:pt x="13678205" y="308648"/>
                </a:lnTo>
                <a:lnTo>
                  <a:pt x="13648360" y="277634"/>
                </a:lnTo>
                <a:lnTo>
                  <a:pt x="13617486" y="248094"/>
                </a:lnTo>
                <a:lnTo>
                  <a:pt x="13585584" y="220065"/>
                </a:lnTo>
                <a:lnTo>
                  <a:pt x="13552640" y="193586"/>
                </a:lnTo>
                <a:lnTo>
                  <a:pt x="13518668" y="168643"/>
                </a:lnTo>
                <a:lnTo>
                  <a:pt x="13483654" y="145300"/>
                </a:lnTo>
                <a:lnTo>
                  <a:pt x="13447611" y="123558"/>
                </a:lnTo>
                <a:lnTo>
                  <a:pt x="13410540" y="103441"/>
                </a:lnTo>
                <a:lnTo>
                  <a:pt x="13372440" y="84988"/>
                </a:lnTo>
                <a:lnTo>
                  <a:pt x="13307149" y="58102"/>
                </a:lnTo>
                <a:lnTo>
                  <a:pt x="13240245" y="36385"/>
                </a:lnTo>
                <a:lnTo>
                  <a:pt x="13171818" y="19799"/>
                </a:lnTo>
                <a:lnTo>
                  <a:pt x="13101968" y="8255"/>
                </a:lnTo>
                <a:lnTo>
                  <a:pt x="13030772" y="1676"/>
                </a:lnTo>
                <a:lnTo>
                  <a:pt x="12958318" y="0"/>
                </a:lnTo>
                <a:lnTo>
                  <a:pt x="12884709" y="3162"/>
                </a:lnTo>
                <a:lnTo>
                  <a:pt x="12810020" y="11074"/>
                </a:lnTo>
                <a:lnTo>
                  <a:pt x="12734341" y="23685"/>
                </a:lnTo>
                <a:lnTo>
                  <a:pt x="12657773" y="40906"/>
                </a:lnTo>
                <a:lnTo>
                  <a:pt x="12580391" y="62687"/>
                </a:lnTo>
                <a:lnTo>
                  <a:pt x="12502286" y="88925"/>
                </a:lnTo>
                <a:lnTo>
                  <a:pt x="12423559" y="119583"/>
                </a:lnTo>
                <a:lnTo>
                  <a:pt x="12344286" y="154571"/>
                </a:lnTo>
                <a:lnTo>
                  <a:pt x="12264568" y="193827"/>
                </a:lnTo>
                <a:lnTo>
                  <a:pt x="12184482" y="237274"/>
                </a:lnTo>
                <a:lnTo>
                  <a:pt x="12104116" y="284848"/>
                </a:lnTo>
                <a:lnTo>
                  <a:pt x="12023573" y="336473"/>
                </a:lnTo>
                <a:lnTo>
                  <a:pt x="11942928" y="392074"/>
                </a:lnTo>
                <a:lnTo>
                  <a:pt x="11862270" y="451586"/>
                </a:lnTo>
                <a:lnTo>
                  <a:pt x="11781701" y="514934"/>
                </a:lnTo>
                <a:lnTo>
                  <a:pt x="11701297" y="582053"/>
                </a:lnTo>
                <a:lnTo>
                  <a:pt x="11621160" y="652881"/>
                </a:lnTo>
                <a:lnTo>
                  <a:pt x="11541366" y="727329"/>
                </a:lnTo>
                <a:lnTo>
                  <a:pt x="11462004" y="805319"/>
                </a:lnTo>
                <a:lnTo>
                  <a:pt x="11383175" y="886815"/>
                </a:lnTo>
                <a:lnTo>
                  <a:pt x="11304969" y="971715"/>
                </a:lnTo>
                <a:lnTo>
                  <a:pt x="11227460" y="1059954"/>
                </a:lnTo>
                <a:lnTo>
                  <a:pt x="11150740" y="1151470"/>
                </a:lnTo>
                <a:lnTo>
                  <a:pt x="11074908" y="1246187"/>
                </a:lnTo>
                <a:lnTo>
                  <a:pt x="11000042" y="1344041"/>
                </a:lnTo>
                <a:lnTo>
                  <a:pt x="10926229" y="1444955"/>
                </a:lnTo>
                <a:lnTo>
                  <a:pt x="10889755" y="1496529"/>
                </a:lnTo>
                <a:lnTo>
                  <a:pt x="10881131" y="1376768"/>
                </a:lnTo>
                <a:lnTo>
                  <a:pt x="10868317" y="1260627"/>
                </a:lnTo>
                <a:lnTo>
                  <a:pt x="10851312" y="1148295"/>
                </a:lnTo>
                <a:lnTo>
                  <a:pt x="10830128" y="1039990"/>
                </a:lnTo>
                <a:lnTo>
                  <a:pt x="10804766" y="935888"/>
                </a:lnTo>
                <a:lnTo>
                  <a:pt x="10790517" y="885469"/>
                </a:lnTo>
                <a:lnTo>
                  <a:pt x="10775226" y="836180"/>
                </a:lnTo>
                <a:lnTo>
                  <a:pt x="10758894" y="788035"/>
                </a:lnTo>
                <a:lnTo>
                  <a:pt x="10741520" y="741070"/>
                </a:lnTo>
                <a:lnTo>
                  <a:pt x="10723105" y="695286"/>
                </a:lnTo>
                <a:lnTo>
                  <a:pt x="10703649" y="650735"/>
                </a:lnTo>
                <a:lnTo>
                  <a:pt x="10683164" y="607428"/>
                </a:lnTo>
                <a:lnTo>
                  <a:pt x="10661637" y="565391"/>
                </a:lnTo>
                <a:lnTo>
                  <a:pt x="10639069" y="524637"/>
                </a:lnTo>
                <a:lnTo>
                  <a:pt x="10615460" y="485203"/>
                </a:lnTo>
                <a:lnTo>
                  <a:pt x="10590822" y="447116"/>
                </a:lnTo>
                <a:lnTo>
                  <a:pt x="10565143" y="410387"/>
                </a:lnTo>
                <a:lnTo>
                  <a:pt x="10538435" y="375056"/>
                </a:lnTo>
                <a:lnTo>
                  <a:pt x="10510698" y="341134"/>
                </a:lnTo>
                <a:lnTo>
                  <a:pt x="10481920" y="308648"/>
                </a:lnTo>
                <a:lnTo>
                  <a:pt x="10452100" y="277634"/>
                </a:lnTo>
                <a:lnTo>
                  <a:pt x="10421264" y="248094"/>
                </a:lnTo>
                <a:lnTo>
                  <a:pt x="10389387" y="220065"/>
                </a:lnTo>
                <a:lnTo>
                  <a:pt x="10356482" y="193586"/>
                </a:lnTo>
                <a:lnTo>
                  <a:pt x="10322547" y="168643"/>
                </a:lnTo>
                <a:lnTo>
                  <a:pt x="10287584" y="145300"/>
                </a:lnTo>
                <a:lnTo>
                  <a:pt x="10251592" y="123558"/>
                </a:lnTo>
                <a:lnTo>
                  <a:pt x="10214572" y="103441"/>
                </a:lnTo>
                <a:lnTo>
                  <a:pt x="10176523" y="84988"/>
                </a:lnTo>
                <a:lnTo>
                  <a:pt x="10117709" y="60439"/>
                </a:lnTo>
                <a:lnTo>
                  <a:pt x="10057574" y="40119"/>
                </a:lnTo>
                <a:lnTo>
                  <a:pt x="9996183" y="23990"/>
                </a:lnTo>
                <a:lnTo>
                  <a:pt x="9933622" y="11976"/>
                </a:lnTo>
                <a:lnTo>
                  <a:pt x="9869932" y="4051"/>
                </a:lnTo>
                <a:lnTo>
                  <a:pt x="9805187" y="139"/>
                </a:lnTo>
                <a:lnTo>
                  <a:pt x="9739465" y="203"/>
                </a:lnTo>
                <a:lnTo>
                  <a:pt x="9699066" y="2616"/>
                </a:lnTo>
                <a:lnTo>
                  <a:pt x="9688932" y="1676"/>
                </a:lnTo>
                <a:lnTo>
                  <a:pt x="9616402" y="0"/>
                </a:lnTo>
                <a:lnTo>
                  <a:pt x="9542716" y="3162"/>
                </a:lnTo>
                <a:lnTo>
                  <a:pt x="9467952" y="11074"/>
                </a:lnTo>
                <a:lnTo>
                  <a:pt x="9392221" y="23685"/>
                </a:lnTo>
                <a:lnTo>
                  <a:pt x="9315590" y="40906"/>
                </a:lnTo>
                <a:lnTo>
                  <a:pt x="9238145" y="62687"/>
                </a:lnTo>
                <a:lnTo>
                  <a:pt x="9160002" y="88925"/>
                </a:lnTo>
                <a:lnTo>
                  <a:pt x="9081224" y="119583"/>
                </a:lnTo>
                <a:lnTo>
                  <a:pt x="9001912" y="154571"/>
                </a:lnTo>
                <a:lnTo>
                  <a:pt x="8922156" y="193827"/>
                </a:lnTo>
                <a:lnTo>
                  <a:pt x="8842032" y="237274"/>
                </a:lnTo>
                <a:lnTo>
                  <a:pt x="8761641" y="284848"/>
                </a:lnTo>
                <a:lnTo>
                  <a:pt x="8681060" y="336473"/>
                </a:lnTo>
                <a:lnTo>
                  <a:pt x="8600402" y="392074"/>
                </a:lnTo>
                <a:lnTo>
                  <a:pt x="8519731" y="451586"/>
                </a:lnTo>
                <a:lnTo>
                  <a:pt x="8439137" y="514934"/>
                </a:lnTo>
                <a:lnTo>
                  <a:pt x="8358721" y="582053"/>
                </a:lnTo>
                <a:lnTo>
                  <a:pt x="8278571" y="652881"/>
                </a:lnTo>
                <a:lnTo>
                  <a:pt x="8198777" y="727329"/>
                </a:lnTo>
                <a:lnTo>
                  <a:pt x="8119415" y="805319"/>
                </a:lnTo>
                <a:lnTo>
                  <a:pt x="8040573" y="886815"/>
                </a:lnTo>
                <a:lnTo>
                  <a:pt x="7962354" y="971715"/>
                </a:lnTo>
                <a:lnTo>
                  <a:pt x="7884846" y="1059954"/>
                </a:lnTo>
                <a:lnTo>
                  <a:pt x="7808125" y="1151470"/>
                </a:lnTo>
                <a:lnTo>
                  <a:pt x="7732281" y="1246187"/>
                </a:lnTo>
                <a:lnTo>
                  <a:pt x="7657427" y="1344041"/>
                </a:lnTo>
                <a:lnTo>
                  <a:pt x="7583614" y="1444955"/>
                </a:lnTo>
                <a:lnTo>
                  <a:pt x="7547140" y="1496529"/>
                </a:lnTo>
                <a:lnTo>
                  <a:pt x="7538631" y="1376768"/>
                </a:lnTo>
                <a:lnTo>
                  <a:pt x="7525906" y="1260627"/>
                </a:lnTo>
                <a:lnTo>
                  <a:pt x="7508976" y="1148295"/>
                </a:lnTo>
                <a:lnTo>
                  <a:pt x="7487856" y="1039990"/>
                </a:lnTo>
                <a:lnTo>
                  <a:pt x="7462545" y="935888"/>
                </a:lnTo>
                <a:lnTo>
                  <a:pt x="7448321" y="885469"/>
                </a:lnTo>
                <a:lnTo>
                  <a:pt x="7433056" y="836180"/>
                </a:lnTo>
                <a:lnTo>
                  <a:pt x="7416736" y="788035"/>
                </a:lnTo>
                <a:lnTo>
                  <a:pt x="7399375" y="741070"/>
                </a:lnTo>
                <a:lnTo>
                  <a:pt x="7380973" y="695286"/>
                </a:lnTo>
                <a:lnTo>
                  <a:pt x="7361517" y="650735"/>
                </a:lnTo>
                <a:lnTo>
                  <a:pt x="7341032" y="607428"/>
                </a:lnTo>
                <a:lnTo>
                  <a:pt x="7319505" y="565391"/>
                </a:lnTo>
                <a:lnTo>
                  <a:pt x="7296925" y="524637"/>
                </a:lnTo>
                <a:lnTo>
                  <a:pt x="7273315" y="485203"/>
                </a:lnTo>
                <a:lnTo>
                  <a:pt x="7248665" y="447116"/>
                </a:lnTo>
                <a:lnTo>
                  <a:pt x="7222972" y="410387"/>
                </a:lnTo>
                <a:lnTo>
                  <a:pt x="7196252" y="375056"/>
                </a:lnTo>
                <a:lnTo>
                  <a:pt x="7168477" y="341134"/>
                </a:lnTo>
                <a:lnTo>
                  <a:pt x="7139673" y="308648"/>
                </a:lnTo>
                <a:lnTo>
                  <a:pt x="7109841" y="277634"/>
                </a:lnTo>
                <a:lnTo>
                  <a:pt x="7078967" y="248094"/>
                </a:lnTo>
                <a:lnTo>
                  <a:pt x="7047052" y="220065"/>
                </a:lnTo>
                <a:lnTo>
                  <a:pt x="7014108" y="193586"/>
                </a:lnTo>
                <a:lnTo>
                  <a:pt x="6980136" y="168643"/>
                </a:lnTo>
                <a:lnTo>
                  <a:pt x="6945122" y="145300"/>
                </a:lnTo>
                <a:lnTo>
                  <a:pt x="6909079" y="123558"/>
                </a:lnTo>
                <a:lnTo>
                  <a:pt x="6872008" y="103441"/>
                </a:lnTo>
                <a:lnTo>
                  <a:pt x="6833908" y="84988"/>
                </a:lnTo>
                <a:lnTo>
                  <a:pt x="6768617" y="58102"/>
                </a:lnTo>
                <a:lnTo>
                  <a:pt x="6701714" y="36385"/>
                </a:lnTo>
                <a:lnTo>
                  <a:pt x="6633286" y="19799"/>
                </a:lnTo>
                <a:lnTo>
                  <a:pt x="6563436" y="8255"/>
                </a:lnTo>
                <a:lnTo>
                  <a:pt x="6492240" y="1676"/>
                </a:lnTo>
                <a:lnTo>
                  <a:pt x="6419786" y="0"/>
                </a:lnTo>
                <a:lnTo>
                  <a:pt x="6346177" y="3162"/>
                </a:lnTo>
                <a:lnTo>
                  <a:pt x="6271488" y="11074"/>
                </a:lnTo>
                <a:lnTo>
                  <a:pt x="6195809" y="23685"/>
                </a:lnTo>
                <a:lnTo>
                  <a:pt x="6119241" y="40906"/>
                </a:lnTo>
                <a:lnTo>
                  <a:pt x="6041860" y="62687"/>
                </a:lnTo>
                <a:lnTo>
                  <a:pt x="5963767" y="88925"/>
                </a:lnTo>
                <a:lnTo>
                  <a:pt x="5885027" y="119583"/>
                </a:lnTo>
                <a:lnTo>
                  <a:pt x="5805754" y="154571"/>
                </a:lnTo>
                <a:lnTo>
                  <a:pt x="5726036" y="193827"/>
                </a:lnTo>
                <a:lnTo>
                  <a:pt x="5645950" y="237274"/>
                </a:lnTo>
                <a:lnTo>
                  <a:pt x="5565584" y="284848"/>
                </a:lnTo>
                <a:lnTo>
                  <a:pt x="5485041" y="336473"/>
                </a:lnTo>
                <a:lnTo>
                  <a:pt x="5404396" y="392074"/>
                </a:lnTo>
                <a:lnTo>
                  <a:pt x="5323738" y="451586"/>
                </a:lnTo>
                <a:lnTo>
                  <a:pt x="5243169" y="514934"/>
                </a:lnTo>
                <a:lnTo>
                  <a:pt x="5162766" y="582053"/>
                </a:lnTo>
                <a:lnTo>
                  <a:pt x="5082629" y="652881"/>
                </a:lnTo>
                <a:lnTo>
                  <a:pt x="5002835" y="727329"/>
                </a:lnTo>
                <a:lnTo>
                  <a:pt x="4923485" y="805319"/>
                </a:lnTo>
                <a:lnTo>
                  <a:pt x="4844656" y="886815"/>
                </a:lnTo>
                <a:lnTo>
                  <a:pt x="4766437" y="971715"/>
                </a:lnTo>
                <a:lnTo>
                  <a:pt x="4688929" y="1059954"/>
                </a:lnTo>
                <a:lnTo>
                  <a:pt x="4612208" y="1151470"/>
                </a:lnTo>
                <a:lnTo>
                  <a:pt x="4536376" y="1246187"/>
                </a:lnTo>
                <a:lnTo>
                  <a:pt x="4461510" y="1344041"/>
                </a:lnTo>
                <a:lnTo>
                  <a:pt x="4387710" y="1444955"/>
                </a:lnTo>
                <a:lnTo>
                  <a:pt x="4351223" y="1496529"/>
                </a:lnTo>
                <a:lnTo>
                  <a:pt x="4342612" y="1376768"/>
                </a:lnTo>
                <a:lnTo>
                  <a:pt x="4329785" y="1260627"/>
                </a:lnTo>
                <a:lnTo>
                  <a:pt x="4312793" y="1148295"/>
                </a:lnTo>
                <a:lnTo>
                  <a:pt x="4291596" y="1039990"/>
                </a:lnTo>
                <a:lnTo>
                  <a:pt x="4266235" y="935888"/>
                </a:lnTo>
                <a:lnTo>
                  <a:pt x="4251985" y="885469"/>
                </a:lnTo>
                <a:lnTo>
                  <a:pt x="4236694" y="836180"/>
                </a:lnTo>
                <a:lnTo>
                  <a:pt x="4220362" y="788035"/>
                </a:lnTo>
                <a:lnTo>
                  <a:pt x="4202988" y="741070"/>
                </a:lnTo>
                <a:lnTo>
                  <a:pt x="4184573" y="695286"/>
                </a:lnTo>
                <a:lnTo>
                  <a:pt x="4165130" y="650735"/>
                </a:lnTo>
                <a:lnTo>
                  <a:pt x="4144632" y="607428"/>
                </a:lnTo>
                <a:lnTo>
                  <a:pt x="4123105" y="565391"/>
                </a:lnTo>
                <a:lnTo>
                  <a:pt x="4100538" y="524637"/>
                </a:lnTo>
                <a:lnTo>
                  <a:pt x="4076928" y="485203"/>
                </a:lnTo>
                <a:lnTo>
                  <a:pt x="4052290" y="447116"/>
                </a:lnTo>
                <a:lnTo>
                  <a:pt x="4026624" y="410387"/>
                </a:lnTo>
                <a:lnTo>
                  <a:pt x="3999903" y="375056"/>
                </a:lnTo>
                <a:lnTo>
                  <a:pt x="3972166" y="341134"/>
                </a:lnTo>
                <a:lnTo>
                  <a:pt x="3943388" y="308648"/>
                </a:lnTo>
                <a:lnTo>
                  <a:pt x="3913581" y="277634"/>
                </a:lnTo>
                <a:lnTo>
                  <a:pt x="3882733" y="248094"/>
                </a:lnTo>
                <a:lnTo>
                  <a:pt x="3850856" y="220065"/>
                </a:lnTo>
                <a:lnTo>
                  <a:pt x="3817950" y="193586"/>
                </a:lnTo>
                <a:lnTo>
                  <a:pt x="3784015" y="168643"/>
                </a:lnTo>
                <a:lnTo>
                  <a:pt x="3749052" y="145300"/>
                </a:lnTo>
                <a:lnTo>
                  <a:pt x="3713061" y="123558"/>
                </a:lnTo>
                <a:lnTo>
                  <a:pt x="3676040" y="103441"/>
                </a:lnTo>
                <a:lnTo>
                  <a:pt x="3638004" y="84988"/>
                </a:lnTo>
                <a:lnTo>
                  <a:pt x="3579177" y="60439"/>
                </a:lnTo>
                <a:lnTo>
                  <a:pt x="3519043" y="40119"/>
                </a:lnTo>
                <a:lnTo>
                  <a:pt x="3457651" y="23990"/>
                </a:lnTo>
                <a:lnTo>
                  <a:pt x="3395091" y="11976"/>
                </a:lnTo>
                <a:lnTo>
                  <a:pt x="3331400" y="4051"/>
                </a:lnTo>
                <a:lnTo>
                  <a:pt x="3266668" y="139"/>
                </a:lnTo>
                <a:lnTo>
                  <a:pt x="3200933" y="203"/>
                </a:lnTo>
                <a:lnTo>
                  <a:pt x="3134283" y="4178"/>
                </a:lnTo>
                <a:lnTo>
                  <a:pt x="3066783" y="12026"/>
                </a:lnTo>
                <a:lnTo>
                  <a:pt x="2998482" y="23685"/>
                </a:lnTo>
                <a:lnTo>
                  <a:pt x="2929458" y="39103"/>
                </a:lnTo>
                <a:lnTo>
                  <a:pt x="2859773" y="58229"/>
                </a:lnTo>
                <a:lnTo>
                  <a:pt x="2789491" y="81000"/>
                </a:lnTo>
                <a:lnTo>
                  <a:pt x="2718663" y="107378"/>
                </a:lnTo>
                <a:lnTo>
                  <a:pt x="2647391" y="137312"/>
                </a:lnTo>
                <a:lnTo>
                  <a:pt x="2575699" y="170738"/>
                </a:lnTo>
                <a:lnTo>
                  <a:pt x="2503690" y="207619"/>
                </a:lnTo>
                <a:lnTo>
                  <a:pt x="2431389" y="247878"/>
                </a:lnTo>
                <a:lnTo>
                  <a:pt x="2358898" y="291490"/>
                </a:lnTo>
                <a:lnTo>
                  <a:pt x="2286266" y="338378"/>
                </a:lnTo>
                <a:lnTo>
                  <a:pt x="2213559" y="388505"/>
                </a:lnTo>
                <a:lnTo>
                  <a:pt x="2104491" y="469646"/>
                </a:lnTo>
                <a:lnTo>
                  <a:pt x="1995627" y="557771"/>
                </a:lnTo>
                <a:lnTo>
                  <a:pt x="1887169" y="652691"/>
                </a:lnTo>
                <a:lnTo>
                  <a:pt x="1779358" y="754253"/>
                </a:lnTo>
                <a:lnTo>
                  <a:pt x="1672412" y="862253"/>
                </a:lnTo>
                <a:lnTo>
                  <a:pt x="1566532" y="976528"/>
                </a:lnTo>
                <a:lnTo>
                  <a:pt x="1461960" y="1096899"/>
                </a:lnTo>
                <a:lnTo>
                  <a:pt x="1358887" y="1223187"/>
                </a:lnTo>
                <a:lnTo>
                  <a:pt x="1257566" y="1355217"/>
                </a:lnTo>
                <a:lnTo>
                  <a:pt x="1158201" y="1492808"/>
                </a:lnTo>
                <a:lnTo>
                  <a:pt x="1061021" y="1635785"/>
                </a:lnTo>
                <a:lnTo>
                  <a:pt x="966228" y="1783969"/>
                </a:lnTo>
                <a:lnTo>
                  <a:pt x="874052" y="1937181"/>
                </a:lnTo>
                <a:lnTo>
                  <a:pt x="784720" y="2095246"/>
                </a:lnTo>
                <a:lnTo>
                  <a:pt x="698449" y="2257996"/>
                </a:lnTo>
                <a:lnTo>
                  <a:pt x="615442" y="2425230"/>
                </a:lnTo>
                <a:lnTo>
                  <a:pt x="536054" y="2596565"/>
                </a:lnTo>
                <a:lnTo>
                  <a:pt x="461797" y="2768739"/>
                </a:lnTo>
                <a:lnTo>
                  <a:pt x="393128" y="2940558"/>
                </a:lnTo>
                <a:lnTo>
                  <a:pt x="330022" y="3111741"/>
                </a:lnTo>
                <a:lnTo>
                  <a:pt x="272465" y="3281984"/>
                </a:lnTo>
                <a:lnTo>
                  <a:pt x="220459" y="3451034"/>
                </a:lnTo>
                <a:lnTo>
                  <a:pt x="173990" y="3618585"/>
                </a:lnTo>
                <a:lnTo>
                  <a:pt x="133032" y="3784358"/>
                </a:lnTo>
                <a:lnTo>
                  <a:pt x="97586" y="3948087"/>
                </a:lnTo>
                <a:lnTo>
                  <a:pt x="67640" y="4109478"/>
                </a:lnTo>
                <a:lnTo>
                  <a:pt x="43192" y="4268241"/>
                </a:lnTo>
                <a:lnTo>
                  <a:pt x="24206" y="4424108"/>
                </a:lnTo>
                <a:lnTo>
                  <a:pt x="10680" y="4576800"/>
                </a:lnTo>
                <a:lnTo>
                  <a:pt x="2616" y="4726013"/>
                </a:lnTo>
                <a:lnTo>
                  <a:pt x="0" y="4871478"/>
                </a:lnTo>
                <a:lnTo>
                  <a:pt x="2806" y="5012906"/>
                </a:lnTo>
                <a:lnTo>
                  <a:pt x="11036" y="5150028"/>
                </a:lnTo>
                <a:lnTo>
                  <a:pt x="19519" y="5238902"/>
                </a:lnTo>
                <a:lnTo>
                  <a:pt x="30403" y="5325656"/>
                </a:lnTo>
                <a:lnTo>
                  <a:pt x="43700" y="5410187"/>
                </a:lnTo>
                <a:lnTo>
                  <a:pt x="59372" y="5492432"/>
                </a:lnTo>
                <a:lnTo>
                  <a:pt x="77444" y="5572303"/>
                </a:lnTo>
                <a:lnTo>
                  <a:pt x="97904" y="5649709"/>
                </a:lnTo>
                <a:lnTo>
                  <a:pt x="120738" y="5724563"/>
                </a:lnTo>
                <a:lnTo>
                  <a:pt x="145961" y="5796800"/>
                </a:lnTo>
                <a:lnTo>
                  <a:pt x="173558" y="5866308"/>
                </a:lnTo>
                <a:lnTo>
                  <a:pt x="203517" y="5933033"/>
                </a:lnTo>
                <a:lnTo>
                  <a:pt x="235864" y="5996876"/>
                </a:lnTo>
                <a:lnTo>
                  <a:pt x="270560" y="6057747"/>
                </a:lnTo>
                <a:lnTo>
                  <a:pt x="307632" y="6115583"/>
                </a:lnTo>
                <a:lnTo>
                  <a:pt x="347065" y="6170282"/>
                </a:lnTo>
                <a:lnTo>
                  <a:pt x="388848" y="6221768"/>
                </a:lnTo>
                <a:lnTo>
                  <a:pt x="432981" y="6269952"/>
                </a:lnTo>
                <a:lnTo>
                  <a:pt x="479475" y="6314757"/>
                </a:lnTo>
                <a:lnTo>
                  <a:pt x="528307" y="6356096"/>
                </a:lnTo>
                <a:lnTo>
                  <a:pt x="579488" y="6393878"/>
                </a:lnTo>
                <a:lnTo>
                  <a:pt x="633006" y="6428029"/>
                </a:lnTo>
                <a:lnTo>
                  <a:pt x="688848" y="6458471"/>
                </a:lnTo>
                <a:lnTo>
                  <a:pt x="750150" y="6486372"/>
                </a:lnTo>
                <a:lnTo>
                  <a:pt x="816381" y="6510655"/>
                </a:lnTo>
                <a:lnTo>
                  <a:pt x="884161" y="6529794"/>
                </a:lnTo>
                <a:lnTo>
                  <a:pt x="988555" y="6549009"/>
                </a:lnTo>
                <a:lnTo>
                  <a:pt x="1059840" y="6555575"/>
                </a:lnTo>
                <a:lnTo>
                  <a:pt x="1132370" y="6557251"/>
                </a:lnTo>
                <a:lnTo>
                  <a:pt x="1206055" y="6554102"/>
                </a:lnTo>
                <a:lnTo>
                  <a:pt x="1280820" y="6546177"/>
                </a:lnTo>
                <a:lnTo>
                  <a:pt x="1356563" y="6533578"/>
                </a:lnTo>
                <a:lnTo>
                  <a:pt x="1433195" y="6516344"/>
                </a:lnTo>
                <a:lnTo>
                  <a:pt x="1510626" y="6494577"/>
                </a:lnTo>
                <a:lnTo>
                  <a:pt x="1588770" y="6468326"/>
                </a:lnTo>
                <a:lnTo>
                  <a:pt x="1667548" y="6437668"/>
                </a:lnTo>
                <a:lnTo>
                  <a:pt x="1746859" y="6402679"/>
                </a:lnTo>
                <a:lnTo>
                  <a:pt x="1826628" y="6363424"/>
                </a:lnTo>
                <a:lnTo>
                  <a:pt x="1906739" y="6319977"/>
                </a:lnTo>
                <a:lnTo>
                  <a:pt x="1987130" y="6272415"/>
                </a:lnTo>
                <a:lnTo>
                  <a:pt x="2067712" y="6220790"/>
                </a:lnTo>
                <a:lnTo>
                  <a:pt x="2148370" y="6165189"/>
                </a:lnTo>
                <a:lnTo>
                  <a:pt x="2229040" y="6105677"/>
                </a:lnTo>
                <a:lnTo>
                  <a:pt x="2309634" y="6042317"/>
                </a:lnTo>
                <a:lnTo>
                  <a:pt x="2390051" y="5975197"/>
                </a:lnTo>
                <a:lnTo>
                  <a:pt x="2470200" y="5904382"/>
                </a:lnTo>
                <a:lnTo>
                  <a:pt x="2549995" y="5829935"/>
                </a:lnTo>
                <a:lnTo>
                  <a:pt x="2629370" y="5751931"/>
                </a:lnTo>
                <a:lnTo>
                  <a:pt x="2708198" y="5670448"/>
                </a:lnTo>
                <a:lnTo>
                  <a:pt x="2786418" y="5585549"/>
                </a:lnTo>
                <a:lnTo>
                  <a:pt x="2863926" y="5497296"/>
                </a:lnTo>
                <a:lnTo>
                  <a:pt x="2940647" y="5405780"/>
                </a:lnTo>
                <a:lnTo>
                  <a:pt x="3016491" y="5311064"/>
                </a:lnTo>
                <a:lnTo>
                  <a:pt x="3091357" y="5213223"/>
                </a:lnTo>
                <a:lnTo>
                  <a:pt x="3165157" y="5112309"/>
                </a:lnTo>
                <a:lnTo>
                  <a:pt x="3201632" y="5060721"/>
                </a:lnTo>
                <a:lnTo>
                  <a:pt x="3210255" y="5180495"/>
                </a:lnTo>
                <a:lnTo>
                  <a:pt x="3223069" y="5296636"/>
                </a:lnTo>
                <a:lnTo>
                  <a:pt x="3240074" y="5408955"/>
                </a:lnTo>
                <a:lnTo>
                  <a:pt x="3261258" y="5517273"/>
                </a:lnTo>
                <a:lnTo>
                  <a:pt x="3286633" y="5621375"/>
                </a:lnTo>
                <a:lnTo>
                  <a:pt x="3300869" y="5671782"/>
                </a:lnTo>
                <a:lnTo>
                  <a:pt x="3316160" y="5721083"/>
                </a:lnTo>
                <a:lnTo>
                  <a:pt x="3332492" y="5769216"/>
                </a:lnTo>
                <a:lnTo>
                  <a:pt x="3349866" y="5816193"/>
                </a:lnTo>
                <a:lnTo>
                  <a:pt x="3368281" y="5861964"/>
                </a:lnTo>
                <a:lnTo>
                  <a:pt x="3387737" y="5906516"/>
                </a:lnTo>
                <a:lnTo>
                  <a:pt x="3408222" y="5949835"/>
                </a:lnTo>
                <a:lnTo>
                  <a:pt x="3429762" y="5991872"/>
                </a:lnTo>
                <a:lnTo>
                  <a:pt x="3452330" y="6032614"/>
                </a:lnTo>
                <a:lnTo>
                  <a:pt x="3475926" y="6072048"/>
                </a:lnTo>
                <a:lnTo>
                  <a:pt x="3500564" y="6110135"/>
                </a:lnTo>
                <a:lnTo>
                  <a:pt x="3526244" y="6146863"/>
                </a:lnTo>
                <a:lnTo>
                  <a:pt x="3552952" y="6182195"/>
                </a:lnTo>
                <a:lnTo>
                  <a:pt x="3580701" y="6216116"/>
                </a:lnTo>
                <a:lnTo>
                  <a:pt x="3609479" y="6248603"/>
                </a:lnTo>
                <a:lnTo>
                  <a:pt x="3639286" y="6279629"/>
                </a:lnTo>
                <a:lnTo>
                  <a:pt x="3670122" y="6309157"/>
                </a:lnTo>
                <a:lnTo>
                  <a:pt x="3701999" y="6337186"/>
                </a:lnTo>
                <a:lnTo>
                  <a:pt x="3734905" y="6363678"/>
                </a:lnTo>
                <a:lnTo>
                  <a:pt x="3768839" y="6388608"/>
                </a:lnTo>
                <a:lnTo>
                  <a:pt x="3803802" y="6411963"/>
                </a:lnTo>
                <a:lnTo>
                  <a:pt x="3839794" y="6433706"/>
                </a:lnTo>
                <a:lnTo>
                  <a:pt x="3876814" y="6453810"/>
                </a:lnTo>
                <a:lnTo>
                  <a:pt x="3914864" y="6472275"/>
                </a:lnTo>
                <a:lnTo>
                  <a:pt x="3980269" y="6499161"/>
                </a:lnTo>
                <a:lnTo>
                  <a:pt x="4047274" y="6520866"/>
                </a:lnTo>
                <a:lnTo>
                  <a:pt x="4115790" y="6537452"/>
                </a:lnTo>
                <a:lnTo>
                  <a:pt x="4185729" y="6549009"/>
                </a:lnTo>
                <a:lnTo>
                  <a:pt x="4257002" y="6555587"/>
                </a:lnTo>
                <a:lnTo>
                  <a:pt x="4329519" y="6557251"/>
                </a:lnTo>
                <a:lnTo>
                  <a:pt x="4403191" y="6554102"/>
                </a:lnTo>
                <a:lnTo>
                  <a:pt x="4477931" y="6546177"/>
                </a:lnTo>
                <a:lnTo>
                  <a:pt x="4553648" y="6533578"/>
                </a:lnTo>
                <a:lnTo>
                  <a:pt x="4630255" y="6516344"/>
                </a:lnTo>
                <a:lnTo>
                  <a:pt x="4707661" y="6494577"/>
                </a:lnTo>
                <a:lnTo>
                  <a:pt x="4785779" y="6468326"/>
                </a:lnTo>
                <a:lnTo>
                  <a:pt x="4864532" y="6437668"/>
                </a:lnTo>
                <a:lnTo>
                  <a:pt x="4943818" y="6402679"/>
                </a:lnTo>
                <a:lnTo>
                  <a:pt x="5023548" y="6363424"/>
                </a:lnTo>
                <a:lnTo>
                  <a:pt x="5103634" y="6319977"/>
                </a:lnTo>
                <a:lnTo>
                  <a:pt x="5184000" y="6272415"/>
                </a:lnTo>
                <a:lnTo>
                  <a:pt x="5264543" y="6220790"/>
                </a:lnTo>
                <a:lnTo>
                  <a:pt x="5345176" y="6165189"/>
                </a:lnTo>
                <a:lnTo>
                  <a:pt x="5425821" y="6105677"/>
                </a:lnTo>
                <a:lnTo>
                  <a:pt x="5506377" y="6042317"/>
                </a:lnTo>
                <a:lnTo>
                  <a:pt x="5586768" y="5975197"/>
                </a:lnTo>
                <a:lnTo>
                  <a:pt x="5666892" y="5904382"/>
                </a:lnTo>
                <a:lnTo>
                  <a:pt x="5746674" y="5829935"/>
                </a:lnTo>
                <a:lnTo>
                  <a:pt x="5826010" y="5751931"/>
                </a:lnTo>
                <a:lnTo>
                  <a:pt x="5904827" y="5670448"/>
                </a:lnTo>
                <a:lnTo>
                  <a:pt x="5983021" y="5585549"/>
                </a:lnTo>
                <a:lnTo>
                  <a:pt x="6060529" y="5497296"/>
                </a:lnTo>
                <a:lnTo>
                  <a:pt x="6137237" y="5405780"/>
                </a:lnTo>
                <a:lnTo>
                  <a:pt x="6213056" y="5311064"/>
                </a:lnTo>
                <a:lnTo>
                  <a:pt x="6287909" y="5213223"/>
                </a:lnTo>
                <a:lnTo>
                  <a:pt x="6361722" y="5112309"/>
                </a:lnTo>
                <a:lnTo>
                  <a:pt x="6398196" y="5060721"/>
                </a:lnTo>
                <a:lnTo>
                  <a:pt x="6406820" y="5180495"/>
                </a:lnTo>
                <a:lnTo>
                  <a:pt x="6419634" y="5296636"/>
                </a:lnTo>
                <a:lnTo>
                  <a:pt x="6436639" y="5408955"/>
                </a:lnTo>
                <a:lnTo>
                  <a:pt x="6457823" y="5517273"/>
                </a:lnTo>
                <a:lnTo>
                  <a:pt x="6483185" y="5621375"/>
                </a:lnTo>
                <a:lnTo>
                  <a:pt x="6497434" y="5671782"/>
                </a:lnTo>
                <a:lnTo>
                  <a:pt x="6512725" y="5721083"/>
                </a:lnTo>
                <a:lnTo>
                  <a:pt x="6529057" y="5769216"/>
                </a:lnTo>
                <a:lnTo>
                  <a:pt x="6546431" y="5816193"/>
                </a:lnTo>
                <a:lnTo>
                  <a:pt x="6564846" y="5861964"/>
                </a:lnTo>
                <a:lnTo>
                  <a:pt x="6584289" y="5906516"/>
                </a:lnTo>
                <a:lnTo>
                  <a:pt x="6604787" y="5949835"/>
                </a:lnTo>
                <a:lnTo>
                  <a:pt x="6626314" y="5991872"/>
                </a:lnTo>
                <a:lnTo>
                  <a:pt x="6648882" y="6032614"/>
                </a:lnTo>
                <a:lnTo>
                  <a:pt x="6672491" y="6072048"/>
                </a:lnTo>
                <a:lnTo>
                  <a:pt x="6697129" y="6110135"/>
                </a:lnTo>
                <a:lnTo>
                  <a:pt x="6722808" y="6146863"/>
                </a:lnTo>
                <a:lnTo>
                  <a:pt x="6749516" y="6182195"/>
                </a:lnTo>
                <a:lnTo>
                  <a:pt x="6777253" y="6216116"/>
                </a:lnTo>
                <a:lnTo>
                  <a:pt x="6806031" y="6248603"/>
                </a:lnTo>
                <a:lnTo>
                  <a:pt x="6835851" y="6279629"/>
                </a:lnTo>
                <a:lnTo>
                  <a:pt x="6866687" y="6309157"/>
                </a:lnTo>
                <a:lnTo>
                  <a:pt x="6898564" y="6337186"/>
                </a:lnTo>
                <a:lnTo>
                  <a:pt x="6931469" y="6363678"/>
                </a:lnTo>
                <a:lnTo>
                  <a:pt x="6965404" y="6388608"/>
                </a:lnTo>
                <a:lnTo>
                  <a:pt x="7000367" y="6411963"/>
                </a:lnTo>
                <a:lnTo>
                  <a:pt x="7036359" y="6433706"/>
                </a:lnTo>
                <a:lnTo>
                  <a:pt x="7073379" y="6453810"/>
                </a:lnTo>
                <a:lnTo>
                  <a:pt x="7111416" y="6472275"/>
                </a:lnTo>
                <a:lnTo>
                  <a:pt x="7170318" y="6496736"/>
                </a:lnTo>
                <a:lnTo>
                  <a:pt x="7230529" y="6516992"/>
                </a:lnTo>
                <a:lnTo>
                  <a:pt x="7291984" y="6533083"/>
                </a:lnTo>
                <a:lnTo>
                  <a:pt x="7354608" y="6545046"/>
                </a:lnTo>
                <a:lnTo>
                  <a:pt x="7418349" y="6552959"/>
                </a:lnTo>
                <a:lnTo>
                  <a:pt x="7483145" y="6556845"/>
                </a:lnTo>
                <a:lnTo>
                  <a:pt x="7548905" y="6556781"/>
                </a:lnTo>
                <a:lnTo>
                  <a:pt x="7586878" y="6554521"/>
                </a:lnTo>
                <a:lnTo>
                  <a:pt x="7598359" y="6555575"/>
                </a:lnTo>
                <a:lnTo>
                  <a:pt x="7670901" y="6557251"/>
                </a:lnTo>
                <a:lnTo>
                  <a:pt x="7744587" y="6554102"/>
                </a:lnTo>
                <a:lnTo>
                  <a:pt x="7819339" y="6546177"/>
                </a:lnTo>
                <a:lnTo>
                  <a:pt x="7895082" y="6533578"/>
                </a:lnTo>
                <a:lnTo>
                  <a:pt x="7971714" y="6516344"/>
                </a:lnTo>
                <a:lnTo>
                  <a:pt x="8049158" y="6494577"/>
                </a:lnTo>
                <a:lnTo>
                  <a:pt x="8127301" y="6468326"/>
                </a:lnTo>
                <a:lnTo>
                  <a:pt x="8206079" y="6437668"/>
                </a:lnTo>
                <a:lnTo>
                  <a:pt x="8285391" y="6402679"/>
                </a:lnTo>
                <a:lnTo>
                  <a:pt x="8365147" y="6363424"/>
                </a:lnTo>
                <a:lnTo>
                  <a:pt x="8445271" y="6319977"/>
                </a:lnTo>
                <a:lnTo>
                  <a:pt x="8525662" y="6272415"/>
                </a:lnTo>
                <a:lnTo>
                  <a:pt x="8606231" y="6220790"/>
                </a:lnTo>
                <a:lnTo>
                  <a:pt x="8686902" y="6165189"/>
                </a:lnTo>
                <a:lnTo>
                  <a:pt x="8767572" y="6105677"/>
                </a:lnTo>
                <a:lnTo>
                  <a:pt x="8848166" y="6042317"/>
                </a:lnTo>
                <a:lnTo>
                  <a:pt x="8928570" y="5975197"/>
                </a:lnTo>
                <a:lnTo>
                  <a:pt x="9008732" y="5904382"/>
                </a:lnTo>
                <a:lnTo>
                  <a:pt x="9088526" y="5829935"/>
                </a:lnTo>
                <a:lnTo>
                  <a:pt x="9167889" y="5751931"/>
                </a:lnTo>
                <a:lnTo>
                  <a:pt x="9246730" y="5670448"/>
                </a:lnTo>
                <a:lnTo>
                  <a:pt x="9324950" y="5585549"/>
                </a:lnTo>
                <a:lnTo>
                  <a:pt x="9402458" y="5497296"/>
                </a:lnTo>
                <a:lnTo>
                  <a:pt x="9479178" y="5405780"/>
                </a:lnTo>
                <a:lnTo>
                  <a:pt x="9555010" y="5311064"/>
                </a:lnTo>
                <a:lnTo>
                  <a:pt x="9629877" y="5213223"/>
                </a:lnTo>
                <a:lnTo>
                  <a:pt x="9703689" y="5112309"/>
                </a:lnTo>
                <a:lnTo>
                  <a:pt x="9740163" y="5060721"/>
                </a:lnTo>
                <a:lnTo>
                  <a:pt x="9748787" y="5180495"/>
                </a:lnTo>
                <a:lnTo>
                  <a:pt x="9761601" y="5296636"/>
                </a:lnTo>
                <a:lnTo>
                  <a:pt x="9778606" y="5408955"/>
                </a:lnTo>
                <a:lnTo>
                  <a:pt x="9799790" y="5517273"/>
                </a:lnTo>
                <a:lnTo>
                  <a:pt x="9825152" y="5621375"/>
                </a:lnTo>
                <a:lnTo>
                  <a:pt x="9839401" y="5671782"/>
                </a:lnTo>
                <a:lnTo>
                  <a:pt x="9854692" y="5721083"/>
                </a:lnTo>
                <a:lnTo>
                  <a:pt x="9871024" y="5769216"/>
                </a:lnTo>
                <a:lnTo>
                  <a:pt x="9888398" y="5816193"/>
                </a:lnTo>
                <a:lnTo>
                  <a:pt x="9906813" y="5861964"/>
                </a:lnTo>
                <a:lnTo>
                  <a:pt x="9926269" y="5906516"/>
                </a:lnTo>
                <a:lnTo>
                  <a:pt x="9946754" y="5949835"/>
                </a:lnTo>
                <a:lnTo>
                  <a:pt x="9968281" y="5991872"/>
                </a:lnTo>
                <a:lnTo>
                  <a:pt x="9990849" y="6032614"/>
                </a:lnTo>
                <a:lnTo>
                  <a:pt x="10014458" y="6072048"/>
                </a:lnTo>
                <a:lnTo>
                  <a:pt x="10039096" y="6110135"/>
                </a:lnTo>
                <a:lnTo>
                  <a:pt x="10064775" y="6146863"/>
                </a:lnTo>
                <a:lnTo>
                  <a:pt x="10091483" y="6182195"/>
                </a:lnTo>
                <a:lnTo>
                  <a:pt x="10119220" y="6216116"/>
                </a:lnTo>
                <a:lnTo>
                  <a:pt x="10147998" y="6248603"/>
                </a:lnTo>
                <a:lnTo>
                  <a:pt x="10177818" y="6279629"/>
                </a:lnTo>
                <a:lnTo>
                  <a:pt x="10208654" y="6309157"/>
                </a:lnTo>
                <a:lnTo>
                  <a:pt x="10240531" y="6337186"/>
                </a:lnTo>
                <a:lnTo>
                  <a:pt x="10273436" y="6363678"/>
                </a:lnTo>
                <a:lnTo>
                  <a:pt x="10307371" y="6388608"/>
                </a:lnTo>
                <a:lnTo>
                  <a:pt x="10342334" y="6411963"/>
                </a:lnTo>
                <a:lnTo>
                  <a:pt x="10378326" y="6433706"/>
                </a:lnTo>
                <a:lnTo>
                  <a:pt x="10415346" y="6453810"/>
                </a:lnTo>
                <a:lnTo>
                  <a:pt x="10453395" y="6472275"/>
                </a:lnTo>
                <a:lnTo>
                  <a:pt x="10518800" y="6499161"/>
                </a:lnTo>
                <a:lnTo>
                  <a:pt x="10585806" y="6520866"/>
                </a:lnTo>
                <a:lnTo>
                  <a:pt x="10654322" y="6537452"/>
                </a:lnTo>
                <a:lnTo>
                  <a:pt x="10724261" y="6549009"/>
                </a:lnTo>
                <a:lnTo>
                  <a:pt x="10795533" y="6555587"/>
                </a:lnTo>
                <a:lnTo>
                  <a:pt x="10868050" y="6557251"/>
                </a:lnTo>
                <a:lnTo>
                  <a:pt x="10941710" y="6554102"/>
                </a:lnTo>
                <a:lnTo>
                  <a:pt x="11016450" y="6546177"/>
                </a:lnTo>
                <a:lnTo>
                  <a:pt x="11092167" y="6533578"/>
                </a:lnTo>
                <a:lnTo>
                  <a:pt x="11168774" y="6516344"/>
                </a:lnTo>
                <a:lnTo>
                  <a:pt x="11246193" y="6494577"/>
                </a:lnTo>
                <a:lnTo>
                  <a:pt x="11324311" y="6468326"/>
                </a:lnTo>
                <a:lnTo>
                  <a:pt x="11403063" y="6437668"/>
                </a:lnTo>
                <a:lnTo>
                  <a:pt x="11482337" y="6402679"/>
                </a:lnTo>
                <a:lnTo>
                  <a:pt x="11562067" y="6363424"/>
                </a:lnTo>
                <a:lnTo>
                  <a:pt x="11642166" y="6319977"/>
                </a:lnTo>
                <a:lnTo>
                  <a:pt x="11722519" y="6272415"/>
                </a:lnTo>
                <a:lnTo>
                  <a:pt x="11803063" y="6220790"/>
                </a:lnTo>
                <a:lnTo>
                  <a:pt x="11883708" y="6165189"/>
                </a:lnTo>
                <a:lnTo>
                  <a:pt x="11964353" y="6105677"/>
                </a:lnTo>
                <a:lnTo>
                  <a:pt x="12044909" y="6042317"/>
                </a:lnTo>
                <a:lnTo>
                  <a:pt x="12125300" y="5975197"/>
                </a:lnTo>
                <a:lnTo>
                  <a:pt x="12205424" y="5904382"/>
                </a:lnTo>
                <a:lnTo>
                  <a:pt x="12285193" y="5829935"/>
                </a:lnTo>
                <a:lnTo>
                  <a:pt x="12364542" y="5751931"/>
                </a:lnTo>
                <a:lnTo>
                  <a:pt x="12443358" y="5670448"/>
                </a:lnTo>
                <a:lnTo>
                  <a:pt x="12521552" y="5585549"/>
                </a:lnTo>
                <a:lnTo>
                  <a:pt x="12599048" y="5497296"/>
                </a:lnTo>
                <a:lnTo>
                  <a:pt x="12675756" y="5405780"/>
                </a:lnTo>
                <a:lnTo>
                  <a:pt x="12751588" y="5311064"/>
                </a:lnTo>
                <a:lnTo>
                  <a:pt x="12826441" y="5213223"/>
                </a:lnTo>
                <a:lnTo>
                  <a:pt x="12900241" y="5112309"/>
                </a:lnTo>
                <a:lnTo>
                  <a:pt x="12936715" y="5060721"/>
                </a:lnTo>
                <a:lnTo>
                  <a:pt x="12945339" y="5180495"/>
                </a:lnTo>
                <a:lnTo>
                  <a:pt x="12958153" y="5296636"/>
                </a:lnTo>
                <a:lnTo>
                  <a:pt x="12975158" y="5408955"/>
                </a:lnTo>
                <a:lnTo>
                  <a:pt x="12996355" y="5517273"/>
                </a:lnTo>
                <a:lnTo>
                  <a:pt x="13021717" y="5621375"/>
                </a:lnTo>
                <a:lnTo>
                  <a:pt x="13035966" y="5671782"/>
                </a:lnTo>
                <a:lnTo>
                  <a:pt x="13051257" y="5721083"/>
                </a:lnTo>
                <a:lnTo>
                  <a:pt x="13067589" y="5769216"/>
                </a:lnTo>
                <a:lnTo>
                  <a:pt x="13084963" y="5816193"/>
                </a:lnTo>
                <a:lnTo>
                  <a:pt x="13103365" y="5861964"/>
                </a:lnTo>
                <a:lnTo>
                  <a:pt x="13122821" y="5906516"/>
                </a:lnTo>
                <a:lnTo>
                  <a:pt x="13143319" y="5949835"/>
                </a:lnTo>
                <a:lnTo>
                  <a:pt x="13164846" y="5991872"/>
                </a:lnTo>
                <a:lnTo>
                  <a:pt x="13187413" y="6032614"/>
                </a:lnTo>
                <a:lnTo>
                  <a:pt x="13211010" y="6072048"/>
                </a:lnTo>
                <a:lnTo>
                  <a:pt x="13235661" y="6110135"/>
                </a:lnTo>
                <a:lnTo>
                  <a:pt x="13261327" y="6146863"/>
                </a:lnTo>
                <a:lnTo>
                  <a:pt x="13288036" y="6182195"/>
                </a:lnTo>
                <a:lnTo>
                  <a:pt x="13315785" y="6216116"/>
                </a:lnTo>
                <a:lnTo>
                  <a:pt x="13344563" y="6248603"/>
                </a:lnTo>
                <a:lnTo>
                  <a:pt x="13374370" y="6279629"/>
                </a:lnTo>
                <a:lnTo>
                  <a:pt x="13405218" y="6309157"/>
                </a:lnTo>
                <a:lnTo>
                  <a:pt x="13437095" y="6337186"/>
                </a:lnTo>
                <a:lnTo>
                  <a:pt x="13469988" y="6363678"/>
                </a:lnTo>
                <a:lnTo>
                  <a:pt x="13503923" y="6388608"/>
                </a:lnTo>
                <a:lnTo>
                  <a:pt x="13538886" y="6411963"/>
                </a:lnTo>
                <a:lnTo>
                  <a:pt x="13574878" y="6433706"/>
                </a:lnTo>
                <a:lnTo>
                  <a:pt x="13611898" y="6453810"/>
                </a:lnTo>
                <a:lnTo>
                  <a:pt x="13649947" y="6472275"/>
                </a:lnTo>
                <a:lnTo>
                  <a:pt x="13708850" y="6496736"/>
                </a:lnTo>
                <a:lnTo>
                  <a:pt x="13769061" y="6516992"/>
                </a:lnTo>
                <a:lnTo>
                  <a:pt x="13830516" y="6533083"/>
                </a:lnTo>
                <a:lnTo>
                  <a:pt x="13893140" y="6545046"/>
                </a:lnTo>
                <a:lnTo>
                  <a:pt x="13956881" y="6552959"/>
                </a:lnTo>
                <a:lnTo>
                  <a:pt x="14021664" y="6556845"/>
                </a:lnTo>
                <a:lnTo>
                  <a:pt x="14087437" y="6556781"/>
                </a:lnTo>
                <a:lnTo>
                  <a:pt x="14154125" y="6552806"/>
                </a:lnTo>
                <a:lnTo>
                  <a:pt x="14221663" y="6544983"/>
                </a:lnTo>
                <a:lnTo>
                  <a:pt x="14289989" y="6533350"/>
                </a:lnTo>
                <a:lnTo>
                  <a:pt x="14359039" y="6517957"/>
                </a:lnTo>
                <a:lnTo>
                  <a:pt x="14428750" y="6498869"/>
                </a:lnTo>
                <a:lnTo>
                  <a:pt x="14499044" y="6476136"/>
                </a:lnTo>
                <a:lnTo>
                  <a:pt x="14569872" y="6449796"/>
                </a:lnTo>
                <a:lnTo>
                  <a:pt x="14641157" y="6419926"/>
                </a:lnTo>
                <a:lnTo>
                  <a:pt x="14712849" y="6386550"/>
                </a:lnTo>
                <a:lnTo>
                  <a:pt x="14784870" y="6349733"/>
                </a:lnTo>
                <a:lnTo>
                  <a:pt x="14857159" y="6309538"/>
                </a:lnTo>
                <a:lnTo>
                  <a:pt x="14929650" y="6265989"/>
                </a:lnTo>
                <a:lnTo>
                  <a:pt x="15002282" y="6219164"/>
                </a:lnTo>
                <a:lnTo>
                  <a:pt x="15074976" y="6169101"/>
                </a:lnTo>
                <a:lnTo>
                  <a:pt x="15184031" y="6088062"/>
                </a:lnTo>
                <a:lnTo>
                  <a:pt x="15292883" y="6000039"/>
                </a:lnTo>
                <a:lnTo>
                  <a:pt x="15401316" y="5905195"/>
                </a:lnTo>
                <a:lnTo>
                  <a:pt x="15509113" y="5803722"/>
                </a:lnTo>
                <a:lnTo>
                  <a:pt x="15616047" y="5695797"/>
                </a:lnTo>
                <a:lnTo>
                  <a:pt x="15721902" y="5581574"/>
                </a:lnTo>
                <a:lnTo>
                  <a:pt x="15826474" y="5461241"/>
                </a:lnTo>
                <a:lnTo>
                  <a:pt x="15929521" y="5334978"/>
                </a:lnTo>
                <a:lnTo>
                  <a:pt x="16030829" y="5202961"/>
                </a:lnTo>
                <a:lnTo>
                  <a:pt x="16130194" y="5065344"/>
                </a:lnTo>
                <a:lnTo>
                  <a:pt x="16227387" y="4922329"/>
                </a:lnTo>
                <a:lnTo>
                  <a:pt x="16322193" y="4774069"/>
                </a:lnTo>
                <a:lnTo>
                  <a:pt x="16414382" y="4620755"/>
                </a:lnTo>
                <a:lnTo>
                  <a:pt x="16503752" y="4462551"/>
                </a:lnTo>
                <a:lnTo>
                  <a:pt x="16590061" y="4299636"/>
                </a:lnTo>
                <a:lnTo>
                  <a:pt x="16673119" y="4132186"/>
                </a:lnTo>
                <a:lnTo>
                  <a:pt x="16752570" y="3960609"/>
                </a:lnTo>
                <a:lnTo>
                  <a:pt x="16826878" y="3788206"/>
                </a:lnTo>
                <a:lnTo>
                  <a:pt x="16895585" y="3616198"/>
                </a:lnTo>
                <a:lnTo>
                  <a:pt x="16958717" y="3444849"/>
                </a:lnTo>
                <a:lnTo>
                  <a:pt x="17016299" y="3274466"/>
                </a:lnTo>
                <a:lnTo>
                  <a:pt x="17068305" y="3105302"/>
                </a:lnTo>
                <a:lnTo>
                  <a:pt x="17114787" y="2937662"/>
                </a:lnTo>
                <a:lnTo>
                  <a:pt x="17155732" y="2771813"/>
                </a:lnTo>
                <a:lnTo>
                  <a:pt x="17191152" y="2608046"/>
                </a:lnTo>
                <a:lnTo>
                  <a:pt x="17221073" y="2446629"/>
                </a:lnTo>
                <a:lnTo>
                  <a:pt x="17245508" y="2287854"/>
                </a:lnTo>
                <a:lnTo>
                  <a:pt x="17264444" y="2131999"/>
                </a:lnTo>
                <a:lnTo>
                  <a:pt x="17277919" y="1979345"/>
                </a:lnTo>
                <a:lnTo>
                  <a:pt x="17285932" y="1830171"/>
                </a:lnTo>
                <a:lnTo>
                  <a:pt x="17288498" y="16847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9220200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1028699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7239" y="131162"/>
            <a:ext cx="9133521" cy="2149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9111" y="4093841"/>
            <a:ext cx="16396969" cy="398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86055" rIns="0" bIns="0" rtlCol="0" vert="horz">
            <a:spAutoFit/>
          </a:bodyPr>
          <a:lstStyle/>
          <a:p>
            <a:pPr marL="4105275" marR="5080" indent="-4093210">
              <a:lnSpc>
                <a:spcPct val="78100"/>
              </a:lnSpc>
              <a:spcBef>
                <a:spcPts val="1465"/>
              </a:spcBef>
            </a:pPr>
            <a:r>
              <a:rPr dirty="0" sz="5200" spc="-320"/>
              <a:t>Predictive</a:t>
            </a:r>
            <a:r>
              <a:rPr dirty="0" sz="5200" spc="-625"/>
              <a:t> </a:t>
            </a:r>
            <a:r>
              <a:rPr dirty="0" sz="5200" spc="-275"/>
              <a:t>Modeling</a:t>
            </a:r>
            <a:r>
              <a:rPr dirty="0" sz="5200" spc="-625"/>
              <a:t> </a:t>
            </a:r>
            <a:r>
              <a:rPr dirty="0" sz="5200" spc="-215"/>
              <a:t>for</a:t>
            </a:r>
            <a:r>
              <a:rPr dirty="0" sz="5200" spc="-625"/>
              <a:t> </a:t>
            </a:r>
            <a:r>
              <a:rPr dirty="0" sz="5200" spc="-225"/>
              <a:t>Course</a:t>
            </a:r>
            <a:r>
              <a:rPr dirty="0" sz="5200" spc="-625"/>
              <a:t> </a:t>
            </a:r>
            <a:r>
              <a:rPr dirty="0" sz="5200" spc="-285"/>
              <a:t>Demand</a:t>
            </a:r>
            <a:r>
              <a:rPr dirty="0" sz="5200" spc="-620"/>
              <a:t> </a:t>
            </a:r>
            <a:r>
              <a:rPr dirty="0" sz="5200" spc="-280"/>
              <a:t>and</a:t>
            </a:r>
            <a:r>
              <a:rPr dirty="0" sz="5200" spc="-625"/>
              <a:t> </a:t>
            </a:r>
            <a:r>
              <a:rPr dirty="0" sz="5200" spc="-340"/>
              <a:t>Revenue </a:t>
            </a:r>
            <a:r>
              <a:rPr dirty="0" sz="5200" spc="-555"/>
              <a:t>F</a:t>
            </a:r>
            <a:r>
              <a:rPr dirty="0" sz="5200" spc="-355"/>
              <a:t>o</a:t>
            </a:r>
            <a:r>
              <a:rPr dirty="0" sz="5200" spc="-375"/>
              <a:t>r</a:t>
            </a:r>
            <a:r>
              <a:rPr dirty="0" sz="5200" spc="-350"/>
              <a:t>e</a:t>
            </a:r>
            <a:r>
              <a:rPr dirty="0" sz="5200" spc="-315"/>
              <a:t>c</a:t>
            </a:r>
            <a:r>
              <a:rPr dirty="0" sz="5200" spc="-365"/>
              <a:t>a</a:t>
            </a:r>
            <a:r>
              <a:rPr dirty="0" sz="5200" spc="-330"/>
              <a:t>s</a:t>
            </a:r>
            <a:r>
              <a:rPr dirty="0" sz="5200" spc="-300"/>
              <a:t>t</a:t>
            </a:r>
            <a:r>
              <a:rPr dirty="0" sz="5200" spc="-340"/>
              <a:t>i</a:t>
            </a:r>
            <a:r>
              <a:rPr dirty="0" sz="5200" spc="-330"/>
              <a:t>n</a:t>
            </a:r>
            <a:r>
              <a:rPr dirty="0" sz="5200" spc="85"/>
              <a:t>g</a:t>
            </a:r>
            <a:r>
              <a:rPr dirty="0" sz="5200" spc="-625"/>
              <a:t> </a:t>
            </a:r>
            <a:r>
              <a:rPr dirty="0" sz="5200" spc="-160"/>
              <a:t>on</a:t>
            </a:r>
            <a:r>
              <a:rPr dirty="0" sz="5200" spc="-635"/>
              <a:t> </a:t>
            </a:r>
            <a:r>
              <a:rPr dirty="0" sz="5200" spc="-310"/>
              <a:t>EduPro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7067394" y="5614800"/>
            <a:ext cx="4153535" cy="4660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50" spc="-55">
                <a:latin typeface="Georgia"/>
                <a:cs typeface="Georgia"/>
              </a:rPr>
              <a:t>Prepared</a:t>
            </a:r>
            <a:r>
              <a:rPr dirty="0" sz="2850" spc="-200">
                <a:latin typeface="Georgia"/>
                <a:cs typeface="Georgia"/>
              </a:rPr>
              <a:t> </a:t>
            </a:r>
            <a:r>
              <a:rPr dirty="0" sz="2850" spc="-85">
                <a:latin typeface="Georgia"/>
                <a:cs typeface="Georgia"/>
              </a:rPr>
              <a:t>By</a:t>
            </a:r>
            <a:r>
              <a:rPr dirty="0" sz="2850" spc="-200">
                <a:latin typeface="Georgia"/>
                <a:cs typeface="Georgia"/>
              </a:rPr>
              <a:t> </a:t>
            </a:r>
            <a:r>
              <a:rPr dirty="0" sz="2850" spc="-175">
                <a:latin typeface="Georgia"/>
                <a:cs typeface="Georgia"/>
              </a:rPr>
              <a:t>:</a:t>
            </a:r>
            <a:r>
              <a:rPr dirty="0" sz="2850" spc="-195">
                <a:latin typeface="Georgia"/>
                <a:cs typeface="Georgia"/>
              </a:rPr>
              <a:t> </a:t>
            </a:r>
            <a:r>
              <a:rPr dirty="0" sz="2850" spc="-90">
                <a:latin typeface="Georgia"/>
                <a:cs typeface="Georgia"/>
              </a:rPr>
              <a:t>Shriya</a:t>
            </a:r>
            <a:r>
              <a:rPr dirty="0" sz="2850" spc="-200">
                <a:latin typeface="Georgia"/>
                <a:cs typeface="Georgia"/>
              </a:rPr>
              <a:t> </a:t>
            </a:r>
            <a:r>
              <a:rPr dirty="0" sz="2850" spc="-10">
                <a:latin typeface="Georgia"/>
                <a:cs typeface="Georgia"/>
              </a:rPr>
              <a:t>Mehta</a:t>
            </a:r>
            <a:endParaRPr sz="28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800755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990600" y="2393214"/>
            <a:ext cx="7124700" cy="6629400"/>
            <a:chOff x="990600" y="2393214"/>
            <a:chExt cx="7124700" cy="6629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99" y="2431318"/>
              <a:ext cx="7041216" cy="65559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28700" y="2431314"/>
              <a:ext cx="7048500" cy="6553200"/>
            </a:xfrm>
            <a:custGeom>
              <a:avLst/>
              <a:gdLst/>
              <a:ahLst/>
              <a:cxnLst/>
              <a:rect l="l" t="t" r="r" b="b"/>
              <a:pathLst>
                <a:path w="7048500" h="6553200">
                  <a:moveTo>
                    <a:pt x="7048442" y="6246423"/>
                  </a:moveTo>
                  <a:lnTo>
                    <a:pt x="7045454" y="6288025"/>
                  </a:lnTo>
                  <a:lnTo>
                    <a:pt x="7035556" y="6332369"/>
                  </a:lnTo>
                  <a:lnTo>
                    <a:pt x="7019650" y="6374111"/>
                  </a:lnTo>
                  <a:lnTo>
                    <a:pt x="6998220" y="6412764"/>
                  </a:lnTo>
                  <a:lnTo>
                    <a:pt x="6971754" y="6447840"/>
                  </a:lnTo>
                  <a:lnTo>
                    <a:pt x="6940739" y="6478853"/>
                  </a:lnTo>
                  <a:lnTo>
                    <a:pt x="6905661" y="6505316"/>
                  </a:lnTo>
                  <a:lnTo>
                    <a:pt x="6867008" y="6526743"/>
                  </a:lnTo>
                  <a:lnTo>
                    <a:pt x="6825266" y="6542647"/>
                  </a:lnTo>
                  <a:lnTo>
                    <a:pt x="6780922" y="6552542"/>
                  </a:lnTo>
                  <a:lnTo>
                    <a:pt x="6771891" y="6553137"/>
                  </a:lnTo>
                </a:path>
                <a:path w="7048500" h="6553200">
                  <a:moveTo>
                    <a:pt x="276957" y="6553192"/>
                  </a:moveTo>
                  <a:lnTo>
                    <a:pt x="223526" y="6542631"/>
                  </a:lnTo>
                  <a:lnTo>
                    <a:pt x="181790" y="6526719"/>
                  </a:lnTo>
                  <a:lnTo>
                    <a:pt x="143144" y="6505286"/>
                  </a:lnTo>
                  <a:lnTo>
                    <a:pt x="108076" y="6478818"/>
                  </a:lnTo>
                  <a:lnTo>
                    <a:pt x="77071" y="6447804"/>
                  </a:lnTo>
                  <a:lnTo>
                    <a:pt x="50615" y="6412729"/>
                  </a:lnTo>
                  <a:lnTo>
                    <a:pt x="29194" y="6374081"/>
                  </a:lnTo>
                  <a:lnTo>
                    <a:pt x="13295" y="6332345"/>
                  </a:lnTo>
                  <a:lnTo>
                    <a:pt x="3403" y="6288010"/>
                  </a:lnTo>
                  <a:lnTo>
                    <a:pt x="0" y="6241561"/>
                  </a:lnTo>
                  <a:lnTo>
                    <a:pt x="0" y="314325"/>
                  </a:lnTo>
                  <a:lnTo>
                    <a:pt x="3408" y="267876"/>
                  </a:lnTo>
                  <a:lnTo>
                    <a:pt x="13309" y="223544"/>
                  </a:lnTo>
                  <a:lnTo>
                    <a:pt x="29216" y="181813"/>
                  </a:lnTo>
                  <a:lnTo>
                    <a:pt x="50642" y="143172"/>
                  </a:lnTo>
                  <a:lnTo>
                    <a:pt x="77101" y="108105"/>
                  </a:lnTo>
                  <a:lnTo>
                    <a:pt x="108108" y="77100"/>
                  </a:lnTo>
                  <a:lnTo>
                    <a:pt x="143175" y="50641"/>
                  </a:lnTo>
                  <a:lnTo>
                    <a:pt x="181817" y="29216"/>
                  </a:lnTo>
                  <a:lnTo>
                    <a:pt x="223547" y="13311"/>
                  </a:lnTo>
                  <a:lnTo>
                    <a:pt x="267880" y="3412"/>
                  </a:lnTo>
                  <a:lnTo>
                    <a:pt x="314328" y="4"/>
                  </a:lnTo>
                  <a:lnTo>
                    <a:pt x="6734469" y="0"/>
                  </a:lnTo>
                  <a:lnTo>
                    <a:pt x="6780920" y="3399"/>
                  </a:lnTo>
                  <a:lnTo>
                    <a:pt x="6825257" y="13292"/>
                  </a:lnTo>
                  <a:lnTo>
                    <a:pt x="6866993" y="29193"/>
                  </a:lnTo>
                  <a:lnTo>
                    <a:pt x="6905642" y="50615"/>
                  </a:lnTo>
                  <a:lnTo>
                    <a:pt x="6940717" y="77072"/>
                  </a:lnTo>
                  <a:lnTo>
                    <a:pt x="6971731" y="108079"/>
                  </a:lnTo>
                  <a:lnTo>
                    <a:pt x="6998198" y="143149"/>
                  </a:lnTo>
                  <a:lnTo>
                    <a:pt x="7019630" y="181796"/>
                  </a:lnTo>
                  <a:lnTo>
                    <a:pt x="7035541" y="223533"/>
                  </a:lnTo>
                  <a:lnTo>
                    <a:pt x="7045444" y="267873"/>
                  </a:lnTo>
                  <a:lnTo>
                    <a:pt x="7048446" y="309526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439985" y="4165720"/>
            <a:ext cx="463550" cy="463550"/>
          </a:xfrm>
          <a:custGeom>
            <a:avLst/>
            <a:gdLst/>
            <a:ahLst/>
            <a:cxnLst/>
            <a:rect l="l" t="t" r="r" b="b"/>
            <a:pathLst>
              <a:path w="463550" h="463550">
                <a:moveTo>
                  <a:pt x="409508" y="463247"/>
                </a:moveTo>
                <a:lnTo>
                  <a:pt x="359575" y="446443"/>
                </a:lnTo>
                <a:lnTo>
                  <a:pt x="299028" y="402117"/>
                </a:lnTo>
                <a:lnTo>
                  <a:pt x="265948" y="368459"/>
                </a:lnTo>
                <a:lnTo>
                  <a:pt x="231623" y="326512"/>
                </a:lnTo>
                <a:lnTo>
                  <a:pt x="197299" y="368459"/>
                </a:lnTo>
                <a:lnTo>
                  <a:pt x="164219" y="402117"/>
                </a:lnTo>
                <a:lnTo>
                  <a:pt x="132853" y="427955"/>
                </a:lnTo>
                <a:lnTo>
                  <a:pt x="77143" y="458050"/>
                </a:lnTo>
                <a:lnTo>
                  <a:pt x="53739" y="463247"/>
                </a:lnTo>
                <a:lnTo>
                  <a:pt x="33926" y="462503"/>
                </a:lnTo>
                <a:lnTo>
                  <a:pt x="18177" y="456287"/>
                </a:lnTo>
                <a:lnTo>
                  <a:pt x="6959" y="445070"/>
                </a:lnTo>
                <a:lnTo>
                  <a:pt x="744" y="429320"/>
                </a:lnTo>
                <a:lnTo>
                  <a:pt x="0" y="409508"/>
                </a:lnTo>
                <a:lnTo>
                  <a:pt x="5196" y="386103"/>
                </a:lnTo>
                <a:lnTo>
                  <a:pt x="35292" y="330393"/>
                </a:lnTo>
                <a:lnTo>
                  <a:pt x="61130" y="299028"/>
                </a:lnTo>
                <a:lnTo>
                  <a:pt x="94788" y="265948"/>
                </a:lnTo>
                <a:lnTo>
                  <a:pt x="136735" y="231623"/>
                </a:lnTo>
                <a:lnTo>
                  <a:pt x="94788" y="197299"/>
                </a:lnTo>
                <a:lnTo>
                  <a:pt x="61130" y="164219"/>
                </a:lnTo>
                <a:lnTo>
                  <a:pt x="35292" y="132853"/>
                </a:lnTo>
                <a:lnTo>
                  <a:pt x="5196" y="77144"/>
                </a:lnTo>
                <a:lnTo>
                  <a:pt x="0" y="53739"/>
                </a:lnTo>
                <a:lnTo>
                  <a:pt x="744" y="33926"/>
                </a:lnTo>
                <a:lnTo>
                  <a:pt x="6959" y="18177"/>
                </a:lnTo>
                <a:lnTo>
                  <a:pt x="18177" y="6959"/>
                </a:lnTo>
                <a:lnTo>
                  <a:pt x="33926" y="744"/>
                </a:lnTo>
                <a:lnTo>
                  <a:pt x="53739" y="0"/>
                </a:lnTo>
                <a:lnTo>
                  <a:pt x="77143" y="5196"/>
                </a:lnTo>
                <a:lnTo>
                  <a:pt x="132853" y="35292"/>
                </a:lnTo>
                <a:lnTo>
                  <a:pt x="164219" y="61130"/>
                </a:lnTo>
                <a:lnTo>
                  <a:pt x="197299" y="94788"/>
                </a:lnTo>
                <a:lnTo>
                  <a:pt x="231623" y="136735"/>
                </a:lnTo>
                <a:lnTo>
                  <a:pt x="265948" y="94788"/>
                </a:lnTo>
                <a:lnTo>
                  <a:pt x="299028" y="61130"/>
                </a:lnTo>
                <a:lnTo>
                  <a:pt x="330393" y="35292"/>
                </a:lnTo>
                <a:lnTo>
                  <a:pt x="386103" y="5196"/>
                </a:lnTo>
                <a:lnTo>
                  <a:pt x="409508" y="0"/>
                </a:lnTo>
                <a:lnTo>
                  <a:pt x="429320" y="744"/>
                </a:lnTo>
                <a:lnTo>
                  <a:pt x="445070" y="6959"/>
                </a:lnTo>
                <a:lnTo>
                  <a:pt x="456287" y="18177"/>
                </a:lnTo>
                <a:lnTo>
                  <a:pt x="462503" y="33926"/>
                </a:lnTo>
                <a:lnTo>
                  <a:pt x="463247" y="53739"/>
                </a:lnTo>
                <a:lnTo>
                  <a:pt x="458050" y="77144"/>
                </a:lnTo>
                <a:lnTo>
                  <a:pt x="427955" y="132853"/>
                </a:lnTo>
                <a:lnTo>
                  <a:pt x="402117" y="164219"/>
                </a:lnTo>
                <a:lnTo>
                  <a:pt x="368459" y="197299"/>
                </a:lnTo>
                <a:lnTo>
                  <a:pt x="326512" y="231623"/>
                </a:lnTo>
                <a:lnTo>
                  <a:pt x="368459" y="265948"/>
                </a:lnTo>
                <a:lnTo>
                  <a:pt x="402117" y="299028"/>
                </a:lnTo>
                <a:lnTo>
                  <a:pt x="427955" y="330393"/>
                </a:lnTo>
                <a:lnTo>
                  <a:pt x="458050" y="386103"/>
                </a:lnTo>
                <a:lnTo>
                  <a:pt x="463247" y="409508"/>
                </a:lnTo>
                <a:lnTo>
                  <a:pt x="462503" y="429320"/>
                </a:lnTo>
                <a:lnTo>
                  <a:pt x="456287" y="445070"/>
                </a:lnTo>
                <a:lnTo>
                  <a:pt x="445070" y="456287"/>
                </a:lnTo>
                <a:lnTo>
                  <a:pt x="429320" y="462503"/>
                </a:lnTo>
                <a:lnTo>
                  <a:pt x="409508" y="463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7033239" y="8989425"/>
            <a:ext cx="463550" cy="463550"/>
          </a:xfrm>
          <a:custGeom>
            <a:avLst/>
            <a:gdLst/>
            <a:ahLst/>
            <a:cxnLst/>
            <a:rect l="l" t="t" r="r" b="b"/>
            <a:pathLst>
              <a:path w="463550" h="463550">
                <a:moveTo>
                  <a:pt x="409508" y="463247"/>
                </a:moveTo>
                <a:lnTo>
                  <a:pt x="359575" y="446443"/>
                </a:lnTo>
                <a:lnTo>
                  <a:pt x="299028" y="402117"/>
                </a:lnTo>
                <a:lnTo>
                  <a:pt x="265948" y="368459"/>
                </a:lnTo>
                <a:lnTo>
                  <a:pt x="231623" y="326512"/>
                </a:lnTo>
                <a:lnTo>
                  <a:pt x="197299" y="368459"/>
                </a:lnTo>
                <a:lnTo>
                  <a:pt x="164219" y="402117"/>
                </a:lnTo>
                <a:lnTo>
                  <a:pt x="132853" y="427955"/>
                </a:lnTo>
                <a:lnTo>
                  <a:pt x="77143" y="458050"/>
                </a:lnTo>
                <a:lnTo>
                  <a:pt x="53739" y="463247"/>
                </a:lnTo>
                <a:lnTo>
                  <a:pt x="33926" y="462503"/>
                </a:lnTo>
                <a:lnTo>
                  <a:pt x="18177" y="456287"/>
                </a:lnTo>
                <a:lnTo>
                  <a:pt x="6959" y="445070"/>
                </a:lnTo>
                <a:lnTo>
                  <a:pt x="744" y="429320"/>
                </a:lnTo>
                <a:lnTo>
                  <a:pt x="0" y="409508"/>
                </a:lnTo>
                <a:lnTo>
                  <a:pt x="5196" y="386103"/>
                </a:lnTo>
                <a:lnTo>
                  <a:pt x="35292" y="330393"/>
                </a:lnTo>
                <a:lnTo>
                  <a:pt x="61130" y="299028"/>
                </a:lnTo>
                <a:lnTo>
                  <a:pt x="94788" y="265948"/>
                </a:lnTo>
                <a:lnTo>
                  <a:pt x="136735" y="231623"/>
                </a:lnTo>
                <a:lnTo>
                  <a:pt x="94788" y="197299"/>
                </a:lnTo>
                <a:lnTo>
                  <a:pt x="61130" y="164219"/>
                </a:lnTo>
                <a:lnTo>
                  <a:pt x="35292" y="132853"/>
                </a:lnTo>
                <a:lnTo>
                  <a:pt x="5196" y="77144"/>
                </a:lnTo>
                <a:lnTo>
                  <a:pt x="0" y="53739"/>
                </a:lnTo>
                <a:lnTo>
                  <a:pt x="744" y="33926"/>
                </a:lnTo>
                <a:lnTo>
                  <a:pt x="6959" y="18177"/>
                </a:lnTo>
                <a:lnTo>
                  <a:pt x="18177" y="6959"/>
                </a:lnTo>
                <a:lnTo>
                  <a:pt x="33926" y="744"/>
                </a:lnTo>
                <a:lnTo>
                  <a:pt x="53739" y="0"/>
                </a:lnTo>
                <a:lnTo>
                  <a:pt x="77143" y="5196"/>
                </a:lnTo>
                <a:lnTo>
                  <a:pt x="132853" y="35292"/>
                </a:lnTo>
                <a:lnTo>
                  <a:pt x="164219" y="61130"/>
                </a:lnTo>
                <a:lnTo>
                  <a:pt x="197299" y="94788"/>
                </a:lnTo>
                <a:lnTo>
                  <a:pt x="231623" y="136735"/>
                </a:lnTo>
                <a:lnTo>
                  <a:pt x="265948" y="94788"/>
                </a:lnTo>
                <a:lnTo>
                  <a:pt x="299028" y="61130"/>
                </a:lnTo>
                <a:lnTo>
                  <a:pt x="330393" y="35292"/>
                </a:lnTo>
                <a:lnTo>
                  <a:pt x="386103" y="5196"/>
                </a:lnTo>
                <a:lnTo>
                  <a:pt x="409508" y="0"/>
                </a:lnTo>
                <a:lnTo>
                  <a:pt x="429320" y="744"/>
                </a:lnTo>
                <a:lnTo>
                  <a:pt x="445070" y="6959"/>
                </a:lnTo>
                <a:lnTo>
                  <a:pt x="456287" y="18177"/>
                </a:lnTo>
                <a:lnTo>
                  <a:pt x="462503" y="33926"/>
                </a:lnTo>
                <a:lnTo>
                  <a:pt x="463247" y="53739"/>
                </a:lnTo>
                <a:lnTo>
                  <a:pt x="458050" y="77144"/>
                </a:lnTo>
                <a:lnTo>
                  <a:pt x="427955" y="132853"/>
                </a:lnTo>
                <a:lnTo>
                  <a:pt x="402117" y="164219"/>
                </a:lnTo>
                <a:lnTo>
                  <a:pt x="368459" y="197299"/>
                </a:lnTo>
                <a:lnTo>
                  <a:pt x="326512" y="231623"/>
                </a:lnTo>
                <a:lnTo>
                  <a:pt x="368459" y="265948"/>
                </a:lnTo>
                <a:lnTo>
                  <a:pt x="402117" y="299028"/>
                </a:lnTo>
                <a:lnTo>
                  <a:pt x="427955" y="330393"/>
                </a:lnTo>
                <a:lnTo>
                  <a:pt x="458050" y="386103"/>
                </a:lnTo>
                <a:lnTo>
                  <a:pt x="463247" y="409508"/>
                </a:lnTo>
                <a:lnTo>
                  <a:pt x="462503" y="429320"/>
                </a:lnTo>
                <a:lnTo>
                  <a:pt x="456287" y="445070"/>
                </a:lnTo>
                <a:lnTo>
                  <a:pt x="445070" y="456287"/>
                </a:lnTo>
                <a:lnTo>
                  <a:pt x="429320" y="462503"/>
                </a:lnTo>
                <a:lnTo>
                  <a:pt x="409508" y="463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101349" y="6567260"/>
            <a:ext cx="1485265" cy="906144"/>
          </a:xfrm>
          <a:custGeom>
            <a:avLst/>
            <a:gdLst/>
            <a:ahLst/>
            <a:cxnLst/>
            <a:rect l="l" t="t" r="r" b="b"/>
            <a:pathLst>
              <a:path w="1485265" h="906145">
                <a:moveTo>
                  <a:pt x="1043336" y="905536"/>
                </a:moveTo>
                <a:lnTo>
                  <a:pt x="982207" y="893887"/>
                </a:lnTo>
                <a:lnTo>
                  <a:pt x="949274" y="872149"/>
                </a:lnTo>
                <a:lnTo>
                  <a:pt x="922926" y="840736"/>
                </a:lnTo>
                <a:lnTo>
                  <a:pt x="903194" y="800695"/>
                </a:lnTo>
                <a:lnTo>
                  <a:pt x="890108" y="753076"/>
                </a:lnTo>
                <a:lnTo>
                  <a:pt x="883697" y="698927"/>
                </a:lnTo>
                <a:lnTo>
                  <a:pt x="846482" y="748012"/>
                </a:lnTo>
                <a:lnTo>
                  <a:pt x="807700" y="791317"/>
                </a:lnTo>
                <a:lnTo>
                  <a:pt x="767926" y="828379"/>
                </a:lnTo>
                <a:lnTo>
                  <a:pt x="727737" y="858740"/>
                </a:lnTo>
                <a:lnTo>
                  <a:pt x="687708" y="881938"/>
                </a:lnTo>
                <a:lnTo>
                  <a:pt x="648414" y="897512"/>
                </a:lnTo>
                <a:lnTo>
                  <a:pt x="610432" y="905002"/>
                </a:lnTo>
                <a:lnTo>
                  <a:pt x="574337" y="903947"/>
                </a:lnTo>
                <a:lnTo>
                  <a:pt x="507771" y="872149"/>
                </a:lnTo>
                <a:lnTo>
                  <a:pt x="481423" y="840736"/>
                </a:lnTo>
                <a:lnTo>
                  <a:pt x="461691" y="800695"/>
                </a:lnTo>
                <a:lnTo>
                  <a:pt x="448605" y="753076"/>
                </a:lnTo>
                <a:lnTo>
                  <a:pt x="442194" y="698927"/>
                </a:lnTo>
                <a:lnTo>
                  <a:pt x="404976" y="748012"/>
                </a:lnTo>
                <a:lnTo>
                  <a:pt x="366185" y="791317"/>
                </a:lnTo>
                <a:lnTo>
                  <a:pt x="326400" y="828379"/>
                </a:lnTo>
                <a:lnTo>
                  <a:pt x="286197" y="858740"/>
                </a:lnTo>
                <a:lnTo>
                  <a:pt x="246153" y="881938"/>
                </a:lnTo>
                <a:lnTo>
                  <a:pt x="206845" y="897512"/>
                </a:lnTo>
                <a:lnTo>
                  <a:pt x="168851" y="905002"/>
                </a:lnTo>
                <a:lnTo>
                  <a:pt x="132747" y="903947"/>
                </a:lnTo>
                <a:lnTo>
                  <a:pt x="72693" y="877630"/>
                </a:lnTo>
                <a:lnTo>
                  <a:pt x="32035" y="827229"/>
                </a:lnTo>
                <a:lnTo>
                  <a:pt x="7749" y="756394"/>
                </a:lnTo>
                <a:lnTo>
                  <a:pt x="1797" y="714594"/>
                </a:lnTo>
                <a:lnTo>
                  <a:pt x="0" y="669222"/>
                </a:lnTo>
                <a:lnTo>
                  <a:pt x="2378" y="620789"/>
                </a:lnTo>
                <a:lnTo>
                  <a:pt x="8952" y="569809"/>
                </a:lnTo>
                <a:lnTo>
                  <a:pt x="19742" y="516792"/>
                </a:lnTo>
                <a:lnTo>
                  <a:pt x="34770" y="462252"/>
                </a:lnTo>
                <a:lnTo>
                  <a:pt x="54055" y="406701"/>
                </a:lnTo>
                <a:lnTo>
                  <a:pt x="77618" y="350650"/>
                </a:lnTo>
                <a:lnTo>
                  <a:pt x="104661" y="296189"/>
                </a:lnTo>
                <a:lnTo>
                  <a:pt x="134106" y="245280"/>
                </a:lnTo>
                <a:lnTo>
                  <a:pt x="165555" y="198244"/>
                </a:lnTo>
                <a:lnTo>
                  <a:pt x="198608" y="155403"/>
                </a:lnTo>
                <a:lnTo>
                  <a:pt x="232866" y="117080"/>
                </a:lnTo>
                <a:lnTo>
                  <a:pt x="267931" y="83594"/>
                </a:lnTo>
                <a:lnTo>
                  <a:pt x="303404" y="55269"/>
                </a:lnTo>
                <a:lnTo>
                  <a:pt x="338886" y="32425"/>
                </a:lnTo>
                <a:lnTo>
                  <a:pt x="373977" y="15385"/>
                </a:lnTo>
                <a:lnTo>
                  <a:pt x="441394" y="0"/>
                </a:lnTo>
                <a:lnTo>
                  <a:pt x="472922" y="2298"/>
                </a:lnTo>
                <a:lnTo>
                  <a:pt x="535397" y="33424"/>
                </a:lnTo>
                <a:lnTo>
                  <a:pt x="561745" y="64838"/>
                </a:lnTo>
                <a:lnTo>
                  <a:pt x="581477" y="104878"/>
                </a:lnTo>
                <a:lnTo>
                  <a:pt x="594563" y="152498"/>
                </a:lnTo>
                <a:lnTo>
                  <a:pt x="600974" y="206647"/>
                </a:lnTo>
                <a:lnTo>
                  <a:pt x="638192" y="157561"/>
                </a:lnTo>
                <a:lnTo>
                  <a:pt x="676980" y="114257"/>
                </a:lnTo>
                <a:lnTo>
                  <a:pt x="716761" y="77194"/>
                </a:lnTo>
                <a:lnTo>
                  <a:pt x="756955" y="46833"/>
                </a:lnTo>
                <a:lnTo>
                  <a:pt x="796984" y="23636"/>
                </a:lnTo>
                <a:lnTo>
                  <a:pt x="836270" y="8061"/>
                </a:lnTo>
                <a:lnTo>
                  <a:pt x="874233" y="571"/>
                </a:lnTo>
                <a:lnTo>
                  <a:pt x="910295" y="1626"/>
                </a:lnTo>
                <a:lnTo>
                  <a:pt x="976854" y="33424"/>
                </a:lnTo>
                <a:lnTo>
                  <a:pt x="1003223" y="64838"/>
                </a:lnTo>
                <a:lnTo>
                  <a:pt x="1022955" y="104878"/>
                </a:lnTo>
                <a:lnTo>
                  <a:pt x="1036020" y="152498"/>
                </a:lnTo>
                <a:lnTo>
                  <a:pt x="1042387" y="206647"/>
                </a:lnTo>
                <a:lnTo>
                  <a:pt x="1079605" y="157561"/>
                </a:lnTo>
                <a:lnTo>
                  <a:pt x="1118396" y="114257"/>
                </a:lnTo>
                <a:lnTo>
                  <a:pt x="1158181" y="77194"/>
                </a:lnTo>
                <a:lnTo>
                  <a:pt x="1198384" y="46833"/>
                </a:lnTo>
                <a:lnTo>
                  <a:pt x="1238428" y="23636"/>
                </a:lnTo>
                <a:lnTo>
                  <a:pt x="1277736" y="8061"/>
                </a:lnTo>
                <a:lnTo>
                  <a:pt x="1315730" y="571"/>
                </a:lnTo>
                <a:lnTo>
                  <a:pt x="1351834" y="1626"/>
                </a:lnTo>
                <a:lnTo>
                  <a:pt x="1411910" y="27938"/>
                </a:lnTo>
                <a:lnTo>
                  <a:pt x="1452618" y="78300"/>
                </a:lnTo>
                <a:lnTo>
                  <a:pt x="1476955" y="149082"/>
                </a:lnTo>
                <a:lnTo>
                  <a:pt x="1482931" y="190856"/>
                </a:lnTo>
                <a:lnTo>
                  <a:pt x="1484748" y="236208"/>
                </a:lnTo>
                <a:lnTo>
                  <a:pt x="1482387" y="284628"/>
                </a:lnTo>
                <a:lnTo>
                  <a:pt x="1475825" y="335606"/>
                </a:lnTo>
                <a:lnTo>
                  <a:pt x="1465041" y="388634"/>
                </a:lnTo>
                <a:lnTo>
                  <a:pt x="1450014" y="443203"/>
                </a:lnTo>
                <a:lnTo>
                  <a:pt x="1430721" y="498802"/>
                </a:lnTo>
                <a:lnTo>
                  <a:pt x="1407142" y="554924"/>
                </a:lnTo>
                <a:lnTo>
                  <a:pt x="1380083" y="609452"/>
                </a:lnTo>
                <a:lnTo>
                  <a:pt x="1350629" y="660402"/>
                </a:lnTo>
                <a:lnTo>
                  <a:pt x="1319178" y="707454"/>
                </a:lnTo>
                <a:lnTo>
                  <a:pt x="1286128" y="750293"/>
                </a:lnTo>
                <a:lnTo>
                  <a:pt x="1251874" y="788602"/>
                </a:lnTo>
                <a:lnTo>
                  <a:pt x="1216815" y="822061"/>
                </a:lnTo>
                <a:lnTo>
                  <a:pt x="1181347" y="850356"/>
                </a:lnTo>
                <a:lnTo>
                  <a:pt x="1145868" y="873168"/>
                </a:lnTo>
                <a:lnTo>
                  <a:pt x="1110775" y="890180"/>
                </a:lnTo>
                <a:lnTo>
                  <a:pt x="1076466" y="901075"/>
                </a:lnTo>
                <a:lnTo>
                  <a:pt x="1043336" y="905536"/>
                </a:lnTo>
                <a:close/>
              </a:path>
            </a:pathLst>
          </a:custGeom>
          <a:solidFill>
            <a:srgbClr val="70A6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4560" y="3178170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4560" y="4664070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4560" y="6149970"/>
            <a:ext cx="114300" cy="1142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001451" y="2912734"/>
            <a:ext cx="4759960" cy="4978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800" spc="-110">
                <a:latin typeface="Georgia"/>
                <a:cs typeface="Georgia"/>
              </a:rPr>
              <a:t>EduPro</a:t>
            </a:r>
            <a:r>
              <a:rPr dirty="0" sz="2800" spc="-21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is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an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online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learning </a:t>
            </a:r>
            <a:r>
              <a:rPr dirty="0" sz="2800" spc="-95">
                <a:latin typeface="Georgia"/>
                <a:cs typeface="Georgia"/>
              </a:rPr>
              <a:t>platform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35">
                <a:latin typeface="Georgia"/>
                <a:cs typeface="Georgia"/>
              </a:rPr>
              <a:t>with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course, </a:t>
            </a:r>
            <a:r>
              <a:rPr dirty="0" sz="2800" spc="-85">
                <a:latin typeface="Georgia"/>
                <a:cs typeface="Georgia"/>
              </a:rPr>
              <a:t>instructor,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transaction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data. </a:t>
            </a:r>
            <a:r>
              <a:rPr dirty="0" sz="2800" spc="-20">
                <a:latin typeface="Georgia"/>
                <a:cs typeface="Georgia"/>
              </a:rPr>
              <a:t>The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project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30">
                <a:latin typeface="Georgia"/>
                <a:cs typeface="Georgia"/>
              </a:rPr>
              <a:t>uses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90">
                <a:latin typeface="Georgia"/>
                <a:cs typeface="Georgia"/>
              </a:rPr>
              <a:t>historical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20">
                <a:latin typeface="Georgia"/>
                <a:cs typeface="Georgia"/>
              </a:rPr>
              <a:t>data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predict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enrollment </a:t>
            </a:r>
            <a:r>
              <a:rPr dirty="0" sz="2800" spc="-70">
                <a:latin typeface="Georgia"/>
                <a:cs typeface="Georgia"/>
              </a:rPr>
              <a:t>demand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revenue.</a:t>
            </a:r>
            <a:endParaRPr sz="2800">
              <a:latin typeface="Georgia"/>
              <a:cs typeface="Georgia"/>
            </a:endParaRPr>
          </a:p>
          <a:p>
            <a:pPr marL="12700" marR="315595">
              <a:lnSpc>
                <a:spcPct val="116100"/>
              </a:lnSpc>
            </a:pPr>
            <a:r>
              <a:rPr dirty="0" sz="2800" spc="-80">
                <a:latin typeface="Georgia"/>
                <a:cs typeface="Georgia"/>
              </a:rPr>
              <a:t>Machine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90">
                <a:latin typeface="Georgia"/>
                <a:cs typeface="Georgia"/>
              </a:rPr>
              <a:t>learning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used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to </a:t>
            </a:r>
            <a:r>
              <a:rPr dirty="0" sz="2800" spc="-40">
                <a:latin typeface="Georgia"/>
                <a:cs typeface="Georgia"/>
              </a:rPr>
              <a:t>convert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90">
                <a:latin typeface="Georgia"/>
                <a:cs typeface="Georgia"/>
              </a:rPr>
              <a:t>historical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information </a:t>
            </a:r>
            <a:r>
              <a:rPr dirty="0" sz="2800" spc="-65">
                <a:latin typeface="Georgia"/>
                <a:cs typeface="Georgia"/>
              </a:rPr>
              <a:t>into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predictive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business insights.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820946" y="2391300"/>
            <a:ext cx="7124700" cy="6629400"/>
            <a:chOff x="9820946" y="2391300"/>
            <a:chExt cx="7124700" cy="662940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59045" y="2429404"/>
              <a:ext cx="7041216" cy="655594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9859046" y="2429400"/>
              <a:ext cx="7048500" cy="6553200"/>
            </a:xfrm>
            <a:custGeom>
              <a:avLst/>
              <a:gdLst/>
              <a:ahLst/>
              <a:cxnLst/>
              <a:rect l="l" t="t" r="r" b="b"/>
              <a:pathLst>
                <a:path w="7048500" h="6553200">
                  <a:moveTo>
                    <a:pt x="7048442" y="6246422"/>
                  </a:moveTo>
                  <a:lnTo>
                    <a:pt x="7045454" y="6288025"/>
                  </a:lnTo>
                  <a:lnTo>
                    <a:pt x="7035556" y="6332369"/>
                  </a:lnTo>
                  <a:lnTo>
                    <a:pt x="7019649" y="6374111"/>
                  </a:lnTo>
                  <a:lnTo>
                    <a:pt x="6998220" y="6412763"/>
                  </a:lnTo>
                  <a:lnTo>
                    <a:pt x="6971754" y="6447840"/>
                  </a:lnTo>
                  <a:lnTo>
                    <a:pt x="6940739" y="6478853"/>
                  </a:lnTo>
                  <a:lnTo>
                    <a:pt x="6905661" y="6505316"/>
                  </a:lnTo>
                  <a:lnTo>
                    <a:pt x="6867007" y="6526743"/>
                  </a:lnTo>
                  <a:lnTo>
                    <a:pt x="6825265" y="6542646"/>
                  </a:lnTo>
                  <a:lnTo>
                    <a:pt x="6780922" y="6552541"/>
                  </a:lnTo>
                  <a:lnTo>
                    <a:pt x="6771883" y="6553138"/>
                  </a:lnTo>
                </a:path>
                <a:path w="7048500" h="6553200">
                  <a:moveTo>
                    <a:pt x="276965" y="6553192"/>
                  </a:moveTo>
                  <a:lnTo>
                    <a:pt x="223526" y="6542630"/>
                  </a:lnTo>
                  <a:lnTo>
                    <a:pt x="181790" y="6526718"/>
                  </a:lnTo>
                  <a:lnTo>
                    <a:pt x="143145" y="6505285"/>
                  </a:lnTo>
                  <a:lnTo>
                    <a:pt x="108076" y="6478818"/>
                  </a:lnTo>
                  <a:lnTo>
                    <a:pt x="77071" y="6447804"/>
                  </a:lnTo>
                  <a:lnTo>
                    <a:pt x="50615" y="6412729"/>
                  </a:lnTo>
                  <a:lnTo>
                    <a:pt x="29194" y="6374081"/>
                  </a:lnTo>
                  <a:lnTo>
                    <a:pt x="13295" y="6332345"/>
                  </a:lnTo>
                  <a:lnTo>
                    <a:pt x="3403" y="6288010"/>
                  </a:lnTo>
                  <a:lnTo>
                    <a:pt x="0" y="6241561"/>
                  </a:lnTo>
                  <a:lnTo>
                    <a:pt x="0" y="314325"/>
                  </a:lnTo>
                  <a:lnTo>
                    <a:pt x="3408" y="267876"/>
                  </a:lnTo>
                  <a:lnTo>
                    <a:pt x="13309" y="223544"/>
                  </a:lnTo>
                  <a:lnTo>
                    <a:pt x="29216" y="181813"/>
                  </a:lnTo>
                  <a:lnTo>
                    <a:pt x="50642" y="143172"/>
                  </a:lnTo>
                  <a:lnTo>
                    <a:pt x="77101" y="108105"/>
                  </a:lnTo>
                  <a:lnTo>
                    <a:pt x="108108" y="77100"/>
                  </a:lnTo>
                  <a:lnTo>
                    <a:pt x="143175" y="50641"/>
                  </a:lnTo>
                  <a:lnTo>
                    <a:pt x="181817" y="29216"/>
                  </a:lnTo>
                  <a:lnTo>
                    <a:pt x="223547" y="13311"/>
                  </a:lnTo>
                  <a:lnTo>
                    <a:pt x="267879" y="3412"/>
                  </a:lnTo>
                  <a:lnTo>
                    <a:pt x="314328" y="4"/>
                  </a:lnTo>
                  <a:lnTo>
                    <a:pt x="6734469" y="0"/>
                  </a:lnTo>
                  <a:lnTo>
                    <a:pt x="6780920" y="3399"/>
                  </a:lnTo>
                  <a:lnTo>
                    <a:pt x="6825257" y="13292"/>
                  </a:lnTo>
                  <a:lnTo>
                    <a:pt x="6866993" y="29193"/>
                  </a:lnTo>
                  <a:lnTo>
                    <a:pt x="6905642" y="50615"/>
                  </a:lnTo>
                  <a:lnTo>
                    <a:pt x="6940717" y="77072"/>
                  </a:lnTo>
                  <a:lnTo>
                    <a:pt x="6971731" y="108079"/>
                  </a:lnTo>
                  <a:lnTo>
                    <a:pt x="6998198" y="143149"/>
                  </a:lnTo>
                  <a:lnTo>
                    <a:pt x="7019630" y="181796"/>
                  </a:lnTo>
                  <a:lnTo>
                    <a:pt x="7035541" y="223533"/>
                  </a:lnTo>
                  <a:lnTo>
                    <a:pt x="7045444" y="267873"/>
                  </a:lnTo>
                  <a:lnTo>
                    <a:pt x="7048445" y="309526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9132" y="3156069"/>
              <a:ext cx="114300" cy="1142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9132" y="4641969"/>
              <a:ext cx="114300" cy="1142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9132" y="5632569"/>
              <a:ext cx="114300" cy="1142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9132" y="6127869"/>
              <a:ext cx="114300" cy="1142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9132" y="6623169"/>
              <a:ext cx="114300" cy="1142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9132" y="7118469"/>
              <a:ext cx="114300" cy="114299"/>
            </a:xfrm>
            <a:prstGeom prst="rect">
              <a:avLst/>
            </a:prstGeom>
          </p:spPr>
        </p:pic>
      </p:grp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1917810" y="805111"/>
            <a:ext cx="476250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Project</a:t>
            </a:r>
            <a:r>
              <a:rPr dirty="0" spc="-270"/>
              <a:t> </a:t>
            </a:r>
            <a:r>
              <a:rPr dirty="0" spc="-125"/>
              <a:t>Overview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0735666" y="805111"/>
            <a:ext cx="5373370" cy="78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215" b="1">
                <a:latin typeface="Cambria"/>
                <a:cs typeface="Cambria"/>
              </a:rPr>
              <a:t>Problem</a:t>
            </a:r>
            <a:r>
              <a:rPr dirty="0" sz="5000" spc="-275" b="1">
                <a:latin typeface="Cambria"/>
                <a:cs typeface="Cambria"/>
              </a:rPr>
              <a:t> </a:t>
            </a:r>
            <a:r>
              <a:rPr dirty="0" sz="5000" spc="-60" b="1">
                <a:latin typeface="Cambria"/>
                <a:cs typeface="Cambria"/>
              </a:rPr>
              <a:t>Statement</a:t>
            </a:r>
            <a:endParaRPr sz="50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816023" y="2890633"/>
            <a:ext cx="4852035" cy="547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305435">
              <a:lnSpc>
                <a:spcPct val="116100"/>
              </a:lnSpc>
              <a:spcBef>
                <a:spcPts val="100"/>
              </a:spcBef>
            </a:pPr>
            <a:r>
              <a:rPr dirty="0" sz="2800" spc="-140">
                <a:latin typeface="Georgia"/>
                <a:cs typeface="Georgia"/>
              </a:rPr>
              <a:t>EduPro</a:t>
            </a:r>
            <a:r>
              <a:rPr dirty="0" sz="2800" spc="-30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currently</a:t>
            </a:r>
            <a:r>
              <a:rPr dirty="0" sz="2800" spc="-40">
                <a:latin typeface="Georgia"/>
                <a:cs typeface="Georgia"/>
              </a:rPr>
              <a:t> </a:t>
            </a:r>
            <a:r>
              <a:rPr dirty="0" sz="2800" spc="-95">
                <a:latin typeface="Georgia"/>
                <a:cs typeface="Georgia"/>
              </a:rPr>
              <a:t>relies</a:t>
            </a:r>
            <a:r>
              <a:rPr dirty="0" sz="2800" spc="-30">
                <a:latin typeface="Georgia"/>
                <a:cs typeface="Georgia"/>
              </a:rPr>
              <a:t> </a:t>
            </a:r>
            <a:r>
              <a:rPr dirty="0" sz="2800" spc="-35">
                <a:latin typeface="Georgia"/>
                <a:cs typeface="Georgia"/>
              </a:rPr>
              <a:t>mainly </a:t>
            </a:r>
            <a:r>
              <a:rPr dirty="0" sz="2800" spc="-50">
                <a:latin typeface="Georgia"/>
                <a:cs typeface="Georgia"/>
              </a:rPr>
              <a:t>on</a:t>
            </a:r>
            <a:r>
              <a:rPr dirty="0" sz="2800" spc="-55">
                <a:latin typeface="Georgia"/>
                <a:cs typeface="Georgia"/>
              </a:rPr>
              <a:t> </a:t>
            </a:r>
            <a:r>
              <a:rPr dirty="0" sz="2800" spc="-105">
                <a:latin typeface="Georgia"/>
                <a:cs typeface="Georgia"/>
              </a:rPr>
              <a:t>historical</a:t>
            </a:r>
            <a:r>
              <a:rPr dirty="0" sz="2800" spc="-45">
                <a:latin typeface="Georgia"/>
                <a:cs typeface="Georgia"/>
              </a:rPr>
              <a:t> </a:t>
            </a:r>
            <a:r>
              <a:rPr dirty="0" sz="2800" spc="-114">
                <a:latin typeface="Georgia"/>
                <a:cs typeface="Georgia"/>
              </a:rPr>
              <a:t>data</a:t>
            </a:r>
            <a:r>
              <a:rPr dirty="0" sz="2800" spc="-45">
                <a:latin typeface="Georgia"/>
                <a:cs typeface="Georgia"/>
              </a:rPr>
              <a:t> </a:t>
            </a:r>
            <a:r>
              <a:rPr dirty="0" sz="2800" spc="-125">
                <a:latin typeface="Georgia"/>
                <a:cs typeface="Georgia"/>
              </a:rPr>
              <a:t>and</a:t>
            </a:r>
            <a:r>
              <a:rPr dirty="0" sz="2800" spc="-4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intuition </a:t>
            </a:r>
            <a:r>
              <a:rPr dirty="0" sz="2800" spc="-40">
                <a:latin typeface="Georgia"/>
                <a:cs typeface="Georgia"/>
              </a:rPr>
              <a:t>for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planning.</a:t>
            </a:r>
            <a:endParaRPr sz="2800">
              <a:latin typeface="Georgia"/>
              <a:cs typeface="Georgia"/>
            </a:endParaRPr>
          </a:p>
          <a:p>
            <a:pPr marL="12700" marR="481330">
              <a:lnSpc>
                <a:spcPct val="116100"/>
              </a:lnSpc>
            </a:pPr>
            <a:r>
              <a:rPr dirty="0" sz="2800" spc="-35">
                <a:latin typeface="Georgia"/>
                <a:cs typeface="Georgia"/>
              </a:rPr>
              <a:t>There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no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predictive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system </a:t>
            </a:r>
            <a:r>
              <a:rPr dirty="0" sz="2800" spc="-20">
                <a:latin typeface="Georgia"/>
                <a:cs typeface="Georgia"/>
              </a:rPr>
              <a:t>for:</a:t>
            </a:r>
            <a:endParaRPr sz="2800">
              <a:latin typeface="Georgia"/>
              <a:cs typeface="Georgia"/>
            </a:endParaRPr>
          </a:p>
          <a:p>
            <a:pPr marL="12700" marR="1353185">
              <a:lnSpc>
                <a:spcPct val="116100"/>
              </a:lnSpc>
            </a:pPr>
            <a:r>
              <a:rPr dirty="0" sz="2800" spc="-105">
                <a:latin typeface="Georgia"/>
                <a:cs typeface="Georgia"/>
              </a:rPr>
              <a:t>Enrollment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demand </a:t>
            </a:r>
            <a:r>
              <a:rPr dirty="0" sz="2800" spc="-30">
                <a:latin typeface="Georgia"/>
                <a:cs typeface="Georgia"/>
              </a:rPr>
              <a:t>Course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revenue </a:t>
            </a:r>
            <a:r>
              <a:rPr dirty="0" sz="2800" spc="-25">
                <a:latin typeface="Georgia"/>
                <a:cs typeface="Georgia"/>
              </a:rPr>
              <a:t>Category-</a:t>
            </a:r>
            <a:r>
              <a:rPr dirty="0" sz="2800" spc="-80">
                <a:latin typeface="Georgia"/>
                <a:cs typeface="Georgia"/>
              </a:rPr>
              <a:t>level</a:t>
            </a:r>
            <a:r>
              <a:rPr dirty="0" sz="2800" spc="-15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revenue</a:t>
            </a:r>
            <a:endParaRPr sz="2800">
              <a:latin typeface="Georgia"/>
              <a:cs typeface="Georgia"/>
            </a:endParaRPr>
          </a:p>
          <a:p>
            <a:pPr marL="12700" marR="5080">
              <a:lnSpc>
                <a:spcPct val="116100"/>
              </a:lnSpc>
            </a:pPr>
            <a:r>
              <a:rPr dirty="0" sz="2800" spc="-85">
                <a:latin typeface="Georgia"/>
                <a:cs typeface="Georgia"/>
              </a:rPr>
              <a:t>This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makes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launch, </a:t>
            </a:r>
            <a:r>
              <a:rPr dirty="0" sz="2800" spc="-95">
                <a:latin typeface="Georgia"/>
                <a:cs typeface="Georgia"/>
              </a:rPr>
              <a:t>pricing,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instructor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allocation </a:t>
            </a:r>
            <a:r>
              <a:rPr dirty="0" sz="2800" spc="-70">
                <a:latin typeface="Georgia"/>
                <a:cs typeface="Georgia"/>
              </a:rPr>
              <a:t>decisions</a:t>
            </a:r>
            <a:r>
              <a:rPr dirty="0" sz="2800" spc="-165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less</a:t>
            </a:r>
            <a:r>
              <a:rPr dirty="0" sz="2800" spc="-16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data-</a:t>
            </a:r>
            <a:r>
              <a:rPr dirty="0" sz="2800" spc="-10">
                <a:latin typeface="Georgia"/>
                <a:cs typeface="Georgia"/>
              </a:rPr>
              <a:t>driven.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43869"/>
            <a:ext cx="18288000" cy="1369695"/>
            <a:chOff x="0" y="343869"/>
            <a:chExt cx="18288000" cy="1369695"/>
          </a:xfrm>
        </p:grpSpPr>
        <p:sp>
          <p:nvSpPr>
            <p:cNvPr id="3" name="object 3"/>
            <p:cNvSpPr/>
            <p:nvPr/>
          </p:nvSpPr>
          <p:spPr>
            <a:xfrm>
              <a:off x="0" y="1515399"/>
              <a:ext cx="18288000" cy="38100"/>
            </a:xfrm>
            <a:custGeom>
              <a:avLst/>
              <a:gdLst/>
              <a:ahLst/>
              <a:cxnLst/>
              <a:rect l="l" t="t" r="r" b="b"/>
              <a:pathLst>
                <a:path w="18288000" h="38100">
                  <a:moveTo>
                    <a:pt x="0" y="38099"/>
                  </a:moveTo>
                  <a:lnTo>
                    <a:pt x="0" y="0"/>
                  </a:lnTo>
                  <a:lnTo>
                    <a:pt x="18287999" y="0"/>
                  </a:lnTo>
                  <a:lnTo>
                    <a:pt x="18287999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574468" y="343869"/>
              <a:ext cx="1369695" cy="1369695"/>
            </a:xfrm>
            <a:custGeom>
              <a:avLst/>
              <a:gdLst/>
              <a:ahLst/>
              <a:cxnLst/>
              <a:rect l="l" t="t" r="r" b="b"/>
              <a:pathLst>
                <a:path w="1369694" h="1369695">
                  <a:moveTo>
                    <a:pt x="1230607" y="1369634"/>
                  </a:moveTo>
                  <a:lnTo>
                    <a:pt x="1187950" y="1365390"/>
                  </a:lnTo>
                  <a:lnTo>
                    <a:pt x="1140785" y="1353147"/>
                  </a:lnTo>
                  <a:lnTo>
                    <a:pt x="1089523" y="1332494"/>
                  </a:lnTo>
                  <a:lnTo>
                    <a:pt x="1034574" y="1303020"/>
                  </a:lnTo>
                  <a:lnTo>
                    <a:pt x="976350" y="1264315"/>
                  </a:lnTo>
                  <a:lnTo>
                    <a:pt x="915260" y="1215969"/>
                  </a:lnTo>
                  <a:lnTo>
                    <a:pt x="883770" y="1188051"/>
                  </a:lnTo>
                  <a:lnTo>
                    <a:pt x="851717" y="1157569"/>
                  </a:lnTo>
                  <a:lnTo>
                    <a:pt x="819153" y="1124471"/>
                  </a:lnTo>
                  <a:lnTo>
                    <a:pt x="786130" y="1088706"/>
                  </a:lnTo>
                  <a:lnTo>
                    <a:pt x="752699" y="1050222"/>
                  </a:lnTo>
                  <a:lnTo>
                    <a:pt x="718911" y="1008968"/>
                  </a:lnTo>
                  <a:lnTo>
                    <a:pt x="684817" y="964893"/>
                  </a:lnTo>
                  <a:lnTo>
                    <a:pt x="650723" y="1008968"/>
                  </a:lnTo>
                  <a:lnTo>
                    <a:pt x="616935" y="1050222"/>
                  </a:lnTo>
                  <a:lnTo>
                    <a:pt x="583503" y="1088706"/>
                  </a:lnTo>
                  <a:lnTo>
                    <a:pt x="550480" y="1124471"/>
                  </a:lnTo>
                  <a:lnTo>
                    <a:pt x="517916" y="1157569"/>
                  </a:lnTo>
                  <a:lnTo>
                    <a:pt x="485864" y="1188051"/>
                  </a:lnTo>
                  <a:lnTo>
                    <a:pt x="454373" y="1215969"/>
                  </a:lnTo>
                  <a:lnTo>
                    <a:pt x="423496" y="1241373"/>
                  </a:lnTo>
                  <a:lnTo>
                    <a:pt x="363788" y="1284847"/>
                  </a:lnTo>
                  <a:lnTo>
                    <a:pt x="307150" y="1318885"/>
                  </a:lnTo>
                  <a:lnTo>
                    <a:pt x="253993" y="1343897"/>
                  </a:lnTo>
                  <a:lnTo>
                    <a:pt x="204728" y="1360294"/>
                  </a:lnTo>
                  <a:lnTo>
                    <a:pt x="159765" y="1368486"/>
                  </a:lnTo>
                  <a:lnTo>
                    <a:pt x="139026" y="1369634"/>
                  </a:lnTo>
                  <a:lnTo>
                    <a:pt x="119516" y="1368884"/>
                  </a:lnTo>
                  <a:lnTo>
                    <a:pt x="68878" y="1355767"/>
                  </a:lnTo>
                  <a:lnTo>
                    <a:pt x="31155" y="1327424"/>
                  </a:lnTo>
                  <a:lnTo>
                    <a:pt x="7733" y="1285242"/>
                  </a:lnTo>
                  <a:lnTo>
                    <a:pt x="0" y="1230607"/>
                  </a:lnTo>
                  <a:lnTo>
                    <a:pt x="1147" y="1209868"/>
                  </a:lnTo>
                  <a:lnTo>
                    <a:pt x="9339" y="1164905"/>
                  </a:lnTo>
                  <a:lnTo>
                    <a:pt x="25736" y="1115640"/>
                  </a:lnTo>
                  <a:lnTo>
                    <a:pt x="50748" y="1062483"/>
                  </a:lnTo>
                  <a:lnTo>
                    <a:pt x="84786" y="1005845"/>
                  </a:lnTo>
                  <a:lnTo>
                    <a:pt x="128260" y="946137"/>
                  </a:lnTo>
                  <a:lnTo>
                    <a:pt x="153665" y="915260"/>
                  </a:lnTo>
                  <a:lnTo>
                    <a:pt x="181582" y="883770"/>
                  </a:lnTo>
                  <a:lnTo>
                    <a:pt x="212064" y="851717"/>
                  </a:lnTo>
                  <a:lnTo>
                    <a:pt x="245162" y="819153"/>
                  </a:lnTo>
                  <a:lnTo>
                    <a:pt x="280928" y="786130"/>
                  </a:lnTo>
                  <a:lnTo>
                    <a:pt x="319411" y="752699"/>
                  </a:lnTo>
                  <a:lnTo>
                    <a:pt x="360665" y="718910"/>
                  </a:lnTo>
                  <a:lnTo>
                    <a:pt x="404740" y="684817"/>
                  </a:lnTo>
                  <a:lnTo>
                    <a:pt x="360665" y="650723"/>
                  </a:lnTo>
                  <a:lnTo>
                    <a:pt x="319411" y="616935"/>
                  </a:lnTo>
                  <a:lnTo>
                    <a:pt x="280928" y="583503"/>
                  </a:lnTo>
                  <a:lnTo>
                    <a:pt x="245162" y="550480"/>
                  </a:lnTo>
                  <a:lnTo>
                    <a:pt x="212064" y="517916"/>
                  </a:lnTo>
                  <a:lnTo>
                    <a:pt x="181582" y="485864"/>
                  </a:lnTo>
                  <a:lnTo>
                    <a:pt x="153665" y="454373"/>
                  </a:lnTo>
                  <a:lnTo>
                    <a:pt x="128260" y="423496"/>
                  </a:lnTo>
                  <a:lnTo>
                    <a:pt x="84786" y="363788"/>
                  </a:lnTo>
                  <a:lnTo>
                    <a:pt x="50748" y="307150"/>
                  </a:lnTo>
                  <a:lnTo>
                    <a:pt x="25736" y="253993"/>
                  </a:lnTo>
                  <a:lnTo>
                    <a:pt x="9339" y="204728"/>
                  </a:lnTo>
                  <a:lnTo>
                    <a:pt x="1147" y="159766"/>
                  </a:lnTo>
                  <a:lnTo>
                    <a:pt x="0" y="139026"/>
                  </a:lnTo>
                  <a:lnTo>
                    <a:pt x="749" y="119516"/>
                  </a:lnTo>
                  <a:lnTo>
                    <a:pt x="13866" y="68878"/>
                  </a:lnTo>
                  <a:lnTo>
                    <a:pt x="42209" y="31155"/>
                  </a:lnTo>
                  <a:lnTo>
                    <a:pt x="84391" y="7733"/>
                  </a:lnTo>
                  <a:lnTo>
                    <a:pt x="139026" y="0"/>
                  </a:lnTo>
                  <a:lnTo>
                    <a:pt x="159765" y="1147"/>
                  </a:lnTo>
                  <a:lnTo>
                    <a:pt x="204728" y="9339"/>
                  </a:lnTo>
                  <a:lnTo>
                    <a:pt x="253993" y="25736"/>
                  </a:lnTo>
                  <a:lnTo>
                    <a:pt x="307150" y="50748"/>
                  </a:lnTo>
                  <a:lnTo>
                    <a:pt x="363788" y="84786"/>
                  </a:lnTo>
                  <a:lnTo>
                    <a:pt x="423496" y="128260"/>
                  </a:lnTo>
                  <a:lnTo>
                    <a:pt x="454373" y="153665"/>
                  </a:lnTo>
                  <a:lnTo>
                    <a:pt x="485864" y="181582"/>
                  </a:lnTo>
                  <a:lnTo>
                    <a:pt x="517916" y="212064"/>
                  </a:lnTo>
                  <a:lnTo>
                    <a:pt x="550480" y="245162"/>
                  </a:lnTo>
                  <a:lnTo>
                    <a:pt x="583503" y="280927"/>
                  </a:lnTo>
                  <a:lnTo>
                    <a:pt x="616935" y="319411"/>
                  </a:lnTo>
                  <a:lnTo>
                    <a:pt x="650723" y="360665"/>
                  </a:lnTo>
                  <a:lnTo>
                    <a:pt x="684817" y="404740"/>
                  </a:lnTo>
                  <a:lnTo>
                    <a:pt x="718911" y="360665"/>
                  </a:lnTo>
                  <a:lnTo>
                    <a:pt x="752699" y="319411"/>
                  </a:lnTo>
                  <a:lnTo>
                    <a:pt x="786130" y="280927"/>
                  </a:lnTo>
                  <a:lnTo>
                    <a:pt x="819153" y="245162"/>
                  </a:lnTo>
                  <a:lnTo>
                    <a:pt x="851717" y="212064"/>
                  </a:lnTo>
                  <a:lnTo>
                    <a:pt x="883770" y="181582"/>
                  </a:lnTo>
                  <a:lnTo>
                    <a:pt x="915260" y="153665"/>
                  </a:lnTo>
                  <a:lnTo>
                    <a:pt x="946138" y="128260"/>
                  </a:lnTo>
                  <a:lnTo>
                    <a:pt x="1005846" y="84786"/>
                  </a:lnTo>
                  <a:lnTo>
                    <a:pt x="1062484" y="50748"/>
                  </a:lnTo>
                  <a:lnTo>
                    <a:pt x="1115640" y="25736"/>
                  </a:lnTo>
                  <a:lnTo>
                    <a:pt x="1164905" y="9339"/>
                  </a:lnTo>
                  <a:lnTo>
                    <a:pt x="1209868" y="1147"/>
                  </a:lnTo>
                  <a:lnTo>
                    <a:pt x="1230607" y="0"/>
                  </a:lnTo>
                  <a:lnTo>
                    <a:pt x="1250117" y="749"/>
                  </a:lnTo>
                  <a:lnTo>
                    <a:pt x="1300755" y="13866"/>
                  </a:lnTo>
                  <a:lnTo>
                    <a:pt x="1338478" y="42209"/>
                  </a:lnTo>
                  <a:lnTo>
                    <a:pt x="1361900" y="84391"/>
                  </a:lnTo>
                  <a:lnTo>
                    <a:pt x="1369634" y="139026"/>
                  </a:lnTo>
                  <a:lnTo>
                    <a:pt x="1368486" y="159766"/>
                  </a:lnTo>
                  <a:lnTo>
                    <a:pt x="1360294" y="204728"/>
                  </a:lnTo>
                  <a:lnTo>
                    <a:pt x="1343897" y="253993"/>
                  </a:lnTo>
                  <a:lnTo>
                    <a:pt x="1318885" y="307150"/>
                  </a:lnTo>
                  <a:lnTo>
                    <a:pt x="1284848" y="363788"/>
                  </a:lnTo>
                  <a:lnTo>
                    <a:pt x="1241373" y="423496"/>
                  </a:lnTo>
                  <a:lnTo>
                    <a:pt x="1215969" y="454373"/>
                  </a:lnTo>
                  <a:lnTo>
                    <a:pt x="1188051" y="485864"/>
                  </a:lnTo>
                  <a:lnTo>
                    <a:pt x="1157569" y="517916"/>
                  </a:lnTo>
                  <a:lnTo>
                    <a:pt x="1124471" y="550480"/>
                  </a:lnTo>
                  <a:lnTo>
                    <a:pt x="1088706" y="583503"/>
                  </a:lnTo>
                  <a:lnTo>
                    <a:pt x="1050222" y="616935"/>
                  </a:lnTo>
                  <a:lnTo>
                    <a:pt x="1008968" y="650723"/>
                  </a:lnTo>
                  <a:lnTo>
                    <a:pt x="964894" y="684817"/>
                  </a:lnTo>
                  <a:lnTo>
                    <a:pt x="1008968" y="718910"/>
                  </a:lnTo>
                  <a:lnTo>
                    <a:pt x="1050222" y="752699"/>
                  </a:lnTo>
                  <a:lnTo>
                    <a:pt x="1088706" y="786130"/>
                  </a:lnTo>
                  <a:lnTo>
                    <a:pt x="1124471" y="819153"/>
                  </a:lnTo>
                  <a:lnTo>
                    <a:pt x="1157569" y="851717"/>
                  </a:lnTo>
                  <a:lnTo>
                    <a:pt x="1188051" y="883770"/>
                  </a:lnTo>
                  <a:lnTo>
                    <a:pt x="1215969" y="915260"/>
                  </a:lnTo>
                  <a:lnTo>
                    <a:pt x="1241373" y="946137"/>
                  </a:lnTo>
                  <a:lnTo>
                    <a:pt x="1284848" y="1005845"/>
                  </a:lnTo>
                  <a:lnTo>
                    <a:pt x="1318885" y="1062483"/>
                  </a:lnTo>
                  <a:lnTo>
                    <a:pt x="1343897" y="1115640"/>
                  </a:lnTo>
                  <a:lnTo>
                    <a:pt x="1360294" y="1164905"/>
                  </a:lnTo>
                  <a:lnTo>
                    <a:pt x="1368486" y="1209868"/>
                  </a:lnTo>
                  <a:lnTo>
                    <a:pt x="1369634" y="1230607"/>
                  </a:lnTo>
                  <a:lnTo>
                    <a:pt x="1368885" y="1250117"/>
                  </a:lnTo>
                  <a:lnTo>
                    <a:pt x="1355767" y="1300755"/>
                  </a:lnTo>
                  <a:lnTo>
                    <a:pt x="1327425" y="1338478"/>
                  </a:lnTo>
                  <a:lnTo>
                    <a:pt x="1285243" y="1361900"/>
                  </a:lnTo>
                  <a:lnTo>
                    <a:pt x="1250117" y="1368884"/>
                  </a:lnTo>
                  <a:lnTo>
                    <a:pt x="1230607" y="1369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77555" y="131162"/>
            <a:ext cx="9133205" cy="1387475"/>
          </a:xfrm>
          <a:prstGeom prst="rect"/>
        </p:spPr>
        <p:txBody>
          <a:bodyPr wrap="square" lIns="0" tIns="173990" rIns="0" bIns="0" rtlCol="0" vert="horz">
            <a:spAutoFit/>
          </a:bodyPr>
          <a:lstStyle/>
          <a:p>
            <a:pPr marL="2966085" marR="5080" indent="-2954020">
              <a:lnSpc>
                <a:spcPct val="78800"/>
              </a:lnSpc>
              <a:spcBef>
                <a:spcPts val="1370"/>
              </a:spcBef>
            </a:pPr>
            <a:r>
              <a:rPr dirty="0" spc="-280"/>
              <a:t>Dataset,</a:t>
            </a:r>
            <a:r>
              <a:rPr dirty="0" spc="-600"/>
              <a:t> </a:t>
            </a:r>
            <a:r>
              <a:rPr dirty="0" spc="-254"/>
              <a:t>Data</a:t>
            </a:r>
            <a:r>
              <a:rPr dirty="0" spc="-600"/>
              <a:t> </a:t>
            </a:r>
            <a:r>
              <a:rPr dirty="0" spc="-345"/>
              <a:t>Preparation</a:t>
            </a:r>
            <a:r>
              <a:rPr dirty="0" spc="-600"/>
              <a:t> </a:t>
            </a:r>
            <a:r>
              <a:rPr dirty="0" spc="-370"/>
              <a:t>&amp;</a:t>
            </a:r>
            <a:r>
              <a:rPr dirty="0" spc="-600"/>
              <a:t> </a:t>
            </a:r>
            <a:r>
              <a:rPr dirty="0" spc="-570"/>
              <a:t>F</a:t>
            </a:r>
            <a:r>
              <a:rPr dirty="0" spc="-375"/>
              <a:t>e</a:t>
            </a:r>
            <a:r>
              <a:rPr dirty="0" spc="-409"/>
              <a:t>a</a:t>
            </a:r>
            <a:r>
              <a:rPr dirty="0" spc="-330"/>
              <a:t>t</a:t>
            </a:r>
            <a:r>
              <a:rPr dirty="0" spc="-365"/>
              <a:t>u</a:t>
            </a:r>
            <a:r>
              <a:rPr dirty="0" spc="-405"/>
              <a:t>r</a:t>
            </a:r>
            <a:r>
              <a:rPr dirty="0" spc="45"/>
              <a:t>e</a:t>
            </a:r>
            <a:r>
              <a:rPr dirty="0" spc="-345"/>
              <a:t> </a:t>
            </a:r>
            <a:r>
              <a:rPr dirty="0" spc="-275"/>
              <a:t>Engineering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585" y="3204509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585" y="3699809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585" y="4195109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585" y="4690409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392085" y="1825497"/>
            <a:ext cx="4899025" cy="312039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3300" spc="-10" b="1">
                <a:latin typeface="Cambria"/>
                <a:cs typeface="Cambria"/>
              </a:rPr>
              <a:t>Dataset</a:t>
            </a:r>
            <a:endParaRPr sz="3300">
              <a:latin typeface="Cambria"/>
              <a:cs typeface="Cambria"/>
            </a:endParaRPr>
          </a:p>
          <a:p>
            <a:pPr marL="616585" marR="5080" indent="-604520">
              <a:lnSpc>
                <a:spcPct val="116100"/>
              </a:lnSpc>
              <a:spcBef>
                <a:spcPts val="125"/>
              </a:spcBef>
            </a:pPr>
            <a:r>
              <a:rPr dirty="0" sz="2800" spc="-70">
                <a:latin typeface="Georgia"/>
                <a:cs typeface="Georgia"/>
              </a:rPr>
              <a:t>Excel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180">
                <a:latin typeface="Georgia"/>
                <a:cs typeface="Georgia"/>
              </a:rPr>
              <a:t>File: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EduPro_Dataset.xlsx </a:t>
            </a:r>
            <a:r>
              <a:rPr dirty="0" sz="2800" spc="-110">
                <a:latin typeface="Georgia"/>
                <a:cs typeface="Georgia"/>
              </a:rPr>
              <a:t>Users: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35">
                <a:latin typeface="Georgia"/>
                <a:cs typeface="Georgia"/>
              </a:rPr>
              <a:t>3,000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records </a:t>
            </a:r>
            <a:r>
              <a:rPr dirty="0" sz="2800" spc="-90">
                <a:latin typeface="Georgia"/>
                <a:cs typeface="Georgia"/>
              </a:rPr>
              <a:t>Teachers: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60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records </a:t>
            </a:r>
            <a:r>
              <a:rPr dirty="0" sz="2800" spc="-75">
                <a:latin typeface="Georgia"/>
                <a:cs typeface="Georgia"/>
              </a:rPr>
              <a:t>Courses: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60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records </a:t>
            </a:r>
            <a:r>
              <a:rPr dirty="0" sz="2800" spc="-105">
                <a:latin typeface="Georgia"/>
                <a:cs typeface="Georgia"/>
              </a:rPr>
              <a:t>Transactions:</a:t>
            </a:r>
            <a:r>
              <a:rPr dirty="0" sz="2800" spc="-150">
                <a:latin typeface="Georgia"/>
                <a:cs typeface="Georgia"/>
              </a:rPr>
              <a:t> </a:t>
            </a:r>
            <a:r>
              <a:rPr dirty="0" sz="2800" spc="-175">
                <a:latin typeface="Georgia"/>
                <a:cs typeface="Georgia"/>
              </a:rPr>
              <a:t>10,000</a:t>
            </a:r>
            <a:r>
              <a:rPr dirty="0" sz="2800" spc="-14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records</a:t>
            </a:r>
            <a:endParaRPr sz="2800">
              <a:latin typeface="Georgia"/>
              <a:cs typeface="Georg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4945" y="3281221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4945" y="3776521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4945" y="4271821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4945" y="4767121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4945" y="5262421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4945" y="5757721"/>
            <a:ext cx="114300" cy="1142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4945" y="6253021"/>
            <a:ext cx="114300" cy="11429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4945" y="6748321"/>
            <a:ext cx="114300" cy="114299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29845" rIns="0" bIns="0" rtlCol="0" vert="horz">
            <a:spAutoFit/>
          </a:bodyPr>
          <a:lstStyle/>
          <a:p>
            <a:pPr marL="616585" marR="1522095" indent="-604520">
              <a:lnSpc>
                <a:spcPct val="116300"/>
              </a:lnSpc>
              <a:spcBef>
                <a:spcPts val="235"/>
              </a:spcBef>
            </a:pPr>
            <a:r>
              <a:rPr dirty="0" sz="3300" spc="-135" b="1">
                <a:latin typeface="Cambria"/>
                <a:cs typeface="Cambria"/>
              </a:rPr>
              <a:t>Feature</a:t>
            </a:r>
            <a:r>
              <a:rPr dirty="0" sz="3300" spc="-170" b="1">
                <a:latin typeface="Cambria"/>
                <a:cs typeface="Cambria"/>
              </a:rPr>
              <a:t> </a:t>
            </a:r>
            <a:r>
              <a:rPr dirty="0" sz="3300" spc="-70" b="1">
                <a:latin typeface="Cambria"/>
                <a:cs typeface="Cambria"/>
              </a:rPr>
              <a:t>Engineering </a:t>
            </a:r>
            <a:r>
              <a:rPr dirty="0" spc="-55"/>
              <a:t>Price</a:t>
            </a:r>
            <a:r>
              <a:rPr dirty="0" spc="-204"/>
              <a:t> </a:t>
            </a:r>
            <a:r>
              <a:rPr dirty="0" spc="-10"/>
              <a:t>Groups </a:t>
            </a:r>
            <a:r>
              <a:rPr dirty="0" spc="-100"/>
              <a:t>Duration</a:t>
            </a:r>
            <a:r>
              <a:rPr dirty="0" spc="-170"/>
              <a:t> </a:t>
            </a:r>
            <a:r>
              <a:rPr dirty="0" spc="-10"/>
              <a:t>Groups </a:t>
            </a:r>
            <a:r>
              <a:rPr dirty="0" spc="-120"/>
              <a:t>Rating</a:t>
            </a:r>
            <a:r>
              <a:rPr dirty="0" spc="-235"/>
              <a:t> </a:t>
            </a:r>
            <a:r>
              <a:rPr dirty="0" spc="-10"/>
              <a:t>Groups</a:t>
            </a:r>
            <a:endParaRPr sz="3300">
              <a:latin typeface="Cambria"/>
              <a:cs typeface="Cambria"/>
            </a:endParaRPr>
          </a:p>
          <a:p>
            <a:pPr marL="616585" marR="1003300">
              <a:lnSpc>
                <a:spcPct val="116100"/>
              </a:lnSpc>
            </a:pPr>
            <a:r>
              <a:rPr dirty="0" spc="-30"/>
              <a:t>Course</a:t>
            </a:r>
            <a:r>
              <a:rPr dirty="0" spc="-200"/>
              <a:t> </a:t>
            </a:r>
            <a:r>
              <a:rPr dirty="0" spc="-90"/>
              <a:t>Level</a:t>
            </a:r>
            <a:r>
              <a:rPr dirty="0" spc="-195"/>
              <a:t> </a:t>
            </a:r>
            <a:r>
              <a:rPr dirty="0" spc="-10"/>
              <a:t>Encoding </a:t>
            </a:r>
            <a:r>
              <a:rPr dirty="0" spc="-55"/>
              <a:t>Teacher</a:t>
            </a:r>
            <a:r>
              <a:rPr dirty="0" spc="-185"/>
              <a:t> </a:t>
            </a:r>
            <a:r>
              <a:rPr dirty="0" spc="-80"/>
              <a:t>Quality</a:t>
            </a:r>
            <a:r>
              <a:rPr dirty="0" spc="-185"/>
              <a:t> </a:t>
            </a:r>
            <a:r>
              <a:rPr dirty="0" spc="-10"/>
              <a:t>Score </a:t>
            </a:r>
            <a:r>
              <a:rPr dirty="0" spc="-75"/>
              <a:t>Expertise</a:t>
            </a:r>
            <a:r>
              <a:rPr dirty="0" spc="-180"/>
              <a:t> </a:t>
            </a:r>
            <a:r>
              <a:rPr dirty="0" spc="-65"/>
              <a:t>Match</a:t>
            </a:r>
            <a:r>
              <a:rPr dirty="0" spc="-175"/>
              <a:t> </a:t>
            </a:r>
            <a:r>
              <a:rPr dirty="0" spc="-20"/>
              <a:t>Rate </a:t>
            </a:r>
            <a:r>
              <a:rPr dirty="0" spc="-85"/>
              <a:t>Revenue</a:t>
            </a:r>
            <a:r>
              <a:rPr dirty="0" spc="-210"/>
              <a:t> </a:t>
            </a:r>
            <a:r>
              <a:rPr dirty="0" spc="-10"/>
              <a:t>per</a:t>
            </a:r>
            <a:r>
              <a:rPr dirty="0" spc="-210"/>
              <a:t> </a:t>
            </a:r>
            <a:r>
              <a:rPr dirty="0" spc="-90"/>
              <a:t>Enrollment </a:t>
            </a:r>
            <a:r>
              <a:rPr dirty="0" spc="-85"/>
              <a:t>Revenue</a:t>
            </a:r>
            <a:r>
              <a:rPr dirty="0" spc="-200"/>
              <a:t> </a:t>
            </a:r>
            <a:r>
              <a:rPr dirty="0" spc="-10"/>
              <a:t>Efficiency</a:t>
            </a:r>
          </a:p>
          <a:p>
            <a:pPr marL="12700" marR="5080">
              <a:lnSpc>
                <a:spcPct val="116100"/>
              </a:lnSpc>
            </a:pPr>
            <a:r>
              <a:rPr dirty="0" spc="-85"/>
              <a:t>Output:</a:t>
            </a:r>
            <a:r>
              <a:rPr dirty="0" spc="-190"/>
              <a:t> </a:t>
            </a:r>
            <a:r>
              <a:rPr dirty="0" spc="-140"/>
              <a:t>A</a:t>
            </a:r>
            <a:r>
              <a:rPr dirty="0" spc="-190"/>
              <a:t> </a:t>
            </a:r>
            <a:r>
              <a:rPr dirty="0" spc="-105"/>
              <a:t>final</a:t>
            </a:r>
            <a:r>
              <a:rPr dirty="0" spc="-190"/>
              <a:t> </a:t>
            </a:r>
            <a:r>
              <a:rPr dirty="0" spc="-20"/>
              <a:t>course-</a:t>
            </a:r>
            <a:r>
              <a:rPr dirty="0" spc="-80"/>
              <a:t>level</a:t>
            </a:r>
            <a:r>
              <a:rPr dirty="0" spc="-190"/>
              <a:t> </a:t>
            </a:r>
            <a:r>
              <a:rPr dirty="0" spc="-20"/>
              <a:t>dataset </a:t>
            </a:r>
            <a:r>
              <a:rPr dirty="0" spc="-65"/>
              <a:t>prepared</a:t>
            </a:r>
            <a:r>
              <a:rPr dirty="0" spc="-190"/>
              <a:t> </a:t>
            </a:r>
            <a:r>
              <a:rPr dirty="0" spc="-40"/>
              <a:t>for</a:t>
            </a:r>
            <a:r>
              <a:rPr dirty="0" spc="-185"/>
              <a:t> </a:t>
            </a:r>
            <a:r>
              <a:rPr dirty="0" spc="-70"/>
              <a:t>machine</a:t>
            </a:r>
            <a:r>
              <a:rPr dirty="0" spc="-185"/>
              <a:t> </a:t>
            </a:r>
            <a:r>
              <a:rPr dirty="0" spc="-10"/>
              <a:t>learning.</a:t>
            </a: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585" y="7232123"/>
            <a:ext cx="114300" cy="114299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585" y="7727423"/>
            <a:ext cx="114300" cy="114299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585" y="8222723"/>
            <a:ext cx="114300" cy="11429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585" y="8718023"/>
            <a:ext cx="114300" cy="11429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392085" y="6348411"/>
            <a:ext cx="7034530" cy="262509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3300" spc="-85" b="1">
                <a:latin typeface="Cambria"/>
                <a:cs typeface="Cambria"/>
              </a:rPr>
              <a:t>Data</a:t>
            </a:r>
            <a:r>
              <a:rPr dirty="0" sz="3300" spc="-175" b="1">
                <a:latin typeface="Cambria"/>
                <a:cs typeface="Cambria"/>
              </a:rPr>
              <a:t> </a:t>
            </a:r>
            <a:r>
              <a:rPr dirty="0" sz="3300" spc="-40" b="1">
                <a:latin typeface="Cambria"/>
                <a:cs typeface="Cambria"/>
              </a:rPr>
              <a:t>Preparation</a:t>
            </a:r>
            <a:endParaRPr sz="3300">
              <a:latin typeface="Cambria"/>
              <a:cs typeface="Cambria"/>
            </a:endParaRPr>
          </a:p>
          <a:p>
            <a:pPr marL="616585" marR="5080">
              <a:lnSpc>
                <a:spcPct val="116100"/>
              </a:lnSpc>
              <a:spcBef>
                <a:spcPts val="125"/>
              </a:spcBef>
            </a:pPr>
            <a:r>
              <a:rPr dirty="0" sz="2800" spc="-30">
                <a:latin typeface="Georgia"/>
                <a:cs typeface="Georgia"/>
              </a:rPr>
              <a:t>Checked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100">
                <a:latin typeface="Georgia"/>
                <a:cs typeface="Georgia"/>
              </a:rPr>
              <a:t>missing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90">
                <a:latin typeface="Georgia"/>
                <a:cs typeface="Georgia"/>
              </a:rPr>
              <a:t>values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duplicates </a:t>
            </a:r>
            <a:r>
              <a:rPr dirty="0" sz="2800" spc="-60">
                <a:latin typeface="Georgia"/>
                <a:cs typeface="Georgia"/>
              </a:rPr>
              <a:t>Merged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Courses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360">
                <a:latin typeface="Georgia"/>
                <a:cs typeface="Georgia"/>
              </a:rPr>
              <a:t>+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60">
                <a:latin typeface="Georgia"/>
                <a:cs typeface="Georgia"/>
              </a:rPr>
              <a:t>Teachers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360">
                <a:latin typeface="Georgia"/>
                <a:cs typeface="Georgia"/>
              </a:rPr>
              <a:t>+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Transactions </a:t>
            </a:r>
            <a:r>
              <a:rPr dirty="0" sz="2800" spc="-70">
                <a:latin typeface="Georgia"/>
                <a:cs typeface="Georgia"/>
              </a:rPr>
              <a:t>Aggregated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transaction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data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20">
                <a:latin typeface="Georgia"/>
                <a:cs typeface="Georgia"/>
              </a:rPr>
              <a:t>at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level </a:t>
            </a:r>
            <a:r>
              <a:rPr dirty="0" sz="2800" spc="-75">
                <a:latin typeface="Georgia"/>
                <a:cs typeface="Georgia"/>
              </a:rPr>
              <a:t>Calculated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enrollment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revenue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metrics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1534438"/>
            <a:ext cx="9163050" cy="8752840"/>
          </a:xfrm>
          <a:custGeom>
            <a:avLst/>
            <a:gdLst/>
            <a:ahLst/>
            <a:cxnLst/>
            <a:rect l="l" t="t" r="r" b="b"/>
            <a:pathLst>
              <a:path w="9163050" h="8752840">
                <a:moveTo>
                  <a:pt x="9163025" y="0"/>
                </a:moveTo>
                <a:lnTo>
                  <a:pt x="9124925" y="0"/>
                </a:lnTo>
                <a:lnTo>
                  <a:pt x="9124925" y="4248188"/>
                </a:lnTo>
                <a:lnTo>
                  <a:pt x="0" y="4248188"/>
                </a:lnTo>
                <a:lnTo>
                  <a:pt x="0" y="4286288"/>
                </a:lnTo>
                <a:lnTo>
                  <a:pt x="9124925" y="4286288"/>
                </a:lnTo>
                <a:lnTo>
                  <a:pt x="9124925" y="8752561"/>
                </a:lnTo>
                <a:lnTo>
                  <a:pt x="9163025" y="8752561"/>
                </a:lnTo>
                <a:lnTo>
                  <a:pt x="9163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43869"/>
            <a:ext cx="18288000" cy="1369695"/>
            <a:chOff x="0" y="343869"/>
            <a:chExt cx="18288000" cy="1369695"/>
          </a:xfrm>
        </p:grpSpPr>
        <p:sp>
          <p:nvSpPr>
            <p:cNvPr id="3" name="object 3"/>
            <p:cNvSpPr/>
            <p:nvPr/>
          </p:nvSpPr>
          <p:spPr>
            <a:xfrm>
              <a:off x="0" y="1515399"/>
              <a:ext cx="18288000" cy="38100"/>
            </a:xfrm>
            <a:custGeom>
              <a:avLst/>
              <a:gdLst/>
              <a:ahLst/>
              <a:cxnLst/>
              <a:rect l="l" t="t" r="r" b="b"/>
              <a:pathLst>
                <a:path w="18288000" h="38100">
                  <a:moveTo>
                    <a:pt x="0" y="38099"/>
                  </a:moveTo>
                  <a:lnTo>
                    <a:pt x="0" y="0"/>
                  </a:lnTo>
                  <a:lnTo>
                    <a:pt x="18287999" y="0"/>
                  </a:lnTo>
                  <a:lnTo>
                    <a:pt x="18287999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574468" y="343869"/>
              <a:ext cx="1369695" cy="1369695"/>
            </a:xfrm>
            <a:custGeom>
              <a:avLst/>
              <a:gdLst/>
              <a:ahLst/>
              <a:cxnLst/>
              <a:rect l="l" t="t" r="r" b="b"/>
              <a:pathLst>
                <a:path w="1369694" h="1369695">
                  <a:moveTo>
                    <a:pt x="1230607" y="1369634"/>
                  </a:moveTo>
                  <a:lnTo>
                    <a:pt x="1187950" y="1365390"/>
                  </a:lnTo>
                  <a:lnTo>
                    <a:pt x="1140785" y="1353147"/>
                  </a:lnTo>
                  <a:lnTo>
                    <a:pt x="1089523" y="1332494"/>
                  </a:lnTo>
                  <a:lnTo>
                    <a:pt x="1034574" y="1303020"/>
                  </a:lnTo>
                  <a:lnTo>
                    <a:pt x="976350" y="1264315"/>
                  </a:lnTo>
                  <a:lnTo>
                    <a:pt x="915260" y="1215969"/>
                  </a:lnTo>
                  <a:lnTo>
                    <a:pt x="883770" y="1188051"/>
                  </a:lnTo>
                  <a:lnTo>
                    <a:pt x="851717" y="1157569"/>
                  </a:lnTo>
                  <a:lnTo>
                    <a:pt x="819153" y="1124471"/>
                  </a:lnTo>
                  <a:lnTo>
                    <a:pt x="786130" y="1088706"/>
                  </a:lnTo>
                  <a:lnTo>
                    <a:pt x="752699" y="1050222"/>
                  </a:lnTo>
                  <a:lnTo>
                    <a:pt x="718911" y="1008968"/>
                  </a:lnTo>
                  <a:lnTo>
                    <a:pt x="684817" y="964893"/>
                  </a:lnTo>
                  <a:lnTo>
                    <a:pt x="650723" y="1008968"/>
                  </a:lnTo>
                  <a:lnTo>
                    <a:pt x="616935" y="1050222"/>
                  </a:lnTo>
                  <a:lnTo>
                    <a:pt x="583503" y="1088706"/>
                  </a:lnTo>
                  <a:lnTo>
                    <a:pt x="550480" y="1124471"/>
                  </a:lnTo>
                  <a:lnTo>
                    <a:pt x="517916" y="1157569"/>
                  </a:lnTo>
                  <a:lnTo>
                    <a:pt x="485864" y="1188051"/>
                  </a:lnTo>
                  <a:lnTo>
                    <a:pt x="454373" y="1215969"/>
                  </a:lnTo>
                  <a:lnTo>
                    <a:pt x="423496" y="1241373"/>
                  </a:lnTo>
                  <a:lnTo>
                    <a:pt x="363788" y="1284847"/>
                  </a:lnTo>
                  <a:lnTo>
                    <a:pt x="307150" y="1318885"/>
                  </a:lnTo>
                  <a:lnTo>
                    <a:pt x="253993" y="1343897"/>
                  </a:lnTo>
                  <a:lnTo>
                    <a:pt x="204728" y="1360294"/>
                  </a:lnTo>
                  <a:lnTo>
                    <a:pt x="159765" y="1368486"/>
                  </a:lnTo>
                  <a:lnTo>
                    <a:pt x="139026" y="1369634"/>
                  </a:lnTo>
                  <a:lnTo>
                    <a:pt x="119516" y="1368884"/>
                  </a:lnTo>
                  <a:lnTo>
                    <a:pt x="68878" y="1355767"/>
                  </a:lnTo>
                  <a:lnTo>
                    <a:pt x="31155" y="1327424"/>
                  </a:lnTo>
                  <a:lnTo>
                    <a:pt x="7733" y="1285242"/>
                  </a:lnTo>
                  <a:lnTo>
                    <a:pt x="0" y="1230607"/>
                  </a:lnTo>
                  <a:lnTo>
                    <a:pt x="1147" y="1209868"/>
                  </a:lnTo>
                  <a:lnTo>
                    <a:pt x="9339" y="1164905"/>
                  </a:lnTo>
                  <a:lnTo>
                    <a:pt x="25736" y="1115640"/>
                  </a:lnTo>
                  <a:lnTo>
                    <a:pt x="50748" y="1062483"/>
                  </a:lnTo>
                  <a:lnTo>
                    <a:pt x="84786" y="1005845"/>
                  </a:lnTo>
                  <a:lnTo>
                    <a:pt x="128260" y="946137"/>
                  </a:lnTo>
                  <a:lnTo>
                    <a:pt x="153665" y="915260"/>
                  </a:lnTo>
                  <a:lnTo>
                    <a:pt x="181582" y="883770"/>
                  </a:lnTo>
                  <a:lnTo>
                    <a:pt x="212064" y="851717"/>
                  </a:lnTo>
                  <a:lnTo>
                    <a:pt x="245162" y="819153"/>
                  </a:lnTo>
                  <a:lnTo>
                    <a:pt x="280928" y="786130"/>
                  </a:lnTo>
                  <a:lnTo>
                    <a:pt x="319411" y="752699"/>
                  </a:lnTo>
                  <a:lnTo>
                    <a:pt x="360665" y="718910"/>
                  </a:lnTo>
                  <a:lnTo>
                    <a:pt x="404740" y="684817"/>
                  </a:lnTo>
                  <a:lnTo>
                    <a:pt x="360665" y="650723"/>
                  </a:lnTo>
                  <a:lnTo>
                    <a:pt x="319411" y="616935"/>
                  </a:lnTo>
                  <a:lnTo>
                    <a:pt x="280928" y="583503"/>
                  </a:lnTo>
                  <a:lnTo>
                    <a:pt x="245162" y="550480"/>
                  </a:lnTo>
                  <a:lnTo>
                    <a:pt x="212064" y="517916"/>
                  </a:lnTo>
                  <a:lnTo>
                    <a:pt x="181582" y="485864"/>
                  </a:lnTo>
                  <a:lnTo>
                    <a:pt x="153665" y="454373"/>
                  </a:lnTo>
                  <a:lnTo>
                    <a:pt x="128260" y="423496"/>
                  </a:lnTo>
                  <a:lnTo>
                    <a:pt x="84786" y="363788"/>
                  </a:lnTo>
                  <a:lnTo>
                    <a:pt x="50748" y="307150"/>
                  </a:lnTo>
                  <a:lnTo>
                    <a:pt x="25736" y="253993"/>
                  </a:lnTo>
                  <a:lnTo>
                    <a:pt x="9339" y="204728"/>
                  </a:lnTo>
                  <a:lnTo>
                    <a:pt x="1147" y="159766"/>
                  </a:lnTo>
                  <a:lnTo>
                    <a:pt x="0" y="139026"/>
                  </a:lnTo>
                  <a:lnTo>
                    <a:pt x="749" y="119516"/>
                  </a:lnTo>
                  <a:lnTo>
                    <a:pt x="13866" y="68878"/>
                  </a:lnTo>
                  <a:lnTo>
                    <a:pt x="42209" y="31155"/>
                  </a:lnTo>
                  <a:lnTo>
                    <a:pt x="84391" y="7733"/>
                  </a:lnTo>
                  <a:lnTo>
                    <a:pt x="139026" y="0"/>
                  </a:lnTo>
                  <a:lnTo>
                    <a:pt x="159765" y="1147"/>
                  </a:lnTo>
                  <a:lnTo>
                    <a:pt x="204728" y="9339"/>
                  </a:lnTo>
                  <a:lnTo>
                    <a:pt x="253993" y="25736"/>
                  </a:lnTo>
                  <a:lnTo>
                    <a:pt x="307150" y="50748"/>
                  </a:lnTo>
                  <a:lnTo>
                    <a:pt x="363788" y="84786"/>
                  </a:lnTo>
                  <a:lnTo>
                    <a:pt x="423496" y="128260"/>
                  </a:lnTo>
                  <a:lnTo>
                    <a:pt x="454373" y="153665"/>
                  </a:lnTo>
                  <a:lnTo>
                    <a:pt x="485864" y="181582"/>
                  </a:lnTo>
                  <a:lnTo>
                    <a:pt x="517916" y="212064"/>
                  </a:lnTo>
                  <a:lnTo>
                    <a:pt x="550480" y="245162"/>
                  </a:lnTo>
                  <a:lnTo>
                    <a:pt x="583503" y="280927"/>
                  </a:lnTo>
                  <a:lnTo>
                    <a:pt x="616935" y="319411"/>
                  </a:lnTo>
                  <a:lnTo>
                    <a:pt x="650723" y="360665"/>
                  </a:lnTo>
                  <a:lnTo>
                    <a:pt x="684817" y="404740"/>
                  </a:lnTo>
                  <a:lnTo>
                    <a:pt x="718911" y="360665"/>
                  </a:lnTo>
                  <a:lnTo>
                    <a:pt x="752699" y="319411"/>
                  </a:lnTo>
                  <a:lnTo>
                    <a:pt x="786130" y="280927"/>
                  </a:lnTo>
                  <a:lnTo>
                    <a:pt x="819153" y="245162"/>
                  </a:lnTo>
                  <a:lnTo>
                    <a:pt x="851717" y="212064"/>
                  </a:lnTo>
                  <a:lnTo>
                    <a:pt x="883770" y="181582"/>
                  </a:lnTo>
                  <a:lnTo>
                    <a:pt x="915260" y="153665"/>
                  </a:lnTo>
                  <a:lnTo>
                    <a:pt x="946138" y="128260"/>
                  </a:lnTo>
                  <a:lnTo>
                    <a:pt x="1005846" y="84786"/>
                  </a:lnTo>
                  <a:lnTo>
                    <a:pt x="1062484" y="50748"/>
                  </a:lnTo>
                  <a:lnTo>
                    <a:pt x="1115640" y="25736"/>
                  </a:lnTo>
                  <a:lnTo>
                    <a:pt x="1164905" y="9339"/>
                  </a:lnTo>
                  <a:lnTo>
                    <a:pt x="1209868" y="1147"/>
                  </a:lnTo>
                  <a:lnTo>
                    <a:pt x="1230607" y="0"/>
                  </a:lnTo>
                  <a:lnTo>
                    <a:pt x="1250117" y="749"/>
                  </a:lnTo>
                  <a:lnTo>
                    <a:pt x="1300755" y="13866"/>
                  </a:lnTo>
                  <a:lnTo>
                    <a:pt x="1338478" y="42209"/>
                  </a:lnTo>
                  <a:lnTo>
                    <a:pt x="1361900" y="84391"/>
                  </a:lnTo>
                  <a:lnTo>
                    <a:pt x="1369634" y="139026"/>
                  </a:lnTo>
                  <a:lnTo>
                    <a:pt x="1368486" y="159766"/>
                  </a:lnTo>
                  <a:lnTo>
                    <a:pt x="1360294" y="204728"/>
                  </a:lnTo>
                  <a:lnTo>
                    <a:pt x="1343897" y="253993"/>
                  </a:lnTo>
                  <a:lnTo>
                    <a:pt x="1318885" y="307150"/>
                  </a:lnTo>
                  <a:lnTo>
                    <a:pt x="1284848" y="363788"/>
                  </a:lnTo>
                  <a:lnTo>
                    <a:pt x="1241373" y="423496"/>
                  </a:lnTo>
                  <a:lnTo>
                    <a:pt x="1215969" y="454373"/>
                  </a:lnTo>
                  <a:lnTo>
                    <a:pt x="1188051" y="485864"/>
                  </a:lnTo>
                  <a:lnTo>
                    <a:pt x="1157569" y="517916"/>
                  </a:lnTo>
                  <a:lnTo>
                    <a:pt x="1124471" y="550480"/>
                  </a:lnTo>
                  <a:lnTo>
                    <a:pt x="1088706" y="583503"/>
                  </a:lnTo>
                  <a:lnTo>
                    <a:pt x="1050222" y="616935"/>
                  </a:lnTo>
                  <a:lnTo>
                    <a:pt x="1008968" y="650723"/>
                  </a:lnTo>
                  <a:lnTo>
                    <a:pt x="964894" y="684817"/>
                  </a:lnTo>
                  <a:lnTo>
                    <a:pt x="1008968" y="718910"/>
                  </a:lnTo>
                  <a:lnTo>
                    <a:pt x="1050222" y="752699"/>
                  </a:lnTo>
                  <a:lnTo>
                    <a:pt x="1088706" y="786130"/>
                  </a:lnTo>
                  <a:lnTo>
                    <a:pt x="1124471" y="819153"/>
                  </a:lnTo>
                  <a:lnTo>
                    <a:pt x="1157569" y="851717"/>
                  </a:lnTo>
                  <a:lnTo>
                    <a:pt x="1188051" y="883770"/>
                  </a:lnTo>
                  <a:lnTo>
                    <a:pt x="1215969" y="915260"/>
                  </a:lnTo>
                  <a:lnTo>
                    <a:pt x="1241373" y="946137"/>
                  </a:lnTo>
                  <a:lnTo>
                    <a:pt x="1284848" y="1005845"/>
                  </a:lnTo>
                  <a:lnTo>
                    <a:pt x="1318885" y="1062483"/>
                  </a:lnTo>
                  <a:lnTo>
                    <a:pt x="1343897" y="1115640"/>
                  </a:lnTo>
                  <a:lnTo>
                    <a:pt x="1360294" y="1164905"/>
                  </a:lnTo>
                  <a:lnTo>
                    <a:pt x="1368486" y="1209868"/>
                  </a:lnTo>
                  <a:lnTo>
                    <a:pt x="1369634" y="1230607"/>
                  </a:lnTo>
                  <a:lnTo>
                    <a:pt x="1368885" y="1250117"/>
                  </a:lnTo>
                  <a:lnTo>
                    <a:pt x="1355767" y="1300755"/>
                  </a:lnTo>
                  <a:lnTo>
                    <a:pt x="1327425" y="1338478"/>
                  </a:lnTo>
                  <a:lnTo>
                    <a:pt x="1285243" y="1361900"/>
                  </a:lnTo>
                  <a:lnTo>
                    <a:pt x="1250117" y="1368884"/>
                  </a:lnTo>
                  <a:lnTo>
                    <a:pt x="1230607" y="1369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080371" y="225488"/>
            <a:ext cx="507873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40"/>
              <a:t>E</a:t>
            </a:r>
            <a:r>
              <a:rPr dirty="0" spc="-375"/>
              <a:t>D</a:t>
            </a:r>
            <a:r>
              <a:rPr dirty="0" spc="150"/>
              <a:t>A</a:t>
            </a:r>
            <a:r>
              <a:rPr dirty="0" spc="-610"/>
              <a:t> </a:t>
            </a:r>
            <a:r>
              <a:rPr dirty="0" spc="-370"/>
              <a:t>&amp;</a:t>
            </a:r>
            <a:r>
              <a:rPr dirty="0" spc="-605"/>
              <a:t> </a:t>
            </a:r>
            <a:r>
              <a:rPr dirty="0" spc="-465"/>
              <a:t>K</a:t>
            </a:r>
            <a:r>
              <a:rPr dirty="0" spc="-370"/>
              <a:t>e</a:t>
            </a:r>
            <a:r>
              <a:rPr dirty="0" spc="70"/>
              <a:t>y</a:t>
            </a:r>
            <a:r>
              <a:rPr dirty="0" spc="-605"/>
              <a:t> </a:t>
            </a:r>
            <a:r>
              <a:rPr dirty="0" spc="-295"/>
              <a:t>Findings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2821481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3812082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4802681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6712762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7208062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7703362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8198662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8693962"/>
            <a:ext cx="114300" cy="114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16000" y="1937769"/>
            <a:ext cx="11349355" cy="750697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3300" spc="-125" b="1">
                <a:latin typeface="Cambria"/>
                <a:cs typeface="Cambria"/>
              </a:rPr>
              <a:t>Exploratory</a:t>
            </a:r>
            <a:r>
              <a:rPr dirty="0" sz="3300" spc="-145" b="1">
                <a:latin typeface="Cambria"/>
                <a:cs typeface="Cambria"/>
              </a:rPr>
              <a:t> </a:t>
            </a:r>
            <a:r>
              <a:rPr dirty="0" sz="3300" spc="-85" b="1">
                <a:latin typeface="Cambria"/>
                <a:cs typeface="Cambria"/>
              </a:rPr>
              <a:t>Data</a:t>
            </a:r>
            <a:r>
              <a:rPr dirty="0" sz="3300" spc="-140" b="1">
                <a:latin typeface="Cambria"/>
                <a:cs typeface="Cambria"/>
              </a:rPr>
              <a:t> </a:t>
            </a:r>
            <a:r>
              <a:rPr dirty="0" sz="3300" spc="-10" b="1">
                <a:latin typeface="Cambria"/>
                <a:cs typeface="Cambria"/>
              </a:rPr>
              <a:t>Analysis</a:t>
            </a:r>
            <a:endParaRPr sz="3300">
              <a:latin typeface="Cambria"/>
              <a:cs typeface="Cambria"/>
            </a:endParaRPr>
          </a:p>
          <a:p>
            <a:pPr marL="616585" marR="2774950">
              <a:lnSpc>
                <a:spcPct val="116100"/>
              </a:lnSpc>
              <a:spcBef>
                <a:spcPts val="125"/>
              </a:spcBef>
            </a:pPr>
            <a:r>
              <a:rPr dirty="0" sz="2800" spc="-95">
                <a:latin typeface="Georgia"/>
                <a:cs typeface="Georgia"/>
              </a:rPr>
              <a:t>Analyzed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course,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0">
                <a:latin typeface="Georgia"/>
                <a:cs typeface="Georgia"/>
              </a:rPr>
              <a:t>teacher,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90">
                <a:latin typeface="Georgia"/>
                <a:cs typeface="Georgia"/>
              </a:rPr>
              <a:t>enrollment,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35">
                <a:latin typeface="Georgia"/>
                <a:cs typeface="Georgia"/>
              </a:rPr>
              <a:t>transaction </a:t>
            </a:r>
            <a:r>
              <a:rPr dirty="0" sz="2800" spc="-10">
                <a:latin typeface="Georgia"/>
                <a:cs typeface="Georgia"/>
              </a:rPr>
              <a:t>patterns.</a:t>
            </a:r>
            <a:endParaRPr sz="2800">
              <a:latin typeface="Georgia"/>
              <a:cs typeface="Georgia"/>
            </a:endParaRPr>
          </a:p>
          <a:p>
            <a:pPr marL="616585" marR="2743835">
              <a:lnSpc>
                <a:spcPct val="116100"/>
              </a:lnSpc>
            </a:pPr>
            <a:r>
              <a:rPr dirty="0" sz="2800" spc="-110">
                <a:latin typeface="Georgia"/>
                <a:cs typeface="Georgia"/>
              </a:rPr>
              <a:t>Examined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price,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105">
                <a:latin typeface="Georgia"/>
                <a:cs typeface="Georgia"/>
              </a:rPr>
              <a:t>duration,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100">
                <a:latin typeface="Georgia"/>
                <a:cs typeface="Georgia"/>
              </a:rPr>
              <a:t>rating,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60">
                <a:latin typeface="Georgia"/>
                <a:cs typeface="Georgia"/>
              </a:rPr>
              <a:t>category,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and </a:t>
            </a:r>
            <a:r>
              <a:rPr dirty="0" sz="2800" spc="-65">
                <a:latin typeface="Georgia"/>
                <a:cs typeface="Georgia"/>
              </a:rPr>
              <a:t>instructor</a:t>
            </a:r>
            <a:r>
              <a:rPr dirty="0" sz="2800" spc="-14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characteristics.</a:t>
            </a:r>
            <a:endParaRPr sz="2800">
              <a:latin typeface="Georgia"/>
              <a:cs typeface="Georgia"/>
            </a:endParaRPr>
          </a:p>
          <a:p>
            <a:pPr marL="616585" marR="3112135">
              <a:lnSpc>
                <a:spcPct val="116100"/>
              </a:lnSpc>
            </a:pPr>
            <a:r>
              <a:rPr dirty="0" sz="2800" spc="-85">
                <a:latin typeface="Georgia"/>
                <a:cs typeface="Georgia"/>
              </a:rPr>
              <a:t>Studied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enrollment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revenue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95">
                <a:latin typeface="Georgia"/>
                <a:cs typeface="Georgia"/>
              </a:rPr>
              <a:t>distribution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across </a:t>
            </a:r>
            <a:r>
              <a:rPr dirty="0" sz="2800" spc="-30">
                <a:latin typeface="Georgia"/>
                <a:cs typeface="Georgia"/>
              </a:rPr>
              <a:t>courses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categories.</a:t>
            </a:r>
            <a:endParaRPr sz="2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155"/>
              </a:spcBef>
            </a:pPr>
            <a:r>
              <a:rPr dirty="0" sz="3300" spc="-105" b="1">
                <a:latin typeface="Cambria"/>
                <a:cs typeface="Cambria"/>
              </a:rPr>
              <a:t>Key</a:t>
            </a:r>
            <a:r>
              <a:rPr dirty="0" sz="3300" spc="-180" b="1">
                <a:latin typeface="Cambria"/>
                <a:cs typeface="Cambria"/>
              </a:rPr>
              <a:t> </a:t>
            </a:r>
            <a:r>
              <a:rPr dirty="0" sz="3300" spc="-10" b="1">
                <a:latin typeface="Cambria"/>
                <a:cs typeface="Cambria"/>
              </a:rPr>
              <a:t>Findings</a:t>
            </a:r>
            <a:endParaRPr sz="3300">
              <a:latin typeface="Cambria"/>
              <a:cs typeface="Cambria"/>
            </a:endParaRPr>
          </a:p>
          <a:p>
            <a:pPr marL="616585">
              <a:lnSpc>
                <a:spcPct val="100000"/>
              </a:lnSpc>
              <a:spcBef>
                <a:spcPts val="665"/>
              </a:spcBef>
            </a:pPr>
            <a:r>
              <a:rPr dirty="0" sz="2800" spc="-175">
                <a:latin typeface="Georgia"/>
                <a:cs typeface="Georgia"/>
              </a:rPr>
              <a:t>10,000 </a:t>
            </a:r>
            <a:r>
              <a:rPr dirty="0" sz="2800" spc="-75">
                <a:latin typeface="Georgia"/>
                <a:cs typeface="Georgia"/>
              </a:rPr>
              <a:t>transactions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were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analyzed.</a:t>
            </a:r>
            <a:endParaRPr sz="2800">
              <a:latin typeface="Georgia"/>
              <a:cs typeface="Georgia"/>
            </a:endParaRPr>
          </a:p>
          <a:p>
            <a:pPr marL="616585" marR="2917190">
              <a:lnSpc>
                <a:spcPct val="116100"/>
              </a:lnSpc>
            </a:pPr>
            <a:r>
              <a:rPr dirty="0" sz="2800" spc="-135">
                <a:latin typeface="Georgia"/>
                <a:cs typeface="Georgia"/>
              </a:rPr>
              <a:t>64.03%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of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transactions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had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zero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transaction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35">
                <a:latin typeface="Georgia"/>
                <a:cs typeface="Georgia"/>
              </a:rPr>
              <a:t>amount. </a:t>
            </a:r>
            <a:r>
              <a:rPr dirty="0" sz="2800" spc="-85">
                <a:latin typeface="Georgia"/>
                <a:cs typeface="Georgia"/>
              </a:rPr>
              <a:t>Transaction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amount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ranged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from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0">
                <a:latin typeface="Microsoft Sans Serif"/>
                <a:cs typeface="Microsoft Sans Serif"/>
              </a:rPr>
              <a:t>₹</a:t>
            </a:r>
            <a:r>
              <a:rPr dirty="0" sz="2800" spc="-60">
                <a:latin typeface="Georgia"/>
                <a:cs typeface="Georgia"/>
              </a:rPr>
              <a:t>0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Microsoft Sans Serif"/>
                <a:cs typeface="Microsoft Sans Serif"/>
              </a:rPr>
              <a:t>₹</a:t>
            </a:r>
            <a:r>
              <a:rPr dirty="0" sz="2800" spc="-10">
                <a:latin typeface="Georgia"/>
                <a:cs typeface="Georgia"/>
              </a:rPr>
              <a:t>490.90.</a:t>
            </a:r>
            <a:endParaRPr sz="2800">
              <a:latin typeface="Georgia"/>
              <a:cs typeface="Georgia"/>
            </a:endParaRPr>
          </a:p>
          <a:p>
            <a:pPr marL="616585" marR="5080">
              <a:lnSpc>
                <a:spcPct val="116100"/>
              </a:lnSpc>
            </a:pPr>
            <a:r>
              <a:rPr dirty="0" sz="2800" spc="-30">
                <a:latin typeface="Georgia"/>
                <a:cs typeface="Georgia"/>
              </a:rPr>
              <a:t>Course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enrollment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revenue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95">
                <a:latin typeface="Georgia"/>
                <a:cs typeface="Georgia"/>
              </a:rPr>
              <a:t>varied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95">
                <a:latin typeface="Georgia"/>
                <a:cs typeface="Georgia"/>
              </a:rPr>
              <a:t>significantly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across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courses. </a:t>
            </a:r>
            <a:r>
              <a:rPr dirty="0" sz="2800" spc="-55">
                <a:latin typeface="Georgia"/>
                <a:cs typeface="Georgia"/>
              </a:rPr>
              <a:t>Teacher</a:t>
            </a:r>
            <a:r>
              <a:rPr dirty="0" sz="2800" spc="-16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transaction</a:t>
            </a:r>
            <a:r>
              <a:rPr dirty="0" sz="2800" spc="-160">
                <a:latin typeface="Georgia"/>
                <a:cs typeface="Georgia"/>
              </a:rPr>
              <a:t> </a:t>
            </a:r>
            <a:r>
              <a:rPr dirty="0" sz="2800" spc="-95">
                <a:latin typeface="Georgia"/>
                <a:cs typeface="Georgia"/>
              </a:rPr>
              <a:t>distribution</a:t>
            </a:r>
            <a:r>
              <a:rPr dirty="0" sz="2800" spc="-160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showed</a:t>
            </a:r>
            <a:r>
              <a:rPr dirty="0" sz="2800" spc="-165">
                <a:latin typeface="Georgia"/>
                <a:cs typeface="Georgia"/>
              </a:rPr>
              <a:t> </a:t>
            </a:r>
            <a:r>
              <a:rPr dirty="0" sz="2800" spc="-60">
                <a:latin typeface="Georgia"/>
                <a:cs typeface="Georgia"/>
              </a:rPr>
              <a:t>noticeable</a:t>
            </a:r>
            <a:r>
              <a:rPr dirty="0" sz="2800" spc="-160">
                <a:latin typeface="Georgia"/>
                <a:cs typeface="Georgia"/>
              </a:rPr>
              <a:t> </a:t>
            </a:r>
            <a:r>
              <a:rPr dirty="0" sz="2800" spc="-60">
                <a:latin typeface="Georgia"/>
                <a:cs typeface="Georgia"/>
              </a:rPr>
              <a:t>differences</a:t>
            </a:r>
            <a:r>
              <a:rPr dirty="0" sz="2800" spc="-16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between instructors.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43869"/>
            <a:ext cx="18288000" cy="1369695"/>
            <a:chOff x="0" y="343869"/>
            <a:chExt cx="18288000" cy="1369695"/>
          </a:xfrm>
        </p:grpSpPr>
        <p:sp>
          <p:nvSpPr>
            <p:cNvPr id="3" name="object 3"/>
            <p:cNvSpPr/>
            <p:nvPr/>
          </p:nvSpPr>
          <p:spPr>
            <a:xfrm>
              <a:off x="0" y="1515399"/>
              <a:ext cx="18288000" cy="38100"/>
            </a:xfrm>
            <a:custGeom>
              <a:avLst/>
              <a:gdLst/>
              <a:ahLst/>
              <a:cxnLst/>
              <a:rect l="l" t="t" r="r" b="b"/>
              <a:pathLst>
                <a:path w="18288000" h="38100">
                  <a:moveTo>
                    <a:pt x="0" y="38099"/>
                  </a:moveTo>
                  <a:lnTo>
                    <a:pt x="0" y="0"/>
                  </a:lnTo>
                  <a:lnTo>
                    <a:pt x="18287999" y="0"/>
                  </a:lnTo>
                  <a:lnTo>
                    <a:pt x="18287999" y="38099"/>
                  </a:lnTo>
                  <a:lnTo>
                    <a:pt x="0" y="38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574468" y="343869"/>
              <a:ext cx="1369695" cy="1369695"/>
            </a:xfrm>
            <a:custGeom>
              <a:avLst/>
              <a:gdLst/>
              <a:ahLst/>
              <a:cxnLst/>
              <a:rect l="l" t="t" r="r" b="b"/>
              <a:pathLst>
                <a:path w="1369694" h="1369695">
                  <a:moveTo>
                    <a:pt x="1230607" y="1369634"/>
                  </a:moveTo>
                  <a:lnTo>
                    <a:pt x="1187950" y="1365390"/>
                  </a:lnTo>
                  <a:lnTo>
                    <a:pt x="1140785" y="1353147"/>
                  </a:lnTo>
                  <a:lnTo>
                    <a:pt x="1089523" y="1332494"/>
                  </a:lnTo>
                  <a:lnTo>
                    <a:pt x="1034574" y="1303020"/>
                  </a:lnTo>
                  <a:lnTo>
                    <a:pt x="976350" y="1264315"/>
                  </a:lnTo>
                  <a:lnTo>
                    <a:pt x="915260" y="1215969"/>
                  </a:lnTo>
                  <a:lnTo>
                    <a:pt x="883770" y="1188051"/>
                  </a:lnTo>
                  <a:lnTo>
                    <a:pt x="851717" y="1157569"/>
                  </a:lnTo>
                  <a:lnTo>
                    <a:pt x="819153" y="1124471"/>
                  </a:lnTo>
                  <a:lnTo>
                    <a:pt x="786130" y="1088706"/>
                  </a:lnTo>
                  <a:lnTo>
                    <a:pt x="752699" y="1050222"/>
                  </a:lnTo>
                  <a:lnTo>
                    <a:pt x="718911" y="1008968"/>
                  </a:lnTo>
                  <a:lnTo>
                    <a:pt x="684817" y="964893"/>
                  </a:lnTo>
                  <a:lnTo>
                    <a:pt x="650723" y="1008968"/>
                  </a:lnTo>
                  <a:lnTo>
                    <a:pt x="616935" y="1050222"/>
                  </a:lnTo>
                  <a:lnTo>
                    <a:pt x="583503" y="1088706"/>
                  </a:lnTo>
                  <a:lnTo>
                    <a:pt x="550480" y="1124471"/>
                  </a:lnTo>
                  <a:lnTo>
                    <a:pt x="517916" y="1157569"/>
                  </a:lnTo>
                  <a:lnTo>
                    <a:pt x="485864" y="1188051"/>
                  </a:lnTo>
                  <a:lnTo>
                    <a:pt x="454373" y="1215969"/>
                  </a:lnTo>
                  <a:lnTo>
                    <a:pt x="423496" y="1241373"/>
                  </a:lnTo>
                  <a:lnTo>
                    <a:pt x="363788" y="1284847"/>
                  </a:lnTo>
                  <a:lnTo>
                    <a:pt x="307150" y="1318885"/>
                  </a:lnTo>
                  <a:lnTo>
                    <a:pt x="253993" y="1343897"/>
                  </a:lnTo>
                  <a:lnTo>
                    <a:pt x="204728" y="1360294"/>
                  </a:lnTo>
                  <a:lnTo>
                    <a:pt x="159765" y="1368486"/>
                  </a:lnTo>
                  <a:lnTo>
                    <a:pt x="139026" y="1369634"/>
                  </a:lnTo>
                  <a:lnTo>
                    <a:pt x="119516" y="1368884"/>
                  </a:lnTo>
                  <a:lnTo>
                    <a:pt x="68878" y="1355767"/>
                  </a:lnTo>
                  <a:lnTo>
                    <a:pt x="31155" y="1327424"/>
                  </a:lnTo>
                  <a:lnTo>
                    <a:pt x="7733" y="1285242"/>
                  </a:lnTo>
                  <a:lnTo>
                    <a:pt x="0" y="1230607"/>
                  </a:lnTo>
                  <a:lnTo>
                    <a:pt x="1147" y="1209868"/>
                  </a:lnTo>
                  <a:lnTo>
                    <a:pt x="9339" y="1164905"/>
                  </a:lnTo>
                  <a:lnTo>
                    <a:pt x="25736" y="1115640"/>
                  </a:lnTo>
                  <a:lnTo>
                    <a:pt x="50748" y="1062483"/>
                  </a:lnTo>
                  <a:lnTo>
                    <a:pt x="84786" y="1005845"/>
                  </a:lnTo>
                  <a:lnTo>
                    <a:pt x="128260" y="946137"/>
                  </a:lnTo>
                  <a:lnTo>
                    <a:pt x="153665" y="915260"/>
                  </a:lnTo>
                  <a:lnTo>
                    <a:pt x="181582" y="883770"/>
                  </a:lnTo>
                  <a:lnTo>
                    <a:pt x="212064" y="851717"/>
                  </a:lnTo>
                  <a:lnTo>
                    <a:pt x="245162" y="819153"/>
                  </a:lnTo>
                  <a:lnTo>
                    <a:pt x="280928" y="786130"/>
                  </a:lnTo>
                  <a:lnTo>
                    <a:pt x="319411" y="752699"/>
                  </a:lnTo>
                  <a:lnTo>
                    <a:pt x="360665" y="718910"/>
                  </a:lnTo>
                  <a:lnTo>
                    <a:pt x="404740" y="684817"/>
                  </a:lnTo>
                  <a:lnTo>
                    <a:pt x="360665" y="650723"/>
                  </a:lnTo>
                  <a:lnTo>
                    <a:pt x="319411" y="616935"/>
                  </a:lnTo>
                  <a:lnTo>
                    <a:pt x="280928" y="583503"/>
                  </a:lnTo>
                  <a:lnTo>
                    <a:pt x="245162" y="550480"/>
                  </a:lnTo>
                  <a:lnTo>
                    <a:pt x="212064" y="517916"/>
                  </a:lnTo>
                  <a:lnTo>
                    <a:pt x="181582" y="485864"/>
                  </a:lnTo>
                  <a:lnTo>
                    <a:pt x="153665" y="454373"/>
                  </a:lnTo>
                  <a:lnTo>
                    <a:pt x="128260" y="423496"/>
                  </a:lnTo>
                  <a:lnTo>
                    <a:pt x="84786" y="363788"/>
                  </a:lnTo>
                  <a:lnTo>
                    <a:pt x="50748" y="307150"/>
                  </a:lnTo>
                  <a:lnTo>
                    <a:pt x="25736" y="253993"/>
                  </a:lnTo>
                  <a:lnTo>
                    <a:pt x="9339" y="204728"/>
                  </a:lnTo>
                  <a:lnTo>
                    <a:pt x="1147" y="159766"/>
                  </a:lnTo>
                  <a:lnTo>
                    <a:pt x="0" y="139026"/>
                  </a:lnTo>
                  <a:lnTo>
                    <a:pt x="749" y="119516"/>
                  </a:lnTo>
                  <a:lnTo>
                    <a:pt x="13866" y="68878"/>
                  </a:lnTo>
                  <a:lnTo>
                    <a:pt x="42209" y="31155"/>
                  </a:lnTo>
                  <a:lnTo>
                    <a:pt x="84391" y="7733"/>
                  </a:lnTo>
                  <a:lnTo>
                    <a:pt x="139026" y="0"/>
                  </a:lnTo>
                  <a:lnTo>
                    <a:pt x="159765" y="1147"/>
                  </a:lnTo>
                  <a:lnTo>
                    <a:pt x="204728" y="9339"/>
                  </a:lnTo>
                  <a:lnTo>
                    <a:pt x="253993" y="25736"/>
                  </a:lnTo>
                  <a:lnTo>
                    <a:pt x="307150" y="50748"/>
                  </a:lnTo>
                  <a:lnTo>
                    <a:pt x="363788" y="84786"/>
                  </a:lnTo>
                  <a:lnTo>
                    <a:pt x="423496" y="128260"/>
                  </a:lnTo>
                  <a:lnTo>
                    <a:pt x="454373" y="153665"/>
                  </a:lnTo>
                  <a:lnTo>
                    <a:pt x="485864" y="181582"/>
                  </a:lnTo>
                  <a:lnTo>
                    <a:pt x="517916" y="212064"/>
                  </a:lnTo>
                  <a:lnTo>
                    <a:pt x="550480" y="245162"/>
                  </a:lnTo>
                  <a:lnTo>
                    <a:pt x="583503" y="280927"/>
                  </a:lnTo>
                  <a:lnTo>
                    <a:pt x="616935" y="319411"/>
                  </a:lnTo>
                  <a:lnTo>
                    <a:pt x="650723" y="360665"/>
                  </a:lnTo>
                  <a:lnTo>
                    <a:pt x="684817" y="404740"/>
                  </a:lnTo>
                  <a:lnTo>
                    <a:pt x="718911" y="360665"/>
                  </a:lnTo>
                  <a:lnTo>
                    <a:pt x="752699" y="319411"/>
                  </a:lnTo>
                  <a:lnTo>
                    <a:pt x="786130" y="280927"/>
                  </a:lnTo>
                  <a:lnTo>
                    <a:pt x="819153" y="245162"/>
                  </a:lnTo>
                  <a:lnTo>
                    <a:pt x="851717" y="212064"/>
                  </a:lnTo>
                  <a:lnTo>
                    <a:pt x="883770" y="181582"/>
                  </a:lnTo>
                  <a:lnTo>
                    <a:pt x="915260" y="153665"/>
                  </a:lnTo>
                  <a:lnTo>
                    <a:pt x="946138" y="128260"/>
                  </a:lnTo>
                  <a:lnTo>
                    <a:pt x="1005846" y="84786"/>
                  </a:lnTo>
                  <a:lnTo>
                    <a:pt x="1062484" y="50748"/>
                  </a:lnTo>
                  <a:lnTo>
                    <a:pt x="1115640" y="25736"/>
                  </a:lnTo>
                  <a:lnTo>
                    <a:pt x="1164905" y="9339"/>
                  </a:lnTo>
                  <a:lnTo>
                    <a:pt x="1209868" y="1147"/>
                  </a:lnTo>
                  <a:lnTo>
                    <a:pt x="1230607" y="0"/>
                  </a:lnTo>
                  <a:lnTo>
                    <a:pt x="1250117" y="749"/>
                  </a:lnTo>
                  <a:lnTo>
                    <a:pt x="1300755" y="13866"/>
                  </a:lnTo>
                  <a:lnTo>
                    <a:pt x="1338478" y="42209"/>
                  </a:lnTo>
                  <a:lnTo>
                    <a:pt x="1361900" y="84391"/>
                  </a:lnTo>
                  <a:lnTo>
                    <a:pt x="1369634" y="139026"/>
                  </a:lnTo>
                  <a:lnTo>
                    <a:pt x="1368486" y="159766"/>
                  </a:lnTo>
                  <a:lnTo>
                    <a:pt x="1360294" y="204728"/>
                  </a:lnTo>
                  <a:lnTo>
                    <a:pt x="1343897" y="253993"/>
                  </a:lnTo>
                  <a:lnTo>
                    <a:pt x="1318885" y="307150"/>
                  </a:lnTo>
                  <a:lnTo>
                    <a:pt x="1284848" y="363788"/>
                  </a:lnTo>
                  <a:lnTo>
                    <a:pt x="1241373" y="423496"/>
                  </a:lnTo>
                  <a:lnTo>
                    <a:pt x="1215969" y="454373"/>
                  </a:lnTo>
                  <a:lnTo>
                    <a:pt x="1188051" y="485864"/>
                  </a:lnTo>
                  <a:lnTo>
                    <a:pt x="1157569" y="517916"/>
                  </a:lnTo>
                  <a:lnTo>
                    <a:pt x="1124471" y="550480"/>
                  </a:lnTo>
                  <a:lnTo>
                    <a:pt x="1088706" y="583503"/>
                  </a:lnTo>
                  <a:lnTo>
                    <a:pt x="1050222" y="616935"/>
                  </a:lnTo>
                  <a:lnTo>
                    <a:pt x="1008968" y="650723"/>
                  </a:lnTo>
                  <a:lnTo>
                    <a:pt x="964894" y="684817"/>
                  </a:lnTo>
                  <a:lnTo>
                    <a:pt x="1008968" y="718910"/>
                  </a:lnTo>
                  <a:lnTo>
                    <a:pt x="1050222" y="752699"/>
                  </a:lnTo>
                  <a:lnTo>
                    <a:pt x="1088706" y="786130"/>
                  </a:lnTo>
                  <a:lnTo>
                    <a:pt x="1124471" y="819153"/>
                  </a:lnTo>
                  <a:lnTo>
                    <a:pt x="1157569" y="851717"/>
                  </a:lnTo>
                  <a:lnTo>
                    <a:pt x="1188051" y="883770"/>
                  </a:lnTo>
                  <a:lnTo>
                    <a:pt x="1215969" y="915260"/>
                  </a:lnTo>
                  <a:lnTo>
                    <a:pt x="1241373" y="946137"/>
                  </a:lnTo>
                  <a:lnTo>
                    <a:pt x="1284848" y="1005845"/>
                  </a:lnTo>
                  <a:lnTo>
                    <a:pt x="1318885" y="1062483"/>
                  </a:lnTo>
                  <a:lnTo>
                    <a:pt x="1343897" y="1115640"/>
                  </a:lnTo>
                  <a:lnTo>
                    <a:pt x="1360294" y="1164905"/>
                  </a:lnTo>
                  <a:lnTo>
                    <a:pt x="1368486" y="1209868"/>
                  </a:lnTo>
                  <a:lnTo>
                    <a:pt x="1369634" y="1230607"/>
                  </a:lnTo>
                  <a:lnTo>
                    <a:pt x="1368885" y="1250117"/>
                  </a:lnTo>
                  <a:lnTo>
                    <a:pt x="1355767" y="1300755"/>
                  </a:lnTo>
                  <a:lnTo>
                    <a:pt x="1327425" y="1338478"/>
                  </a:lnTo>
                  <a:lnTo>
                    <a:pt x="1285243" y="1361900"/>
                  </a:lnTo>
                  <a:lnTo>
                    <a:pt x="1250117" y="1368884"/>
                  </a:lnTo>
                  <a:lnTo>
                    <a:pt x="1230607" y="1369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658122" y="131162"/>
            <a:ext cx="6972300" cy="1387475"/>
          </a:xfrm>
          <a:prstGeom prst="rect"/>
        </p:spPr>
        <p:txBody>
          <a:bodyPr wrap="square" lIns="0" tIns="173990" rIns="0" bIns="0" rtlCol="0" vert="horz">
            <a:spAutoFit/>
          </a:bodyPr>
          <a:lstStyle/>
          <a:p>
            <a:pPr marL="2116455" marR="5080" indent="-2104390">
              <a:lnSpc>
                <a:spcPct val="78800"/>
              </a:lnSpc>
              <a:spcBef>
                <a:spcPts val="1370"/>
              </a:spcBef>
            </a:pPr>
            <a:r>
              <a:rPr dirty="0" spc="-215"/>
              <a:t>Machine</a:t>
            </a:r>
            <a:r>
              <a:rPr dirty="0" spc="-600"/>
              <a:t> </a:t>
            </a:r>
            <a:r>
              <a:rPr dirty="0" spc="-270"/>
              <a:t>Learning</a:t>
            </a:r>
            <a:r>
              <a:rPr dirty="0" spc="-600"/>
              <a:t> </a:t>
            </a:r>
            <a:r>
              <a:rPr dirty="0" spc="-370"/>
              <a:t>&amp;</a:t>
            </a:r>
            <a:r>
              <a:rPr dirty="0" spc="-600"/>
              <a:t> </a:t>
            </a:r>
            <a:r>
              <a:rPr dirty="0" spc="-170"/>
              <a:t>Model </a:t>
            </a:r>
            <a:r>
              <a:rPr dirty="0" spc="-340"/>
              <a:t>Evaluation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3316781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3812082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499" y="4307381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236" y="5882640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236" y="6377940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236" y="7368540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236" y="7863840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236" y="8359140"/>
            <a:ext cx="114300" cy="114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16000" y="1937769"/>
            <a:ext cx="11781155" cy="717232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3300" spc="-120" b="1">
                <a:latin typeface="Cambria"/>
                <a:cs typeface="Cambria"/>
              </a:rPr>
              <a:t>Predictive</a:t>
            </a:r>
            <a:r>
              <a:rPr dirty="0" sz="3300" spc="-114" b="1">
                <a:latin typeface="Cambria"/>
                <a:cs typeface="Cambria"/>
              </a:rPr>
              <a:t> </a:t>
            </a:r>
            <a:r>
              <a:rPr dirty="0" sz="3300" spc="-10" b="1">
                <a:latin typeface="Cambria"/>
                <a:cs typeface="Cambria"/>
              </a:rPr>
              <a:t>Targets</a:t>
            </a:r>
            <a:endParaRPr sz="3300">
              <a:latin typeface="Cambria"/>
              <a:cs typeface="Cambria"/>
            </a:endParaRPr>
          </a:p>
          <a:p>
            <a:pPr marL="616585" marR="1450975" indent="-604520">
              <a:lnSpc>
                <a:spcPct val="116100"/>
              </a:lnSpc>
              <a:spcBef>
                <a:spcPts val="125"/>
              </a:spcBef>
            </a:pPr>
            <a:r>
              <a:rPr dirty="0" sz="2800" spc="-20">
                <a:latin typeface="Georgia"/>
                <a:cs typeface="Georgia"/>
              </a:rPr>
              <a:t>The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project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35">
                <a:latin typeface="Georgia"/>
                <a:cs typeface="Georgia"/>
              </a:rPr>
              <a:t>focuses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on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predicting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three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business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outcomes: </a:t>
            </a:r>
            <a:r>
              <a:rPr dirty="0" sz="2800" spc="-105">
                <a:latin typeface="Georgia"/>
                <a:cs typeface="Georgia"/>
              </a:rPr>
              <a:t>Enrollment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85">
                <a:latin typeface="Georgia"/>
                <a:cs typeface="Georgia"/>
              </a:rPr>
              <a:t>Count: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Expected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number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of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enrollments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for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a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course. </a:t>
            </a:r>
            <a:r>
              <a:rPr dirty="0" sz="2800" spc="-30">
                <a:latin typeface="Georgia"/>
                <a:cs typeface="Georgia"/>
              </a:rPr>
              <a:t>Course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20">
                <a:latin typeface="Georgia"/>
                <a:cs typeface="Georgia"/>
              </a:rPr>
              <a:t>Revenue: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0">
                <a:latin typeface="Georgia"/>
                <a:cs typeface="Georgia"/>
              </a:rPr>
              <a:t>Total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revenue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generated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by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an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35">
                <a:latin typeface="Georgia"/>
                <a:cs typeface="Georgia"/>
              </a:rPr>
              <a:t>individual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course.</a:t>
            </a:r>
            <a:endParaRPr sz="2800">
              <a:latin typeface="Georgia"/>
              <a:cs typeface="Georgia"/>
            </a:endParaRPr>
          </a:p>
          <a:p>
            <a:pPr marL="616585">
              <a:lnSpc>
                <a:spcPct val="100000"/>
              </a:lnSpc>
              <a:spcBef>
                <a:spcPts val="540"/>
              </a:spcBef>
            </a:pPr>
            <a:r>
              <a:rPr dirty="0" sz="2800" spc="-30">
                <a:latin typeface="Georgia"/>
                <a:cs typeface="Georgia"/>
              </a:rPr>
              <a:t>Category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120">
                <a:latin typeface="Georgia"/>
                <a:cs typeface="Georgia"/>
              </a:rPr>
              <a:t>Revenue: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Aggregated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revenue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generated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by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each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category.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2800">
              <a:latin typeface="Georgia"/>
              <a:cs typeface="Georgia"/>
            </a:endParaRPr>
          </a:p>
          <a:p>
            <a:pPr marL="145415">
              <a:lnSpc>
                <a:spcPct val="100000"/>
              </a:lnSpc>
              <a:spcBef>
                <a:spcPts val="5"/>
              </a:spcBef>
            </a:pPr>
            <a:r>
              <a:rPr dirty="0" sz="3300" spc="-80" b="1">
                <a:latin typeface="Cambria"/>
                <a:cs typeface="Cambria"/>
              </a:rPr>
              <a:t>Model</a:t>
            </a:r>
            <a:r>
              <a:rPr dirty="0" sz="3300" spc="-175" b="1">
                <a:latin typeface="Cambria"/>
                <a:cs typeface="Cambria"/>
              </a:rPr>
              <a:t> </a:t>
            </a:r>
            <a:r>
              <a:rPr dirty="0" sz="3300" spc="-20" b="1">
                <a:latin typeface="Cambria"/>
                <a:cs typeface="Cambria"/>
              </a:rPr>
              <a:t>Development</a:t>
            </a:r>
            <a:endParaRPr sz="3300">
              <a:latin typeface="Cambria"/>
              <a:cs typeface="Cambria"/>
            </a:endParaRPr>
          </a:p>
          <a:p>
            <a:pPr marL="749300" marR="2664460">
              <a:lnSpc>
                <a:spcPct val="116100"/>
              </a:lnSpc>
              <a:spcBef>
                <a:spcPts val="120"/>
              </a:spcBef>
            </a:pPr>
            <a:r>
              <a:rPr dirty="0" sz="2800" spc="-105">
                <a:latin typeface="Georgia"/>
                <a:cs typeface="Georgia"/>
              </a:rPr>
              <a:t>Linear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90">
                <a:latin typeface="Georgia"/>
                <a:cs typeface="Georgia"/>
              </a:rPr>
              <a:t>Regression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was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used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30">
                <a:latin typeface="Georgia"/>
                <a:cs typeface="Georgia"/>
              </a:rPr>
              <a:t>as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a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baseline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model. </a:t>
            </a:r>
            <a:r>
              <a:rPr dirty="0" sz="2800" spc="-125">
                <a:latin typeface="Georgia"/>
                <a:cs typeface="Georgia"/>
              </a:rPr>
              <a:t>Random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Forest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Regressor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was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used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capture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nonlinear </a:t>
            </a:r>
            <a:r>
              <a:rPr dirty="0" sz="2800" spc="-100">
                <a:latin typeface="Georgia"/>
                <a:cs typeface="Georgia"/>
              </a:rPr>
              <a:t>relationships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between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6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instructor</a:t>
            </a:r>
            <a:r>
              <a:rPr dirty="0" sz="2800" spc="-16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features.</a:t>
            </a:r>
            <a:endParaRPr sz="2800">
              <a:latin typeface="Georgia"/>
              <a:cs typeface="Georgia"/>
            </a:endParaRPr>
          </a:p>
          <a:p>
            <a:pPr marL="749300" marR="1588135">
              <a:lnSpc>
                <a:spcPct val="116100"/>
              </a:lnSpc>
            </a:pPr>
            <a:r>
              <a:rPr dirty="0" sz="2800" spc="-20">
                <a:latin typeface="Georgia"/>
                <a:cs typeface="Georgia"/>
              </a:rPr>
              <a:t>The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60">
                <a:latin typeface="Georgia"/>
                <a:cs typeface="Georgia"/>
              </a:rPr>
              <a:t>dataset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was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105">
                <a:latin typeface="Georgia"/>
                <a:cs typeface="Georgia"/>
              </a:rPr>
              <a:t>divided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into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95">
                <a:latin typeface="Georgia"/>
                <a:cs typeface="Georgia"/>
              </a:rPr>
              <a:t>80%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100">
                <a:latin typeface="Georgia"/>
                <a:cs typeface="Georgia"/>
              </a:rPr>
              <a:t>training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20%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testing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data. </a:t>
            </a:r>
            <a:r>
              <a:rPr dirty="0" sz="2800" spc="-60">
                <a:latin typeface="Georgia"/>
                <a:cs typeface="Georgia"/>
              </a:rPr>
              <a:t>random_state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150">
                <a:latin typeface="Georgia"/>
                <a:cs typeface="Georgia"/>
              </a:rPr>
              <a:t>=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155">
                <a:latin typeface="Georgia"/>
                <a:cs typeface="Georgia"/>
              </a:rPr>
              <a:t>42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was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used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for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reproducible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results.</a:t>
            </a:r>
            <a:endParaRPr sz="2800">
              <a:latin typeface="Georgia"/>
              <a:cs typeface="Georgia"/>
            </a:endParaRPr>
          </a:p>
          <a:p>
            <a:pPr marL="749300" marR="3975735">
              <a:lnSpc>
                <a:spcPct val="116100"/>
              </a:lnSpc>
            </a:pPr>
            <a:r>
              <a:rPr dirty="0" sz="2800" spc="-85">
                <a:latin typeface="Georgia"/>
                <a:cs typeface="Georgia"/>
              </a:rPr>
              <a:t>GridSearchCV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was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used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tune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25">
                <a:latin typeface="Georgia"/>
                <a:cs typeface="Georgia"/>
              </a:rPr>
              <a:t>Random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Forest hyperparameters.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59174" y="983710"/>
            <a:ext cx="3169285" cy="5283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80"/>
              <a:t>Model</a:t>
            </a:r>
            <a:r>
              <a:rPr dirty="0" sz="3300" spc="-175"/>
              <a:t> </a:t>
            </a:r>
            <a:r>
              <a:rPr dirty="0" sz="3300" spc="-110"/>
              <a:t>Evaluation</a:t>
            </a:r>
            <a:endParaRPr sz="33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6674" y="2263140"/>
            <a:ext cx="114300" cy="1142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6674" y="2758440"/>
            <a:ext cx="114300" cy="114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6674" y="3253740"/>
            <a:ext cx="114300" cy="1142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9174" y="1502403"/>
            <a:ext cx="17078325" cy="579882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2800" spc="-85">
                <a:latin typeface="Georgia"/>
                <a:cs typeface="Georgia"/>
              </a:rPr>
              <a:t>Models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were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85">
                <a:latin typeface="Georgia"/>
                <a:cs typeface="Georgia"/>
              </a:rPr>
              <a:t>evaluated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using:</a:t>
            </a:r>
            <a:endParaRPr sz="2800">
              <a:latin typeface="Georgia"/>
              <a:cs typeface="Georgia"/>
            </a:endParaRPr>
          </a:p>
          <a:p>
            <a:pPr marL="616585">
              <a:lnSpc>
                <a:spcPct val="100000"/>
              </a:lnSpc>
              <a:spcBef>
                <a:spcPts val="540"/>
              </a:spcBef>
            </a:pPr>
            <a:r>
              <a:rPr dirty="0" sz="2800" spc="-229">
                <a:latin typeface="Georgia"/>
                <a:cs typeface="Georgia"/>
              </a:rPr>
              <a:t>MAE: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Measures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the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average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prediction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error.</a:t>
            </a:r>
            <a:endParaRPr sz="2800">
              <a:latin typeface="Georgia"/>
              <a:cs typeface="Georgia"/>
            </a:endParaRPr>
          </a:p>
          <a:p>
            <a:pPr marL="616585">
              <a:lnSpc>
                <a:spcPct val="100000"/>
              </a:lnSpc>
              <a:spcBef>
                <a:spcPts val="540"/>
              </a:spcBef>
            </a:pPr>
            <a:r>
              <a:rPr dirty="0" sz="2800" spc="-235">
                <a:latin typeface="Georgia"/>
                <a:cs typeface="Georgia"/>
              </a:rPr>
              <a:t>RMSE: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Gives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35">
                <a:latin typeface="Georgia"/>
                <a:cs typeface="Georgia"/>
              </a:rPr>
              <a:t>more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importance</a:t>
            </a:r>
            <a:r>
              <a:rPr dirty="0" sz="2800" spc="-16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larger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prediction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errors.</a:t>
            </a:r>
            <a:endParaRPr sz="2800">
              <a:latin typeface="Georgia"/>
              <a:cs typeface="Georgia"/>
            </a:endParaRPr>
          </a:p>
          <a:p>
            <a:pPr marL="616585" marR="6287770">
              <a:lnSpc>
                <a:spcPct val="116100"/>
              </a:lnSpc>
            </a:pPr>
            <a:r>
              <a:rPr dirty="0" sz="2800" spc="-345">
                <a:latin typeface="Georgia"/>
                <a:cs typeface="Georgia"/>
              </a:rPr>
              <a:t>R²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Score: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Measures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how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much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110">
                <a:latin typeface="Georgia"/>
                <a:cs typeface="Georgia"/>
              </a:rPr>
              <a:t>variation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in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enrollment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is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85">
                <a:latin typeface="Georgia"/>
                <a:cs typeface="Georgia"/>
              </a:rPr>
              <a:t>explained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by </a:t>
            </a:r>
            <a:r>
              <a:rPr dirty="0" sz="2800">
                <a:latin typeface="Georgia"/>
                <a:cs typeface="Georgia"/>
              </a:rPr>
              <a:t>the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model.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090"/>
              </a:spcBef>
            </a:pPr>
            <a:endParaRPr sz="2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3300" spc="-50" b="1">
                <a:latin typeface="Cambria"/>
                <a:cs typeface="Cambria"/>
              </a:rPr>
              <a:t>Cross-</a:t>
            </a:r>
            <a:r>
              <a:rPr dirty="0" sz="3300" spc="-35" b="1">
                <a:latin typeface="Cambria"/>
                <a:cs typeface="Cambria"/>
              </a:rPr>
              <a:t>Validation</a:t>
            </a:r>
            <a:endParaRPr sz="3300">
              <a:latin typeface="Cambria"/>
              <a:cs typeface="Cambria"/>
            </a:endParaRPr>
          </a:p>
          <a:p>
            <a:pPr marL="12700" marR="5080">
              <a:lnSpc>
                <a:spcPct val="116100"/>
              </a:lnSpc>
              <a:spcBef>
                <a:spcPts val="125"/>
              </a:spcBef>
            </a:pPr>
            <a:r>
              <a:rPr dirty="0" sz="2800">
                <a:latin typeface="Georgia"/>
                <a:cs typeface="Georgia"/>
              </a:rPr>
              <a:t>5-</a:t>
            </a:r>
            <a:r>
              <a:rPr dirty="0" sz="2800" spc="-85">
                <a:latin typeface="Georgia"/>
                <a:cs typeface="Georgia"/>
              </a:rPr>
              <a:t>fold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cross-</a:t>
            </a:r>
            <a:r>
              <a:rPr dirty="0" sz="2800" spc="-120">
                <a:latin typeface="Georgia"/>
                <a:cs typeface="Georgia"/>
              </a:rPr>
              <a:t>validation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was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performed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check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30">
                <a:latin typeface="Georgia"/>
                <a:cs typeface="Georgia"/>
              </a:rPr>
              <a:t>whether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the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model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performs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consistently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across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different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subsets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70">
                <a:latin typeface="Georgia"/>
                <a:cs typeface="Georgia"/>
              </a:rPr>
              <a:t>o </a:t>
            </a:r>
            <a:r>
              <a:rPr dirty="0" sz="2800">
                <a:latin typeface="Georgia"/>
                <a:cs typeface="Georgia"/>
              </a:rPr>
              <a:t>the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20">
                <a:latin typeface="Georgia"/>
                <a:cs typeface="Georgia"/>
              </a:rPr>
              <a:t>data.</a:t>
            </a:r>
            <a:endParaRPr sz="2800">
              <a:latin typeface="Georgia"/>
              <a:cs typeface="Georgia"/>
            </a:endParaRPr>
          </a:p>
          <a:p>
            <a:pPr marL="12700" marR="94615">
              <a:lnSpc>
                <a:spcPct val="116100"/>
              </a:lnSpc>
            </a:pPr>
            <a:r>
              <a:rPr dirty="0" sz="2800" spc="-60">
                <a:latin typeface="Georgia"/>
                <a:cs typeface="Georgia"/>
              </a:rPr>
              <a:t>Outcome: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20">
                <a:latin typeface="Georgia"/>
                <a:cs typeface="Georgia"/>
              </a:rPr>
              <a:t>The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0">
                <a:latin typeface="Georgia"/>
                <a:cs typeface="Georgia"/>
              </a:rPr>
              <a:t>evaluation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showed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that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predicting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enrollment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from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the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25">
                <a:latin typeface="Georgia"/>
                <a:cs typeface="Georgia"/>
              </a:rPr>
              <a:t>available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20">
                <a:latin typeface="Georgia"/>
                <a:cs typeface="Georgia"/>
              </a:rPr>
              <a:t>course-</a:t>
            </a:r>
            <a:r>
              <a:rPr dirty="0" sz="2800" spc="-80">
                <a:latin typeface="Georgia"/>
                <a:cs typeface="Georgia"/>
              </a:rPr>
              <a:t>level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60">
                <a:latin typeface="Georgia"/>
                <a:cs typeface="Georgia"/>
              </a:rPr>
              <a:t>features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is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challenging, </a:t>
            </a:r>
            <a:r>
              <a:rPr dirty="0" sz="2800" spc="-95">
                <a:latin typeface="Georgia"/>
                <a:cs typeface="Georgia"/>
              </a:rPr>
              <a:t>highlighting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the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importance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of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careful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model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0">
                <a:latin typeface="Georgia"/>
                <a:cs typeface="Georgia"/>
              </a:rPr>
              <a:t>evaluation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interpretation.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778052" y="343869"/>
            <a:ext cx="1369695" cy="1369695"/>
          </a:xfrm>
          <a:custGeom>
            <a:avLst/>
            <a:gdLst/>
            <a:ahLst/>
            <a:cxnLst/>
            <a:rect l="l" t="t" r="r" b="b"/>
            <a:pathLst>
              <a:path w="1369694" h="1369695">
                <a:moveTo>
                  <a:pt x="1230607" y="1369634"/>
                </a:moveTo>
                <a:lnTo>
                  <a:pt x="1187950" y="1365390"/>
                </a:lnTo>
                <a:lnTo>
                  <a:pt x="1140785" y="1353147"/>
                </a:lnTo>
                <a:lnTo>
                  <a:pt x="1089523" y="1332494"/>
                </a:lnTo>
                <a:lnTo>
                  <a:pt x="1034574" y="1303020"/>
                </a:lnTo>
                <a:lnTo>
                  <a:pt x="976350" y="1264315"/>
                </a:lnTo>
                <a:lnTo>
                  <a:pt x="915260" y="1215969"/>
                </a:lnTo>
                <a:lnTo>
                  <a:pt x="883770" y="1188051"/>
                </a:lnTo>
                <a:lnTo>
                  <a:pt x="851717" y="1157569"/>
                </a:lnTo>
                <a:lnTo>
                  <a:pt x="819153" y="1124471"/>
                </a:lnTo>
                <a:lnTo>
                  <a:pt x="786130" y="1088706"/>
                </a:lnTo>
                <a:lnTo>
                  <a:pt x="752699" y="1050222"/>
                </a:lnTo>
                <a:lnTo>
                  <a:pt x="718911" y="1008968"/>
                </a:lnTo>
                <a:lnTo>
                  <a:pt x="684817" y="964893"/>
                </a:lnTo>
                <a:lnTo>
                  <a:pt x="650723" y="1008968"/>
                </a:lnTo>
                <a:lnTo>
                  <a:pt x="616935" y="1050222"/>
                </a:lnTo>
                <a:lnTo>
                  <a:pt x="583503" y="1088706"/>
                </a:lnTo>
                <a:lnTo>
                  <a:pt x="550480" y="1124471"/>
                </a:lnTo>
                <a:lnTo>
                  <a:pt x="517916" y="1157569"/>
                </a:lnTo>
                <a:lnTo>
                  <a:pt x="485864" y="1188051"/>
                </a:lnTo>
                <a:lnTo>
                  <a:pt x="454373" y="1215969"/>
                </a:lnTo>
                <a:lnTo>
                  <a:pt x="423496" y="1241373"/>
                </a:lnTo>
                <a:lnTo>
                  <a:pt x="363788" y="1284847"/>
                </a:lnTo>
                <a:lnTo>
                  <a:pt x="307150" y="1318885"/>
                </a:lnTo>
                <a:lnTo>
                  <a:pt x="253993" y="1343897"/>
                </a:lnTo>
                <a:lnTo>
                  <a:pt x="204728" y="1360294"/>
                </a:lnTo>
                <a:lnTo>
                  <a:pt x="159765" y="1368486"/>
                </a:lnTo>
                <a:lnTo>
                  <a:pt x="139026" y="1369634"/>
                </a:lnTo>
                <a:lnTo>
                  <a:pt x="119516" y="1368884"/>
                </a:lnTo>
                <a:lnTo>
                  <a:pt x="68878" y="1355767"/>
                </a:lnTo>
                <a:lnTo>
                  <a:pt x="31155" y="1327424"/>
                </a:lnTo>
                <a:lnTo>
                  <a:pt x="7733" y="1285242"/>
                </a:lnTo>
                <a:lnTo>
                  <a:pt x="0" y="1230607"/>
                </a:lnTo>
                <a:lnTo>
                  <a:pt x="1147" y="1209868"/>
                </a:lnTo>
                <a:lnTo>
                  <a:pt x="9339" y="1164905"/>
                </a:lnTo>
                <a:lnTo>
                  <a:pt x="25736" y="1115640"/>
                </a:lnTo>
                <a:lnTo>
                  <a:pt x="50748" y="1062483"/>
                </a:lnTo>
                <a:lnTo>
                  <a:pt x="84786" y="1005845"/>
                </a:lnTo>
                <a:lnTo>
                  <a:pt x="128260" y="946137"/>
                </a:lnTo>
                <a:lnTo>
                  <a:pt x="153665" y="915260"/>
                </a:lnTo>
                <a:lnTo>
                  <a:pt x="181582" y="883770"/>
                </a:lnTo>
                <a:lnTo>
                  <a:pt x="212064" y="851717"/>
                </a:lnTo>
                <a:lnTo>
                  <a:pt x="245162" y="819153"/>
                </a:lnTo>
                <a:lnTo>
                  <a:pt x="280928" y="786130"/>
                </a:lnTo>
                <a:lnTo>
                  <a:pt x="319411" y="752699"/>
                </a:lnTo>
                <a:lnTo>
                  <a:pt x="360665" y="718910"/>
                </a:lnTo>
                <a:lnTo>
                  <a:pt x="404740" y="684817"/>
                </a:lnTo>
                <a:lnTo>
                  <a:pt x="360665" y="650723"/>
                </a:lnTo>
                <a:lnTo>
                  <a:pt x="319411" y="616935"/>
                </a:lnTo>
                <a:lnTo>
                  <a:pt x="280928" y="583503"/>
                </a:lnTo>
                <a:lnTo>
                  <a:pt x="245162" y="550480"/>
                </a:lnTo>
                <a:lnTo>
                  <a:pt x="212064" y="517916"/>
                </a:lnTo>
                <a:lnTo>
                  <a:pt x="181582" y="485864"/>
                </a:lnTo>
                <a:lnTo>
                  <a:pt x="153665" y="454373"/>
                </a:lnTo>
                <a:lnTo>
                  <a:pt x="128260" y="423496"/>
                </a:lnTo>
                <a:lnTo>
                  <a:pt x="84786" y="363788"/>
                </a:lnTo>
                <a:lnTo>
                  <a:pt x="50748" y="307150"/>
                </a:lnTo>
                <a:lnTo>
                  <a:pt x="25736" y="253993"/>
                </a:lnTo>
                <a:lnTo>
                  <a:pt x="9339" y="204728"/>
                </a:lnTo>
                <a:lnTo>
                  <a:pt x="1147" y="159766"/>
                </a:lnTo>
                <a:lnTo>
                  <a:pt x="0" y="139026"/>
                </a:lnTo>
                <a:lnTo>
                  <a:pt x="749" y="119516"/>
                </a:lnTo>
                <a:lnTo>
                  <a:pt x="13866" y="68878"/>
                </a:lnTo>
                <a:lnTo>
                  <a:pt x="42209" y="31155"/>
                </a:lnTo>
                <a:lnTo>
                  <a:pt x="84391" y="7733"/>
                </a:lnTo>
                <a:lnTo>
                  <a:pt x="139026" y="0"/>
                </a:lnTo>
                <a:lnTo>
                  <a:pt x="159765" y="1147"/>
                </a:lnTo>
                <a:lnTo>
                  <a:pt x="204728" y="9339"/>
                </a:lnTo>
                <a:lnTo>
                  <a:pt x="253993" y="25736"/>
                </a:lnTo>
                <a:lnTo>
                  <a:pt x="307150" y="50748"/>
                </a:lnTo>
                <a:lnTo>
                  <a:pt x="363788" y="84786"/>
                </a:lnTo>
                <a:lnTo>
                  <a:pt x="423496" y="128260"/>
                </a:lnTo>
                <a:lnTo>
                  <a:pt x="454373" y="153665"/>
                </a:lnTo>
                <a:lnTo>
                  <a:pt x="485864" y="181582"/>
                </a:lnTo>
                <a:lnTo>
                  <a:pt x="517916" y="212064"/>
                </a:lnTo>
                <a:lnTo>
                  <a:pt x="550480" y="245162"/>
                </a:lnTo>
                <a:lnTo>
                  <a:pt x="583503" y="280927"/>
                </a:lnTo>
                <a:lnTo>
                  <a:pt x="616935" y="319411"/>
                </a:lnTo>
                <a:lnTo>
                  <a:pt x="650723" y="360665"/>
                </a:lnTo>
                <a:lnTo>
                  <a:pt x="684817" y="404740"/>
                </a:lnTo>
                <a:lnTo>
                  <a:pt x="718911" y="360665"/>
                </a:lnTo>
                <a:lnTo>
                  <a:pt x="752699" y="319411"/>
                </a:lnTo>
                <a:lnTo>
                  <a:pt x="786130" y="280927"/>
                </a:lnTo>
                <a:lnTo>
                  <a:pt x="819153" y="245162"/>
                </a:lnTo>
                <a:lnTo>
                  <a:pt x="851717" y="212064"/>
                </a:lnTo>
                <a:lnTo>
                  <a:pt x="883770" y="181582"/>
                </a:lnTo>
                <a:lnTo>
                  <a:pt x="915260" y="153665"/>
                </a:lnTo>
                <a:lnTo>
                  <a:pt x="946138" y="128260"/>
                </a:lnTo>
                <a:lnTo>
                  <a:pt x="1005846" y="84786"/>
                </a:lnTo>
                <a:lnTo>
                  <a:pt x="1062484" y="50748"/>
                </a:lnTo>
                <a:lnTo>
                  <a:pt x="1115640" y="25736"/>
                </a:lnTo>
                <a:lnTo>
                  <a:pt x="1164905" y="9339"/>
                </a:lnTo>
                <a:lnTo>
                  <a:pt x="1209868" y="1147"/>
                </a:lnTo>
                <a:lnTo>
                  <a:pt x="1230607" y="0"/>
                </a:lnTo>
                <a:lnTo>
                  <a:pt x="1250117" y="749"/>
                </a:lnTo>
                <a:lnTo>
                  <a:pt x="1300755" y="13866"/>
                </a:lnTo>
                <a:lnTo>
                  <a:pt x="1338478" y="42209"/>
                </a:lnTo>
                <a:lnTo>
                  <a:pt x="1361900" y="84391"/>
                </a:lnTo>
                <a:lnTo>
                  <a:pt x="1369634" y="139026"/>
                </a:lnTo>
                <a:lnTo>
                  <a:pt x="1368486" y="159766"/>
                </a:lnTo>
                <a:lnTo>
                  <a:pt x="1360294" y="204728"/>
                </a:lnTo>
                <a:lnTo>
                  <a:pt x="1343897" y="253993"/>
                </a:lnTo>
                <a:lnTo>
                  <a:pt x="1318885" y="307150"/>
                </a:lnTo>
                <a:lnTo>
                  <a:pt x="1284848" y="363788"/>
                </a:lnTo>
                <a:lnTo>
                  <a:pt x="1241373" y="423496"/>
                </a:lnTo>
                <a:lnTo>
                  <a:pt x="1215969" y="454373"/>
                </a:lnTo>
                <a:lnTo>
                  <a:pt x="1188051" y="485864"/>
                </a:lnTo>
                <a:lnTo>
                  <a:pt x="1157569" y="517916"/>
                </a:lnTo>
                <a:lnTo>
                  <a:pt x="1124471" y="550480"/>
                </a:lnTo>
                <a:lnTo>
                  <a:pt x="1088706" y="583503"/>
                </a:lnTo>
                <a:lnTo>
                  <a:pt x="1050222" y="616935"/>
                </a:lnTo>
                <a:lnTo>
                  <a:pt x="1008968" y="650723"/>
                </a:lnTo>
                <a:lnTo>
                  <a:pt x="964894" y="684817"/>
                </a:lnTo>
                <a:lnTo>
                  <a:pt x="1008968" y="718910"/>
                </a:lnTo>
                <a:lnTo>
                  <a:pt x="1050222" y="752699"/>
                </a:lnTo>
                <a:lnTo>
                  <a:pt x="1088706" y="786130"/>
                </a:lnTo>
                <a:lnTo>
                  <a:pt x="1124471" y="819153"/>
                </a:lnTo>
                <a:lnTo>
                  <a:pt x="1157569" y="851717"/>
                </a:lnTo>
                <a:lnTo>
                  <a:pt x="1188051" y="883770"/>
                </a:lnTo>
                <a:lnTo>
                  <a:pt x="1215969" y="915260"/>
                </a:lnTo>
                <a:lnTo>
                  <a:pt x="1241373" y="946137"/>
                </a:lnTo>
                <a:lnTo>
                  <a:pt x="1284848" y="1005845"/>
                </a:lnTo>
                <a:lnTo>
                  <a:pt x="1318885" y="1062483"/>
                </a:lnTo>
                <a:lnTo>
                  <a:pt x="1343897" y="1115640"/>
                </a:lnTo>
                <a:lnTo>
                  <a:pt x="1360294" y="1164905"/>
                </a:lnTo>
                <a:lnTo>
                  <a:pt x="1368486" y="1209868"/>
                </a:lnTo>
                <a:lnTo>
                  <a:pt x="1369634" y="1230607"/>
                </a:lnTo>
                <a:lnTo>
                  <a:pt x="1368885" y="1250117"/>
                </a:lnTo>
                <a:lnTo>
                  <a:pt x="1355767" y="1300755"/>
                </a:lnTo>
                <a:lnTo>
                  <a:pt x="1327425" y="1338478"/>
                </a:lnTo>
                <a:lnTo>
                  <a:pt x="1285243" y="1361900"/>
                </a:lnTo>
                <a:lnTo>
                  <a:pt x="1250117" y="1368884"/>
                </a:lnTo>
                <a:lnTo>
                  <a:pt x="1230607" y="13696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3869" y="8573468"/>
            <a:ext cx="1369695" cy="1369695"/>
          </a:xfrm>
          <a:custGeom>
            <a:avLst/>
            <a:gdLst/>
            <a:ahLst/>
            <a:cxnLst/>
            <a:rect l="l" t="t" r="r" b="b"/>
            <a:pathLst>
              <a:path w="1369695" h="1369695">
                <a:moveTo>
                  <a:pt x="1230607" y="1369634"/>
                </a:moveTo>
                <a:lnTo>
                  <a:pt x="1187950" y="1365390"/>
                </a:lnTo>
                <a:lnTo>
                  <a:pt x="1140785" y="1353147"/>
                </a:lnTo>
                <a:lnTo>
                  <a:pt x="1089523" y="1332494"/>
                </a:lnTo>
                <a:lnTo>
                  <a:pt x="1034574" y="1303020"/>
                </a:lnTo>
                <a:lnTo>
                  <a:pt x="976350" y="1264315"/>
                </a:lnTo>
                <a:lnTo>
                  <a:pt x="915260" y="1215969"/>
                </a:lnTo>
                <a:lnTo>
                  <a:pt x="883770" y="1188051"/>
                </a:lnTo>
                <a:lnTo>
                  <a:pt x="851717" y="1157569"/>
                </a:lnTo>
                <a:lnTo>
                  <a:pt x="819153" y="1124471"/>
                </a:lnTo>
                <a:lnTo>
                  <a:pt x="786130" y="1088706"/>
                </a:lnTo>
                <a:lnTo>
                  <a:pt x="752699" y="1050222"/>
                </a:lnTo>
                <a:lnTo>
                  <a:pt x="718911" y="1008968"/>
                </a:lnTo>
                <a:lnTo>
                  <a:pt x="684817" y="964893"/>
                </a:lnTo>
                <a:lnTo>
                  <a:pt x="650723" y="1008968"/>
                </a:lnTo>
                <a:lnTo>
                  <a:pt x="616935" y="1050222"/>
                </a:lnTo>
                <a:lnTo>
                  <a:pt x="583503" y="1088706"/>
                </a:lnTo>
                <a:lnTo>
                  <a:pt x="550480" y="1124471"/>
                </a:lnTo>
                <a:lnTo>
                  <a:pt x="517916" y="1157569"/>
                </a:lnTo>
                <a:lnTo>
                  <a:pt x="485864" y="1188051"/>
                </a:lnTo>
                <a:lnTo>
                  <a:pt x="454373" y="1215969"/>
                </a:lnTo>
                <a:lnTo>
                  <a:pt x="423496" y="1241373"/>
                </a:lnTo>
                <a:lnTo>
                  <a:pt x="363788" y="1284847"/>
                </a:lnTo>
                <a:lnTo>
                  <a:pt x="307150" y="1318885"/>
                </a:lnTo>
                <a:lnTo>
                  <a:pt x="253993" y="1343897"/>
                </a:lnTo>
                <a:lnTo>
                  <a:pt x="204728" y="1360294"/>
                </a:lnTo>
                <a:lnTo>
                  <a:pt x="159765" y="1368486"/>
                </a:lnTo>
                <a:lnTo>
                  <a:pt x="139026" y="1369634"/>
                </a:lnTo>
                <a:lnTo>
                  <a:pt x="119516" y="1368884"/>
                </a:lnTo>
                <a:lnTo>
                  <a:pt x="68878" y="1355767"/>
                </a:lnTo>
                <a:lnTo>
                  <a:pt x="31155" y="1327424"/>
                </a:lnTo>
                <a:lnTo>
                  <a:pt x="7733" y="1285242"/>
                </a:lnTo>
                <a:lnTo>
                  <a:pt x="0" y="1230607"/>
                </a:lnTo>
                <a:lnTo>
                  <a:pt x="1147" y="1209868"/>
                </a:lnTo>
                <a:lnTo>
                  <a:pt x="9339" y="1164905"/>
                </a:lnTo>
                <a:lnTo>
                  <a:pt x="25736" y="1115640"/>
                </a:lnTo>
                <a:lnTo>
                  <a:pt x="50748" y="1062483"/>
                </a:lnTo>
                <a:lnTo>
                  <a:pt x="84786" y="1005845"/>
                </a:lnTo>
                <a:lnTo>
                  <a:pt x="128260" y="946137"/>
                </a:lnTo>
                <a:lnTo>
                  <a:pt x="153665" y="915260"/>
                </a:lnTo>
                <a:lnTo>
                  <a:pt x="181582" y="883770"/>
                </a:lnTo>
                <a:lnTo>
                  <a:pt x="212064" y="851717"/>
                </a:lnTo>
                <a:lnTo>
                  <a:pt x="245162" y="819153"/>
                </a:lnTo>
                <a:lnTo>
                  <a:pt x="280928" y="786130"/>
                </a:lnTo>
                <a:lnTo>
                  <a:pt x="319411" y="752699"/>
                </a:lnTo>
                <a:lnTo>
                  <a:pt x="360665" y="718910"/>
                </a:lnTo>
                <a:lnTo>
                  <a:pt x="404740" y="684817"/>
                </a:lnTo>
                <a:lnTo>
                  <a:pt x="360665" y="650723"/>
                </a:lnTo>
                <a:lnTo>
                  <a:pt x="319411" y="616935"/>
                </a:lnTo>
                <a:lnTo>
                  <a:pt x="280928" y="583503"/>
                </a:lnTo>
                <a:lnTo>
                  <a:pt x="245162" y="550480"/>
                </a:lnTo>
                <a:lnTo>
                  <a:pt x="212064" y="517916"/>
                </a:lnTo>
                <a:lnTo>
                  <a:pt x="181582" y="485864"/>
                </a:lnTo>
                <a:lnTo>
                  <a:pt x="153665" y="454373"/>
                </a:lnTo>
                <a:lnTo>
                  <a:pt x="128260" y="423496"/>
                </a:lnTo>
                <a:lnTo>
                  <a:pt x="84786" y="363788"/>
                </a:lnTo>
                <a:lnTo>
                  <a:pt x="50748" y="307150"/>
                </a:lnTo>
                <a:lnTo>
                  <a:pt x="25736" y="253993"/>
                </a:lnTo>
                <a:lnTo>
                  <a:pt x="9339" y="204728"/>
                </a:lnTo>
                <a:lnTo>
                  <a:pt x="1147" y="159766"/>
                </a:lnTo>
                <a:lnTo>
                  <a:pt x="0" y="139026"/>
                </a:lnTo>
                <a:lnTo>
                  <a:pt x="749" y="119516"/>
                </a:lnTo>
                <a:lnTo>
                  <a:pt x="13866" y="68878"/>
                </a:lnTo>
                <a:lnTo>
                  <a:pt x="42209" y="31155"/>
                </a:lnTo>
                <a:lnTo>
                  <a:pt x="84391" y="7733"/>
                </a:lnTo>
                <a:lnTo>
                  <a:pt x="139026" y="0"/>
                </a:lnTo>
                <a:lnTo>
                  <a:pt x="159765" y="1147"/>
                </a:lnTo>
                <a:lnTo>
                  <a:pt x="204728" y="9339"/>
                </a:lnTo>
                <a:lnTo>
                  <a:pt x="253993" y="25736"/>
                </a:lnTo>
                <a:lnTo>
                  <a:pt x="307150" y="50748"/>
                </a:lnTo>
                <a:lnTo>
                  <a:pt x="363788" y="84786"/>
                </a:lnTo>
                <a:lnTo>
                  <a:pt x="423496" y="128260"/>
                </a:lnTo>
                <a:lnTo>
                  <a:pt x="454373" y="153665"/>
                </a:lnTo>
                <a:lnTo>
                  <a:pt x="485864" y="181582"/>
                </a:lnTo>
                <a:lnTo>
                  <a:pt x="517916" y="212064"/>
                </a:lnTo>
                <a:lnTo>
                  <a:pt x="550480" y="245162"/>
                </a:lnTo>
                <a:lnTo>
                  <a:pt x="583503" y="280927"/>
                </a:lnTo>
                <a:lnTo>
                  <a:pt x="616935" y="319411"/>
                </a:lnTo>
                <a:lnTo>
                  <a:pt x="650723" y="360665"/>
                </a:lnTo>
                <a:lnTo>
                  <a:pt x="684817" y="404740"/>
                </a:lnTo>
                <a:lnTo>
                  <a:pt x="718911" y="360665"/>
                </a:lnTo>
                <a:lnTo>
                  <a:pt x="752699" y="319411"/>
                </a:lnTo>
                <a:lnTo>
                  <a:pt x="786130" y="280927"/>
                </a:lnTo>
                <a:lnTo>
                  <a:pt x="819153" y="245162"/>
                </a:lnTo>
                <a:lnTo>
                  <a:pt x="851717" y="212064"/>
                </a:lnTo>
                <a:lnTo>
                  <a:pt x="883770" y="181582"/>
                </a:lnTo>
                <a:lnTo>
                  <a:pt x="915260" y="153665"/>
                </a:lnTo>
                <a:lnTo>
                  <a:pt x="946138" y="128260"/>
                </a:lnTo>
                <a:lnTo>
                  <a:pt x="1005846" y="84786"/>
                </a:lnTo>
                <a:lnTo>
                  <a:pt x="1062484" y="50748"/>
                </a:lnTo>
                <a:lnTo>
                  <a:pt x="1115640" y="25736"/>
                </a:lnTo>
                <a:lnTo>
                  <a:pt x="1164905" y="9339"/>
                </a:lnTo>
                <a:lnTo>
                  <a:pt x="1209868" y="1147"/>
                </a:lnTo>
                <a:lnTo>
                  <a:pt x="1230607" y="0"/>
                </a:lnTo>
                <a:lnTo>
                  <a:pt x="1250117" y="749"/>
                </a:lnTo>
                <a:lnTo>
                  <a:pt x="1300755" y="13866"/>
                </a:lnTo>
                <a:lnTo>
                  <a:pt x="1338478" y="42209"/>
                </a:lnTo>
                <a:lnTo>
                  <a:pt x="1361900" y="84391"/>
                </a:lnTo>
                <a:lnTo>
                  <a:pt x="1369634" y="139026"/>
                </a:lnTo>
                <a:lnTo>
                  <a:pt x="1368486" y="159766"/>
                </a:lnTo>
                <a:lnTo>
                  <a:pt x="1360294" y="204728"/>
                </a:lnTo>
                <a:lnTo>
                  <a:pt x="1343897" y="253993"/>
                </a:lnTo>
                <a:lnTo>
                  <a:pt x="1318885" y="307150"/>
                </a:lnTo>
                <a:lnTo>
                  <a:pt x="1284848" y="363788"/>
                </a:lnTo>
                <a:lnTo>
                  <a:pt x="1241373" y="423496"/>
                </a:lnTo>
                <a:lnTo>
                  <a:pt x="1215969" y="454373"/>
                </a:lnTo>
                <a:lnTo>
                  <a:pt x="1188051" y="485864"/>
                </a:lnTo>
                <a:lnTo>
                  <a:pt x="1157569" y="517916"/>
                </a:lnTo>
                <a:lnTo>
                  <a:pt x="1124471" y="550480"/>
                </a:lnTo>
                <a:lnTo>
                  <a:pt x="1088706" y="583503"/>
                </a:lnTo>
                <a:lnTo>
                  <a:pt x="1050222" y="616935"/>
                </a:lnTo>
                <a:lnTo>
                  <a:pt x="1008968" y="650723"/>
                </a:lnTo>
                <a:lnTo>
                  <a:pt x="964894" y="684817"/>
                </a:lnTo>
                <a:lnTo>
                  <a:pt x="1008968" y="718910"/>
                </a:lnTo>
                <a:lnTo>
                  <a:pt x="1050222" y="752699"/>
                </a:lnTo>
                <a:lnTo>
                  <a:pt x="1088706" y="786130"/>
                </a:lnTo>
                <a:lnTo>
                  <a:pt x="1124471" y="819153"/>
                </a:lnTo>
                <a:lnTo>
                  <a:pt x="1157569" y="851717"/>
                </a:lnTo>
                <a:lnTo>
                  <a:pt x="1188051" y="883770"/>
                </a:lnTo>
                <a:lnTo>
                  <a:pt x="1215969" y="915260"/>
                </a:lnTo>
                <a:lnTo>
                  <a:pt x="1241373" y="946137"/>
                </a:lnTo>
                <a:lnTo>
                  <a:pt x="1284848" y="1005845"/>
                </a:lnTo>
                <a:lnTo>
                  <a:pt x="1318885" y="1062483"/>
                </a:lnTo>
                <a:lnTo>
                  <a:pt x="1343897" y="1115640"/>
                </a:lnTo>
                <a:lnTo>
                  <a:pt x="1360294" y="1164905"/>
                </a:lnTo>
                <a:lnTo>
                  <a:pt x="1368486" y="1209868"/>
                </a:lnTo>
                <a:lnTo>
                  <a:pt x="1369634" y="1230607"/>
                </a:lnTo>
                <a:lnTo>
                  <a:pt x="1368885" y="1250117"/>
                </a:lnTo>
                <a:lnTo>
                  <a:pt x="1355767" y="1300755"/>
                </a:lnTo>
                <a:lnTo>
                  <a:pt x="1327425" y="1338478"/>
                </a:lnTo>
                <a:lnTo>
                  <a:pt x="1285243" y="1361900"/>
                </a:lnTo>
                <a:lnTo>
                  <a:pt x="1250117" y="1368884"/>
                </a:lnTo>
                <a:lnTo>
                  <a:pt x="1230607" y="13696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220200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028699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231665" y="3020214"/>
            <a:ext cx="5467350" cy="972185"/>
            <a:chOff x="231665" y="3020214"/>
            <a:chExt cx="5467350" cy="9721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9765" y="3058325"/>
              <a:ext cx="5394481" cy="8984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2429" y="3775467"/>
              <a:ext cx="178826" cy="18263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9765" y="3058314"/>
              <a:ext cx="5391150" cy="895985"/>
            </a:xfrm>
            <a:custGeom>
              <a:avLst/>
              <a:gdLst/>
              <a:ahLst/>
              <a:cxnLst/>
              <a:rect l="l" t="t" r="r" b="b"/>
              <a:pathLst>
                <a:path w="5391150" h="895985">
                  <a:moveTo>
                    <a:pt x="177761" y="895356"/>
                  </a:moveTo>
                  <a:lnTo>
                    <a:pt x="129348" y="882549"/>
                  </a:lnTo>
                  <a:lnTo>
                    <a:pt x="93280" y="863290"/>
                  </a:lnTo>
                  <a:lnTo>
                    <a:pt x="61366" y="837118"/>
                  </a:lnTo>
                  <a:lnTo>
                    <a:pt x="35199" y="805200"/>
                  </a:lnTo>
                  <a:lnTo>
                    <a:pt x="15946" y="769132"/>
                  </a:lnTo>
                  <a:lnTo>
                    <a:pt x="4062" y="730012"/>
                  </a:lnTo>
                  <a:lnTo>
                    <a:pt x="0" y="688941"/>
                  </a:lnTo>
                  <a:lnTo>
                    <a:pt x="0" y="209556"/>
                  </a:lnTo>
                  <a:lnTo>
                    <a:pt x="4064" y="168485"/>
                  </a:lnTo>
                  <a:lnTo>
                    <a:pt x="15952" y="129367"/>
                  </a:lnTo>
                  <a:lnTo>
                    <a:pt x="35207" y="93302"/>
                  </a:lnTo>
                  <a:lnTo>
                    <a:pt x="61375" y="61387"/>
                  </a:lnTo>
                  <a:lnTo>
                    <a:pt x="93290" y="35218"/>
                  </a:lnTo>
                  <a:lnTo>
                    <a:pt x="129356" y="15963"/>
                  </a:lnTo>
                  <a:lnTo>
                    <a:pt x="168474" y="4075"/>
                  </a:lnTo>
                  <a:lnTo>
                    <a:pt x="209545" y="11"/>
                  </a:lnTo>
                  <a:lnTo>
                    <a:pt x="5185921" y="0"/>
                  </a:lnTo>
                  <a:lnTo>
                    <a:pt x="5227001" y="4042"/>
                  </a:lnTo>
                  <a:lnTo>
                    <a:pt x="5266135" y="15913"/>
                  </a:lnTo>
                  <a:lnTo>
                    <a:pt x="5302223" y="35159"/>
                  </a:lnTo>
                  <a:lnTo>
                    <a:pt x="5334161" y="61327"/>
                  </a:lnTo>
                  <a:lnTo>
                    <a:pt x="5360351" y="93251"/>
                  </a:lnTo>
                  <a:lnTo>
                    <a:pt x="5379624" y="129334"/>
                  </a:lnTo>
                  <a:lnTo>
                    <a:pt x="5391043" y="167294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77549" y="3261557"/>
            <a:ext cx="358012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0">
                <a:latin typeface="Georgia"/>
                <a:cs typeface="Georgia"/>
              </a:rPr>
              <a:t>Course</a:t>
            </a:r>
            <a:r>
              <a:rPr dirty="0" sz="2800" spc="-225">
                <a:latin typeface="Georgia"/>
                <a:cs typeface="Georgia"/>
              </a:rPr>
              <a:t> </a:t>
            </a:r>
            <a:r>
              <a:rPr dirty="0" sz="2800" spc="-120">
                <a:latin typeface="Georgia"/>
                <a:cs typeface="Georgia"/>
              </a:rPr>
              <a:t>Rating</a:t>
            </a:r>
            <a:r>
              <a:rPr dirty="0" sz="2800" spc="-22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—</a:t>
            </a:r>
            <a:r>
              <a:rPr dirty="0" sz="2800" spc="-220">
                <a:latin typeface="Georgia"/>
                <a:cs typeface="Georgia"/>
              </a:rPr>
              <a:t> </a:t>
            </a:r>
            <a:r>
              <a:rPr dirty="0" sz="2800" spc="-130">
                <a:latin typeface="Georgia"/>
                <a:cs typeface="Georgia"/>
              </a:rPr>
              <a:t>19.89%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08734" y="3041540"/>
            <a:ext cx="5648325" cy="971550"/>
            <a:chOff x="6108734" y="3041540"/>
            <a:chExt cx="5648325" cy="97155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6834" y="3079641"/>
              <a:ext cx="5572567" cy="89849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146834" y="3079640"/>
              <a:ext cx="5572125" cy="895350"/>
            </a:xfrm>
            <a:custGeom>
              <a:avLst/>
              <a:gdLst/>
              <a:ahLst/>
              <a:cxnLst/>
              <a:rect l="l" t="t" r="r" b="b"/>
              <a:pathLst>
                <a:path w="5572125" h="895350">
                  <a:moveTo>
                    <a:pt x="5572124" y="691935"/>
                  </a:moveTo>
                  <a:lnTo>
                    <a:pt x="5568358" y="729999"/>
                  </a:lnTo>
                  <a:lnTo>
                    <a:pt x="5556471" y="769118"/>
                  </a:lnTo>
                  <a:lnTo>
                    <a:pt x="5537215" y="805184"/>
                  </a:lnTo>
                  <a:lnTo>
                    <a:pt x="5511047" y="837099"/>
                  </a:lnTo>
                  <a:lnTo>
                    <a:pt x="5479132" y="863267"/>
                  </a:lnTo>
                  <a:lnTo>
                    <a:pt x="5443066" y="882523"/>
                  </a:lnTo>
                  <a:lnTo>
                    <a:pt x="5403948" y="894410"/>
                  </a:lnTo>
                  <a:lnTo>
                    <a:pt x="5394447" y="895349"/>
                  </a:lnTo>
                </a:path>
                <a:path w="5572125" h="895350">
                  <a:moveTo>
                    <a:pt x="177974" y="895350"/>
                  </a:moveTo>
                  <a:lnTo>
                    <a:pt x="129355" y="882522"/>
                  </a:lnTo>
                  <a:lnTo>
                    <a:pt x="93288" y="863267"/>
                  </a:lnTo>
                  <a:lnTo>
                    <a:pt x="61373" y="837099"/>
                  </a:lnTo>
                  <a:lnTo>
                    <a:pt x="35205" y="805184"/>
                  </a:lnTo>
                  <a:lnTo>
                    <a:pt x="15950" y="769118"/>
                  </a:lnTo>
                  <a:lnTo>
                    <a:pt x="4063" y="729999"/>
                  </a:lnTo>
                  <a:lnTo>
                    <a:pt x="0" y="688928"/>
                  </a:lnTo>
                  <a:lnTo>
                    <a:pt x="0" y="209546"/>
                  </a:lnTo>
                  <a:lnTo>
                    <a:pt x="4063" y="168475"/>
                  </a:lnTo>
                  <a:lnTo>
                    <a:pt x="15950" y="129357"/>
                  </a:lnTo>
                  <a:lnTo>
                    <a:pt x="35205" y="93290"/>
                  </a:lnTo>
                  <a:lnTo>
                    <a:pt x="61374" y="61376"/>
                  </a:lnTo>
                  <a:lnTo>
                    <a:pt x="93289" y="35207"/>
                  </a:lnTo>
                  <a:lnTo>
                    <a:pt x="129355" y="15952"/>
                  </a:lnTo>
                  <a:lnTo>
                    <a:pt x="168473" y="4065"/>
                  </a:lnTo>
                  <a:lnTo>
                    <a:pt x="209544" y="0"/>
                  </a:lnTo>
                  <a:lnTo>
                    <a:pt x="5362877" y="0"/>
                  </a:lnTo>
                  <a:lnTo>
                    <a:pt x="5403947" y="4065"/>
                  </a:lnTo>
                  <a:lnTo>
                    <a:pt x="5443066" y="15952"/>
                  </a:lnTo>
                  <a:lnTo>
                    <a:pt x="5479132" y="35207"/>
                  </a:lnTo>
                  <a:lnTo>
                    <a:pt x="5511047" y="61375"/>
                  </a:lnTo>
                  <a:lnTo>
                    <a:pt x="5537215" y="93290"/>
                  </a:lnTo>
                  <a:lnTo>
                    <a:pt x="5556471" y="129357"/>
                  </a:lnTo>
                  <a:lnTo>
                    <a:pt x="5568358" y="168475"/>
                  </a:lnTo>
                  <a:lnTo>
                    <a:pt x="5572124" y="20653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984966" y="3282873"/>
            <a:ext cx="389636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0">
                <a:latin typeface="Georgia"/>
                <a:cs typeface="Georgia"/>
              </a:rPr>
              <a:t>Course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100">
                <a:latin typeface="Georgia"/>
                <a:cs typeface="Georgia"/>
              </a:rPr>
              <a:t>Duration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—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175">
                <a:latin typeface="Georgia"/>
                <a:cs typeface="Georgia"/>
              </a:rPr>
              <a:t>17.28%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31862" y="4408782"/>
            <a:ext cx="5467350" cy="1323975"/>
            <a:chOff x="231862" y="4408782"/>
            <a:chExt cx="5467350" cy="132397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765" y="4446881"/>
              <a:ext cx="5394126" cy="124967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9962" y="4446882"/>
              <a:ext cx="5391150" cy="1247775"/>
            </a:xfrm>
            <a:custGeom>
              <a:avLst/>
              <a:gdLst/>
              <a:ahLst/>
              <a:cxnLst/>
              <a:rect l="l" t="t" r="r" b="b"/>
              <a:pathLst>
                <a:path w="5391150" h="1247775">
                  <a:moveTo>
                    <a:pt x="5390957" y="1081083"/>
                  </a:moveTo>
                  <a:lnTo>
                    <a:pt x="5379122" y="1120214"/>
                  </a:lnTo>
                  <a:lnTo>
                    <a:pt x="5359868" y="1156278"/>
                  </a:lnTo>
                  <a:lnTo>
                    <a:pt x="5333702" y="1188190"/>
                  </a:lnTo>
                  <a:lnTo>
                    <a:pt x="5301789" y="1214357"/>
                  </a:lnTo>
                  <a:lnTo>
                    <a:pt x="5265725" y="1233611"/>
                  </a:lnTo>
                  <a:lnTo>
                    <a:pt x="5226610" y="1245497"/>
                  </a:lnTo>
                  <a:lnTo>
                    <a:pt x="5203591" y="1247774"/>
                  </a:lnTo>
                </a:path>
                <a:path w="5391150" h="1247775">
                  <a:moveTo>
                    <a:pt x="191480" y="1247774"/>
                  </a:moveTo>
                  <a:lnTo>
                    <a:pt x="129346" y="1233611"/>
                  </a:lnTo>
                  <a:lnTo>
                    <a:pt x="93282" y="1214357"/>
                  </a:lnTo>
                  <a:lnTo>
                    <a:pt x="61369" y="1188190"/>
                  </a:lnTo>
                  <a:lnTo>
                    <a:pt x="35203" y="1156278"/>
                  </a:lnTo>
                  <a:lnTo>
                    <a:pt x="15949" y="1120214"/>
                  </a:lnTo>
                  <a:lnTo>
                    <a:pt x="4063" y="1081098"/>
                  </a:lnTo>
                  <a:lnTo>
                    <a:pt x="0" y="1040030"/>
                  </a:lnTo>
                  <a:lnTo>
                    <a:pt x="0" y="209529"/>
                  </a:lnTo>
                  <a:lnTo>
                    <a:pt x="4063" y="168461"/>
                  </a:lnTo>
                  <a:lnTo>
                    <a:pt x="15949" y="129346"/>
                  </a:lnTo>
                  <a:lnTo>
                    <a:pt x="35203" y="93282"/>
                  </a:lnTo>
                  <a:lnTo>
                    <a:pt x="61370" y="61369"/>
                  </a:lnTo>
                  <a:lnTo>
                    <a:pt x="93282" y="35203"/>
                  </a:lnTo>
                  <a:lnTo>
                    <a:pt x="129346" y="15949"/>
                  </a:lnTo>
                  <a:lnTo>
                    <a:pt x="168461" y="4063"/>
                  </a:lnTo>
                  <a:lnTo>
                    <a:pt x="209530" y="0"/>
                  </a:lnTo>
                  <a:lnTo>
                    <a:pt x="5185542" y="0"/>
                  </a:lnTo>
                  <a:lnTo>
                    <a:pt x="5226610" y="4063"/>
                  </a:lnTo>
                  <a:lnTo>
                    <a:pt x="5265725" y="15949"/>
                  </a:lnTo>
                  <a:lnTo>
                    <a:pt x="5301789" y="35203"/>
                  </a:lnTo>
                  <a:lnTo>
                    <a:pt x="5333702" y="61369"/>
                  </a:lnTo>
                  <a:lnTo>
                    <a:pt x="5359868" y="93282"/>
                  </a:lnTo>
                  <a:lnTo>
                    <a:pt x="5379122" y="129346"/>
                  </a:lnTo>
                  <a:lnTo>
                    <a:pt x="5390957" y="168477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64687" y="4514820"/>
            <a:ext cx="4605655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1655" marR="5080" indent="-1799589">
              <a:lnSpc>
                <a:spcPct val="116100"/>
              </a:lnSpc>
              <a:spcBef>
                <a:spcPts val="100"/>
              </a:spcBef>
            </a:pPr>
            <a:r>
              <a:rPr dirty="0" sz="2800" spc="-90">
                <a:latin typeface="Georgia"/>
                <a:cs typeface="Georgia"/>
              </a:rPr>
              <a:t>Average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Teacher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Experience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— </a:t>
            </a:r>
            <a:r>
              <a:rPr dirty="0" sz="2800" spc="-30">
                <a:latin typeface="Georgia"/>
                <a:cs typeface="Georgia"/>
              </a:rPr>
              <a:t>12.47%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08734" y="4559161"/>
            <a:ext cx="5648325" cy="971550"/>
            <a:chOff x="6108734" y="4559161"/>
            <a:chExt cx="5648325" cy="97155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6834" y="4597261"/>
              <a:ext cx="5572567" cy="89849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146834" y="4597261"/>
              <a:ext cx="5572125" cy="895350"/>
            </a:xfrm>
            <a:custGeom>
              <a:avLst/>
              <a:gdLst/>
              <a:ahLst/>
              <a:cxnLst/>
              <a:rect l="l" t="t" r="r" b="b"/>
              <a:pathLst>
                <a:path w="5572125" h="895350">
                  <a:moveTo>
                    <a:pt x="5572124" y="691935"/>
                  </a:moveTo>
                  <a:lnTo>
                    <a:pt x="5568358" y="729999"/>
                  </a:lnTo>
                  <a:lnTo>
                    <a:pt x="5556471" y="769118"/>
                  </a:lnTo>
                  <a:lnTo>
                    <a:pt x="5537215" y="805184"/>
                  </a:lnTo>
                  <a:lnTo>
                    <a:pt x="5511047" y="837099"/>
                  </a:lnTo>
                  <a:lnTo>
                    <a:pt x="5479132" y="863267"/>
                  </a:lnTo>
                  <a:lnTo>
                    <a:pt x="5443066" y="882522"/>
                  </a:lnTo>
                  <a:lnTo>
                    <a:pt x="5403947" y="894409"/>
                  </a:lnTo>
                  <a:lnTo>
                    <a:pt x="5394446" y="895349"/>
                  </a:lnTo>
                </a:path>
                <a:path w="5572125" h="895350">
                  <a:moveTo>
                    <a:pt x="177975" y="895349"/>
                  </a:moveTo>
                  <a:lnTo>
                    <a:pt x="129355" y="882522"/>
                  </a:lnTo>
                  <a:lnTo>
                    <a:pt x="93288" y="863267"/>
                  </a:lnTo>
                  <a:lnTo>
                    <a:pt x="61373" y="837099"/>
                  </a:lnTo>
                  <a:lnTo>
                    <a:pt x="35205" y="805184"/>
                  </a:lnTo>
                  <a:lnTo>
                    <a:pt x="15950" y="769118"/>
                  </a:lnTo>
                  <a:lnTo>
                    <a:pt x="4063" y="729999"/>
                  </a:lnTo>
                  <a:lnTo>
                    <a:pt x="0" y="688928"/>
                  </a:lnTo>
                  <a:lnTo>
                    <a:pt x="0" y="209546"/>
                  </a:lnTo>
                  <a:lnTo>
                    <a:pt x="4063" y="168475"/>
                  </a:lnTo>
                  <a:lnTo>
                    <a:pt x="15950" y="129357"/>
                  </a:lnTo>
                  <a:lnTo>
                    <a:pt x="35205" y="93290"/>
                  </a:lnTo>
                  <a:lnTo>
                    <a:pt x="61374" y="61375"/>
                  </a:lnTo>
                  <a:lnTo>
                    <a:pt x="93288" y="35207"/>
                  </a:lnTo>
                  <a:lnTo>
                    <a:pt x="129355" y="15952"/>
                  </a:lnTo>
                  <a:lnTo>
                    <a:pt x="168473" y="4065"/>
                  </a:lnTo>
                  <a:lnTo>
                    <a:pt x="209544" y="0"/>
                  </a:lnTo>
                  <a:lnTo>
                    <a:pt x="5362877" y="0"/>
                  </a:lnTo>
                  <a:lnTo>
                    <a:pt x="5403947" y="4065"/>
                  </a:lnTo>
                  <a:lnTo>
                    <a:pt x="5443066" y="15952"/>
                  </a:lnTo>
                  <a:lnTo>
                    <a:pt x="5479132" y="35207"/>
                  </a:lnTo>
                  <a:lnTo>
                    <a:pt x="5511047" y="61375"/>
                  </a:lnTo>
                  <a:lnTo>
                    <a:pt x="5537215" y="93290"/>
                  </a:lnTo>
                  <a:lnTo>
                    <a:pt x="5556471" y="129357"/>
                  </a:lnTo>
                  <a:lnTo>
                    <a:pt x="5568358" y="168475"/>
                  </a:lnTo>
                  <a:lnTo>
                    <a:pt x="5572124" y="20653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140640" y="4800493"/>
            <a:ext cx="35852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5">
                <a:latin typeface="Georgia"/>
                <a:cs typeface="Georgia"/>
              </a:rPr>
              <a:t>Teacher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35">
                <a:latin typeface="Georgia"/>
                <a:cs typeface="Georgia"/>
              </a:rPr>
              <a:t>Count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—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114">
                <a:latin typeface="Georgia"/>
                <a:cs typeface="Georgia"/>
              </a:rPr>
              <a:t>9.88%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2334435" y="3020223"/>
            <a:ext cx="5608955" cy="971550"/>
            <a:chOff x="12334435" y="3020223"/>
            <a:chExt cx="5608955" cy="97155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72534" y="3058325"/>
              <a:ext cx="5531361" cy="89849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2372535" y="3058323"/>
              <a:ext cx="5532755" cy="895350"/>
            </a:xfrm>
            <a:custGeom>
              <a:avLst/>
              <a:gdLst/>
              <a:ahLst/>
              <a:cxnLst/>
              <a:rect l="l" t="t" r="r" b="b"/>
              <a:pathLst>
                <a:path w="5532755" h="895350">
                  <a:moveTo>
                    <a:pt x="177761" y="895351"/>
                  </a:moveTo>
                  <a:lnTo>
                    <a:pt x="129375" y="882556"/>
                  </a:lnTo>
                  <a:lnTo>
                    <a:pt x="93301" y="863299"/>
                  </a:lnTo>
                  <a:lnTo>
                    <a:pt x="61380" y="837127"/>
                  </a:lnTo>
                  <a:lnTo>
                    <a:pt x="35207" y="805206"/>
                  </a:lnTo>
                  <a:lnTo>
                    <a:pt x="15949" y="769133"/>
                  </a:lnTo>
                  <a:lnTo>
                    <a:pt x="4062" y="730007"/>
                  </a:lnTo>
                  <a:lnTo>
                    <a:pt x="0" y="688932"/>
                  </a:lnTo>
                  <a:lnTo>
                    <a:pt x="0" y="209544"/>
                  </a:lnTo>
                  <a:lnTo>
                    <a:pt x="4067" y="168467"/>
                  </a:lnTo>
                  <a:lnTo>
                    <a:pt x="15959" y="129345"/>
                  </a:lnTo>
                  <a:lnTo>
                    <a:pt x="35221" y="93276"/>
                  </a:lnTo>
                  <a:lnTo>
                    <a:pt x="61396" y="61362"/>
                  </a:lnTo>
                  <a:lnTo>
                    <a:pt x="93317" y="35196"/>
                  </a:lnTo>
                  <a:lnTo>
                    <a:pt x="129387" y="15945"/>
                  </a:lnTo>
                  <a:lnTo>
                    <a:pt x="168508" y="4063"/>
                  </a:lnTo>
                  <a:lnTo>
                    <a:pt x="209579" y="0"/>
                  </a:lnTo>
                  <a:lnTo>
                    <a:pt x="5322658" y="2"/>
                  </a:lnTo>
                  <a:lnTo>
                    <a:pt x="5363737" y="4043"/>
                  </a:lnTo>
                  <a:lnTo>
                    <a:pt x="5402866" y="15918"/>
                  </a:lnTo>
                  <a:lnTo>
                    <a:pt x="5438948" y="35167"/>
                  </a:lnTo>
                  <a:lnTo>
                    <a:pt x="5470880" y="61336"/>
                  </a:lnTo>
                  <a:lnTo>
                    <a:pt x="5497064" y="93256"/>
                  </a:lnTo>
                  <a:lnTo>
                    <a:pt x="5516332" y="129334"/>
                  </a:lnTo>
                  <a:lnTo>
                    <a:pt x="5528227" y="168468"/>
                  </a:lnTo>
                  <a:lnTo>
                    <a:pt x="5532291" y="209548"/>
                  </a:lnTo>
                  <a:lnTo>
                    <a:pt x="5532292" y="688941"/>
                  </a:lnTo>
                  <a:lnTo>
                    <a:pt x="5528225" y="730029"/>
                  </a:lnTo>
                  <a:lnTo>
                    <a:pt x="5516328" y="769162"/>
                  </a:lnTo>
                  <a:lnTo>
                    <a:pt x="5497058" y="805238"/>
                  </a:lnTo>
                  <a:lnTo>
                    <a:pt x="5470873" y="837156"/>
                  </a:lnTo>
                  <a:lnTo>
                    <a:pt x="5438941" y="863322"/>
                  </a:lnTo>
                  <a:lnTo>
                    <a:pt x="5402860" y="882568"/>
                  </a:lnTo>
                  <a:lnTo>
                    <a:pt x="5363732" y="894442"/>
                  </a:lnTo>
                  <a:lnTo>
                    <a:pt x="5354527" y="895325"/>
                  </a:lnTo>
                </a:path>
              </a:pathLst>
            </a:custGeom>
            <a:ln w="762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2744983" y="3261557"/>
            <a:ext cx="47872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90">
                <a:latin typeface="Georgia"/>
                <a:cs typeface="Georgia"/>
              </a:rPr>
              <a:t>Average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Teacher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120">
                <a:latin typeface="Georgia"/>
                <a:cs typeface="Georgia"/>
              </a:rPr>
              <a:t>Rating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—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110">
                <a:latin typeface="Georgia"/>
                <a:cs typeface="Georgia"/>
              </a:rPr>
              <a:t>8.61%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212412" y="1385324"/>
            <a:ext cx="848994" cy="848994"/>
          </a:xfrm>
          <a:custGeom>
            <a:avLst/>
            <a:gdLst/>
            <a:ahLst/>
            <a:cxnLst/>
            <a:rect l="l" t="t" r="r" b="b"/>
            <a:pathLst>
              <a:path w="848994" h="848994">
                <a:moveTo>
                  <a:pt x="764224" y="848837"/>
                </a:moveTo>
                <a:lnTo>
                  <a:pt x="721037" y="842804"/>
                </a:lnTo>
                <a:lnTo>
                  <a:pt x="671097" y="823835"/>
                </a:lnTo>
                <a:lnTo>
                  <a:pt x="615435" y="790901"/>
                </a:lnTo>
                <a:lnTo>
                  <a:pt x="555080" y="742969"/>
                </a:lnTo>
                <a:lnTo>
                  <a:pt x="523466" y="713058"/>
                </a:lnTo>
                <a:lnTo>
                  <a:pt x="491065" y="679011"/>
                </a:lnTo>
                <a:lnTo>
                  <a:pt x="458006" y="640700"/>
                </a:lnTo>
                <a:lnTo>
                  <a:pt x="424419" y="597995"/>
                </a:lnTo>
                <a:lnTo>
                  <a:pt x="390831" y="640700"/>
                </a:lnTo>
                <a:lnTo>
                  <a:pt x="357772" y="679011"/>
                </a:lnTo>
                <a:lnTo>
                  <a:pt x="325371" y="713058"/>
                </a:lnTo>
                <a:lnTo>
                  <a:pt x="293757" y="742969"/>
                </a:lnTo>
                <a:lnTo>
                  <a:pt x="263058" y="768874"/>
                </a:lnTo>
                <a:lnTo>
                  <a:pt x="204921" y="809178"/>
                </a:lnTo>
                <a:lnTo>
                  <a:pt x="151990" y="835001"/>
                </a:lnTo>
                <a:lnTo>
                  <a:pt x="105298" y="847373"/>
                </a:lnTo>
                <a:lnTo>
                  <a:pt x="84613" y="848837"/>
                </a:lnTo>
                <a:lnTo>
                  <a:pt x="65873" y="847325"/>
                </a:lnTo>
                <a:lnTo>
                  <a:pt x="22618" y="826219"/>
                </a:lnTo>
                <a:lnTo>
                  <a:pt x="1512" y="782964"/>
                </a:lnTo>
                <a:lnTo>
                  <a:pt x="0" y="764224"/>
                </a:lnTo>
                <a:lnTo>
                  <a:pt x="1464" y="743539"/>
                </a:lnTo>
                <a:lnTo>
                  <a:pt x="13836" y="696847"/>
                </a:lnTo>
                <a:lnTo>
                  <a:pt x="39659" y="643916"/>
                </a:lnTo>
                <a:lnTo>
                  <a:pt x="79963" y="585779"/>
                </a:lnTo>
                <a:lnTo>
                  <a:pt x="105868" y="555080"/>
                </a:lnTo>
                <a:lnTo>
                  <a:pt x="135779" y="523466"/>
                </a:lnTo>
                <a:lnTo>
                  <a:pt x="169826" y="491065"/>
                </a:lnTo>
                <a:lnTo>
                  <a:pt x="208137" y="458006"/>
                </a:lnTo>
                <a:lnTo>
                  <a:pt x="250842" y="424419"/>
                </a:lnTo>
                <a:lnTo>
                  <a:pt x="208137" y="390831"/>
                </a:lnTo>
                <a:lnTo>
                  <a:pt x="169826" y="357772"/>
                </a:lnTo>
                <a:lnTo>
                  <a:pt x="135779" y="325371"/>
                </a:lnTo>
                <a:lnTo>
                  <a:pt x="105868" y="293757"/>
                </a:lnTo>
                <a:lnTo>
                  <a:pt x="79963" y="263058"/>
                </a:lnTo>
                <a:lnTo>
                  <a:pt x="39659" y="204921"/>
                </a:lnTo>
                <a:lnTo>
                  <a:pt x="13836" y="151991"/>
                </a:lnTo>
                <a:lnTo>
                  <a:pt x="1464" y="105298"/>
                </a:lnTo>
                <a:lnTo>
                  <a:pt x="0" y="84613"/>
                </a:lnTo>
                <a:lnTo>
                  <a:pt x="1512" y="65873"/>
                </a:lnTo>
                <a:lnTo>
                  <a:pt x="22618" y="22618"/>
                </a:lnTo>
                <a:lnTo>
                  <a:pt x="65873" y="1512"/>
                </a:lnTo>
                <a:lnTo>
                  <a:pt x="84613" y="0"/>
                </a:lnTo>
                <a:lnTo>
                  <a:pt x="105298" y="1464"/>
                </a:lnTo>
                <a:lnTo>
                  <a:pt x="151990" y="13836"/>
                </a:lnTo>
                <a:lnTo>
                  <a:pt x="204921" y="39659"/>
                </a:lnTo>
                <a:lnTo>
                  <a:pt x="263058" y="79963"/>
                </a:lnTo>
                <a:lnTo>
                  <a:pt x="293757" y="105868"/>
                </a:lnTo>
                <a:lnTo>
                  <a:pt x="325371" y="135779"/>
                </a:lnTo>
                <a:lnTo>
                  <a:pt x="357772" y="169826"/>
                </a:lnTo>
                <a:lnTo>
                  <a:pt x="390831" y="208137"/>
                </a:lnTo>
                <a:lnTo>
                  <a:pt x="424419" y="250842"/>
                </a:lnTo>
                <a:lnTo>
                  <a:pt x="458006" y="208137"/>
                </a:lnTo>
                <a:lnTo>
                  <a:pt x="491065" y="169826"/>
                </a:lnTo>
                <a:lnTo>
                  <a:pt x="523466" y="135779"/>
                </a:lnTo>
                <a:lnTo>
                  <a:pt x="555080" y="105868"/>
                </a:lnTo>
                <a:lnTo>
                  <a:pt x="585779" y="79963"/>
                </a:lnTo>
                <a:lnTo>
                  <a:pt x="643917" y="39659"/>
                </a:lnTo>
                <a:lnTo>
                  <a:pt x="696847" y="13836"/>
                </a:lnTo>
                <a:lnTo>
                  <a:pt x="743539" y="1464"/>
                </a:lnTo>
                <a:lnTo>
                  <a:pt x="764224" y="0"/>
                </a:lnTo>
                <a:lnTo>
                  <a:pt x="782964" y="1512"/>
                </a:lnTo>
                <a:lnTo>
                  <a:pt x="826219" y="22618"/>
                </a:lnTo>
                <a:lnTo>
                  <a:pt x="847325" y="65873"/>
                </a:lnTo>
                <a:lnTo>
                  <a:pt x="848838" y="84613"/>
                </a:lnTo>
                <a:lnTo>
                  <a:pt x="847374" y="105298"/>
                </a:lnTo>
                <a:lnTo>
                  <a:pt x="835001" y="151991"/>
                </a:lnTo>
                <a:lnTo>
                  <a:pt x="809178" y="204921"/>
                </a:lnTo>
                <a:lnTo>
                  <a:pt x="768874" y="263058"/>
                </a:lnTo>
                <a:lnTo>
                  <a:pt x="742969" y="293757"/>
                </a:lnTo>
                <a:lnTo>
                  <a:pt x="713058" y="325371"/>
                </a:lnTo>
                <a:lnTo>
                  <a:pt x="679011" y="357772"/>
                </a:lnTo>
                <a:lnTo>
                  <a:pt x="640700" y="390831"/>
                </a:lnTo>
                <a:lnTo>
                  <a:pt x="597995" y="424419"/>
                </a:lnTo>
                <a:lnTo>
                  <a:pt x="640700" y="458006"/>
                </a:lnTo>
                <a:lnTo>
                  <a:pt x="679011" y="491065"/>
                </a:lnTo>
                <a:lnTo>
                  <a:pt x="713058" y="523466"/>
                </a:lnTo>
                <a:lnTo>
                  <a:pt x="742969" y="555080"/>
                </a:lnTo>
                <a:lnTo>
                  <a:pt x="768874" y="585779"/>
                </a:lnTo>
                <a:lnTo>
                  <a:pt x="809178" y="643916"/>
                </a:lnTo>
                <a:lnTo>
                  <a:pt x="835001" y="696847"/>
                </a:lnTo>
                <a:lnTo>
                  <a:pt x="847374" y="743539"/>
                </a:lnTo>
                <a:lnTo>
                  <a:pt x="848838" y="764224"/>
                </a:lnTo>
                <a:lnTo>
                  <a:pt x="847325" y="782964"/>
                </a:lnTo>
                <a:lnTo>
                  <a:pt x="826219" y="826219"/>
                </a:lnTo>
                <a:lnTo>
                  <a:pt x="782964" y="847325"/>
                </a:lnTo>
                <a:lnTo>
                  <a:pt x="764224" y="8488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7509" rIns="0" bIns="0" rtlCol="0" vert="horz">
            <a:spAutoFit/>
          </a:bodyPr>
          <a:lstStyle/>
          <a:p>
            <a:pPr marL="1738630">
              <a:lnSpc>
                <a:spcPct val="100000"/>
              </a:lnSpc>
              <a:spcBef>
                <a:spcPts val="100"/>
              </a:spcBef>
            </a:pPr>
            <a:r>
              <a:rPr dirty="0" spc="-560"/>
              <a:t>F</a:t>
            </a:r>
            <a:r>
              <a:rPr dirty="0" spc="-365"/>
              <a:t>e</a:t>
            </a:r>
            <a:r>
              <a:rPr dirty="0" spc="-400"/>
              <a:t>a</a:t>
            </a:r>
            <a:r>
              <a:rPr dirty="0" spc="-320"/>
              <a:t>t</a:t>
            </a:r>
            <a:r>
              <a:rPr dirty="0" spc="-355"/>
              <a:t>u</a:t>
            </a:r>
            <a:r>
              <a:rPr dirty="0" spc="-395"/>
              <a:t>r</a:t>
            </a:r>
            <a:r>
              <a:rPr dirty="0" spc="55"/>
              <a:t>e</a:t>
            </a:r>
            <a:r>
              <a:rPr dirty="0" spc="-620"/>
              <a:t> </a:t>
            </a:r>
            <a:r>
              <a:rPr dirty="0" spc="-305"/>
              <a:t>Importance</a:t>
            </a:r>
          </a:p>
        </p:txBody>
      </p:sp>
      <p:sp>
        <p:nvSpPr>
          <p:cNvPr id="27" name="object 27"/>
          <p:cNvSpPr/>
          <p:nvPr/>
        </p:nvSpPr>
        <p:spPr>
          <a:xfrm>
            <a:off x="3641949" y="7238145"/>
            <a:ext cx="848994" cy="848994"/>
          </a:xfrm>
          <a:custGeom>
            <a:avLst/>
            <a:gdLst/>
            <a:ahLst/>
            <a:cxnLst/>
            <a:rect l="l" t="t" r="r" b="b"/>
            <a:pathLst>
              <a:path w="848995" h="848995">
                <a:moveTo>
                  <a:pt x="764224" y="848837"/>
                </a:moveTo>
                <a:lnTo>
                  <a:pt x="721037" y="842804"/>
                </a:lnTo>
                <a:lnTo>
                  <a:pt x="671097" y="823835"/>
                </a:lnTo>
                <a:lnTo>
                  <a:pt x="615435" y="790901"/>
                </a:lnTo>
                <a:lnTo>
                  <a:pt x="555080" y="742969"/>
                </a:lnTo>
                <a:lnTo>
                  <a:pt x="523466" y="713058"/>
                </a:lnTo>
                <a:lnTo>
                  <a:pt x="491065" y="679011"/>
                </a:lnTo>
                <a:lnTo>
                  <a:pt x="458006" y="640700"/>
                </a:lnTo>
                <a:lnTo>
                  <a:pt x="424419" y="597995"/>
                </a:lnTo>
                <a:lnTo>
                  <a:pt x="390831" y="640700"/>
                </a:lnTo>
                <a:lnTo>
                  <a:pt x="357772" y="679011"/>
                </a:lnTo>
                <a:lnTo>
                  <a:pt x="325371" y="713058"/>
                </a:lnTo>
                <a:lnTo>
                  <a:pt x="293757" y="742969"/>
                </a:lnTo>
                <a:lnTo>
                  <a:pt x="263058" y="768874"/>
                </a:lnTo>
                <a:lnTo>
                  <a:pt x="204921" y="809178"/>
                </a:lnTo>
                <a:lnTo>
                  <a:pt x="151990" y="835001"/>
                </a:lnTo>
                <a:lnTo>
                  <a:pt x="105298" y="847373"/>
                </a:lnTo>
                <a:lnTo>
                  <a:pt x="84613" y="848837"/>
                </a:lnTo>
                <a:lnTo>
                  <a:pt x="65873" y="847325"/>
                </a:lnTo>
                <a:lnTo>
                  <a:pt x="22618" y="826219"/>
                </a:lnTo>
                <a:lnTo>
                  <a:pt x="1512" y="782964"/>
                </a:lnTo>
                <a:lnTo>
                  <a:pt x="0" y="764224"/>
                </a:lnTo>
                <a:lnTo>
                  <a:pt x="1464" y="743539"/>
                </a:lnTo>
                <a:lnTo>
                  <a:pt x="13836" y="696847"/>
                </a:lnTo>
                <a:lnTo>
                  <a:pt x="39659" y="643916"/>
                </a:lnTo>
                <a:lnTo>
                  <a:pt x="79963" y="585779"/>
                </a:lnTo>
                <a:lnTo>
                  <a:pt x="105868" y="555080"/>
                </a:lnTo>
                <a:lnTo>
                  <a:pt x="135779" y="523466"/>
                </a:lnTo>
                <a:lnTo>
                  <a:pt x="169826" y="491065"/>
                </a:lnTo>
                <a:lnTo>
                  <a:pt x="208137" y="458006"/>
                </a:lnTo>
                <a:lnTo>
                  <a:pt x="250842" y="424419"/>
                </a:lnTo>
                <a:lnTo>
                  <a:pt x="208137" y="390831"/>
                </a:lnTo>
                <a:lnTo>
                  <a:pt x="169826" y="357772"/>
                </a:lnTo>
                <a:lnTo>
                  <a:pt x="135779" y="325371"/>
                </a:lnTo>
                <a:lnTo>
                  <a:pt x="105868" y="293757"/>
                </a:lnTo>
                <a:lnTo>
                  <a:pt x="79963" y="263058"/>
                </a:lnTo>
                <a:lnTo>
                  <a:pt x="39659" y="204921"/>
                </a:lnTo>
                <a:lnTo>
                  <a:pt x="13836" y="151991"/>
                </a:lnTo>
                <a:lnTo>
                  <a:pt x="1464" y="105298"/>
                </a:lnTo>
                <a:lnTo>
                  <a:pt x="0" y="84613"/>
                </a:lnTo>
                <a:lnTo>
                  <a:pt x="1512" y="65873"/>
                </a:lnTo>
                <a:lnTo>
                  <a:pt x="22618" y="22618"/>
                </a:lnTo>
                <a:lnTo>
                  <a:pt x="65873" y="1512"/>
                </a:lnTo>
                <a:lnTo>
                  <a:pt x="84613" y="0"/>
                </a:lnTo>
                <a:lnTo>
                  <a:pt x="105298" y="1464"/>
                </a:lnTo>
                <a:lnTo>
                  <a:pt x="151990" y="13836"/>
                </a:lnTo>
                <a:lnTo>
                  <a:pt x="204921" y="39659"/>
                </a:lnTo>
                <a:lnTo>
                  <a:pt x="263058" y="79963"/>
                </a:lnTo>
                <a:lnTo>
                  <a:pt x="293757" y="105868"/>
                </a:lnTo>
                <a:lnTo>
                  <a:pt x="325371" y="135779"/>
                </a:lnTo>
                <a:lnTo>
                  <a:pt x="357772" y="169826"/>
                </a:lnTo>
                <a:lnTo>
                  <a:pt x="390831" y="208137"/>
                </a:lnTo>
                <a:lnTo>
                  <a:pt x="424419" y="250842"/>
                </a:lnTo>
                <a:lnTo>
                  <a:pt x="458006" y="208137"/>
                </a:lnTo>
                <a:lnTo>
                  <a:pt x="491065" y="169826"/>
                </a:lnTo>
                <a:lnTo>
                  <a:pt x="523466" y="135779"/>
                </a:lnTo>
                <a:lnTo>
                  <a:pt x="555080" y="105868"/>
                </a:lnTo>
                <a:lnTo>
                  <a:pt x="585779" y="79963"/>
                </a:lnTo>
                <a:lnTo>
                  <a:pt x="643917" y="39659"/>
                </a:lnTo>
                <a:lnTo>
                  <a:pt x="696847" y="13836"/>
                </a:lnTo>
                <a:lnTo>
                  <a:pt x="743539" y="1464"/>
                </a:lnTo>
                <a:lnTo>
                  <a:pt x="764224" y="0"/>
                </a:lnTo>
                <a:lnTo>
                  <a:pt x="782964" y="1512"/>
                </a:lnTo>
                <a:lnTo>
                  <a:pt x="826219" y="22618"/>
                </a:lnTo>
                <a:lnTo>
                  <a:pt x="847325" y="65873"/>
                </a:lnTo>
                <a:lnTo>
                  <a:pt x="848838" y="84613"/>
                </a:lnTo>
                <a:lnTo>
                  <a:pt x="847374" y="105298"/>
                </a:lnTo>
                <a:lnTo>
                  <a:pt x="835001" y="151991"/>
                </a:lnTo>
                <a:lnTo>
                  <a:pt x="809178" y="204921"/>
                </a:lnTo>
                <a:lnTo>
                  <a:pt x="768874" y="263058"/>
                </a:lnTo>
                <a:lnTo>
                  <a:pt x="742969" y="293757"/>
                </a:lnTo>
                <a:lnTo>
                  <a:pt x="713058" y="325371"/>
                </a:lnTo>
                <a:lnTo>
                  <a:pt x="679011" y="357772"/>
                </a:lnTo>
                <a:lnTo>
                  <a:pt x="640700" y="390831"/>
                </a:lnTo>
                <a:lnTo>
                  <a:pt x="597995" y="424419"/>
                </a:lnTo>
                <a:lnTo>
                  <a:pt x="640700" y="458006"/>
                </a:lnTo>
                <a:lnTo>
                  <a:pt x="679011" y="491065"/>
                </a:lnTo>
                <a:lnTo>
                  <a:pt x="713058" y="523466"/>
                </a:lnTo>
                <a:lnTo>
                  <a:pt x="742969" y="555080"/>
                </a:lnTo>
                <a:lnTo>
                  <a:pt x="768874" y="585779"/>
                </a:lnTo>
                <a:lnTo>
                  <a:pt x="809178" y="643916"/>
                </a:lnTo>
                <a:lnTo>
                  <a:pt x="835001" y="696847"/>
                </a:lnTo>
                <a:lnTo>
                  <a:pt x="847374" y="743539"/>
                </a:lnTo>
                <a:lnTo>
                  <a:pt x="848838" y="764224"/>
                </a:lnTo>
                <a:lnTo>
                  <a:pt x="847325" y="782964"/>
                </a:lnTo>
                <a:lnTo>
                  <a:pt x="826219" y="826219"/>
                </a:lnTo>
                <a:lnTo>
                  <a:pt x="782964" y="847325"/>
                </a:lnTo>
                <a:lnTo>
                  <a:pt x="764224" y="8488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12496056" y="4488593"/>
            <a:ext cx="5648325" cy="971550"/>
            <a:chOff x="12496056" y="4488593"/>
            <a:chExt cx="5648325" cy="971550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34156" y="4526693"/>
              <a:ext cx="5572568" cy="89849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2534156" y="4526693"/>
              <a:ext cx="5572125" cy="895350"/>
            </a:xfrm>
            <a:custGeom>
              <a:avLst/>
              <a:gdLst/>
              <a:ahLst/>
              <a:cxnLst/>
              <a:rect l="l" t="t" r="r" b="b"/>
              <a:pathLst>
                <a:path w="5572125" h="895350">
                  <a:moveTo>
                    <a:pt x="5572123" y="691938"/>
                  </a:moveTo>
                  <a:lnTo>
                    <a:pt x="5568358" y="730000"/>
                  </a:lnTo>
                  <a:lnTo>
                    <a:pt x="5556471" y="769118"/>
                  </a:lnTo>
                  <a:lnTo>
                    <a:pt x="5537216" y="805184"/>
                  </a:lnTo>
                  <a:lnTo>
                    <a:pt x="5511048" y="837099"/>
                  </a:lnTo>
                  <a:lnTo>
                    <a:pt x="5479132" y="863267"/>
                  </a:lnTo>
                  <a:lnTo>
                    <a:pt x="5443066" y="882523"/>
                  </a:lnTo>
                  <a:lnTo>
                    <a:pt x="5403947" y="894410"/>
                  </a:lnTo>
                  <a:lnTo>
                    <a:pt x="5394447" y="895349"/>
                  </a:lnTo>
                </a:path>
                <a:path w="5572125" h="895350">
                  <a:moveTo>
                    <a:pt x="177974" y="895349"/>
                  </a:moveTo>
                  <a:lnTo>
                    <a:pt x="129355" y="882522"/>
                  </a:lnTo>
                  <a:lnTo>
                    <a:pt x="93288" y="863267"/>
                  </a:lnTo>
                  <a:lnTo>
                    <a:pt x="61373" y="837099"/>
                  </a:lnTo>
                  <a:lnTo>
                    <a:pt x="35205" y="805184"/>
                  </a:lnTo>
                  <a:lnTo>
                    <a:pt x="15950" y="769118"/>
                  </a:lnTo>
                  <a:lnTo>
                    <a:pt x="4063" y="729999"/>
                  </a:lnTo>
                  <a:lnTo>
                    <a:pt x="0" y="688928"/>
                  </a:lnTo>
                  <a:lnTo>
                    <a:pt x="0" y="209546"/>
                  </a:lnTo>
                  <a:lnTo>
                    <a:pt x="4063" y="168475"/>
                  </a:lnTo>
                  <a:lnTo>
                    <a:pt x="15950" y="129357"/>
                  </a:lnTo>
                  <a:lnTo>
                    <a:pt x="35205" y="93290"/>
                  </a:lnTo>
                  <a:lnTo>
                    <a:pt x="61373" y="61375"/>
                  </a:lnTo>
                  <a:lnTo>
                    <a:pt x="93288" y="35207"/>
                  </a:lnTo>
                  <a:lnTo>
                    <a:pt x="129355" y="15952"/>
                  </a:lnTo>
                  <a:lnTo>
                    <a:pt x="168473" y="4065"/>
                  </a:lnTo>
                  <a:lnTo>
                    <a:pt x="209544" y="0"/>
                  </a:lnTo>
                  <a:lnTo>
                    <a:pt x="5362877" y="0"/>
                  </a:lnTo>
                  <a:lnTo>
                    <a:pt x="5403947" y="4065"/>
                  </a:lnTo>
                  <a:lnTo>
                    <a:pt x="5443066" y="15952"/>
                  </a:lnTo>
                  <a:lnTo>
                    <a:pt x="5479132" y="35207"/>
                  </a:lnTo>
                  <a:lnTo>
                    <a:pt x="5511048" y="61375"/>
                  </a:lnTo>
                  <a:lnTo>
                    <a:pt x="5537216" y="93290"/>
                  </a:lnTo>
                  <a:lnTo>
                    <a:pt x="5556471" y="129356"/>
                  </a:lnTo>
                  <a:lnTo>
                    <a:pt x="5568358" y="168475"/>
                  </a:lnTo>
                  <a:lnTo>
                    <a:pt x="5572123" y="206536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3672325" y="4729924"/>
            <a:ext cx="329628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0">
                <a:latin typeface="Georgia"/>
                <a:cs typeface="Georgia"/>
              </a:rPr>
              <a:t>Course</a:t>
            </a:r>
            <a:r>
              <a:rPr dirty="0" sz="2800" spc="-215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Price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—</a:t>
            </a:r>
            <a:r>
              <a:rPr dirty="0" sz="2800" spc="-21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5.60%</a:t>
            </a:r>
            <a:endParaRPr sz="2800">
              <a:latin typeface="Georgia"/>
              <a:cs typeface="Georgi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108734" y="6234638"/>
            <a:ext cx="5648325" cy="971550"/>
            <a:chOff x="6108734" y="6234638"/>
            <a:chExt cx="5648325" cy="971550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6834" y="6272738"/>
              <a:ext cx="5572567" cy="89849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146834" y="6272738"/>
              <a:ext cx="5572125" cy="895350"/>
            </a:xfrm>
            <a:custGeom>
              <a:avLst/>
              <a:gdLst/>
              <a:ahLst/>
              <a:cxnLst/>
              <a:rect l="l" t="t" r="r" b="b"/>
              <a:pathLst>
                <a:path w="5572125" h="895350">
                  <a:moveTo>
                    <a:pt x="5572124" y="691935"/>
                  </a:moveTo>
                  <a:lnTo>
                    <a:pt x="5568358" y="729999"/>
                  </a:lnTo>
                  <a:lnTo>
                    <a:pt x="5556471" y="769118"/>
                  </a:lnTo>
                  <a:lnTo>
                    <a:pt x="5537215" y="805184"/>
                  </a:lnTo>
                  <a:lnTo>
                    <a:pt x="5511047" y="837099"/>
                  </a:lnTo>
                  <a:lnTo>
                    <a:pt x="5479132" y="863267"/>
                  </a:lnTo>
                  <a:lnTo>
                    <a:pt x="5443066" y="882522"/>
                  </a:lnTo>
                  <a:lnTo>
                    <a:pt x="5403947" y="894409"/>
                  </a:lnTo>
                  <a:lnTo>
                    <a:pt x="5394444" y="895349"/>
                  </a:lnTo>
                </a:path>
                <a:path w="5572125" h="895350">
                  <a:moveTo>
                    <a:pt x="177976" y="895350"/>
                  </a:moveTo>
                  <a:lnTo>
                    <a:pt x="129355" y="882522"/>
                  </a:lnTo>
                  <a:lnTo>
                    <a:pt x="93289" y="863267"/>
                  </a:lnTo>
                  <a:lnTo>
                    <a:pt x="61373" y="837099"/>
                  </a:lnTo>
                  <a:lnTo>
                    <a:pt x="35205" y="805184"/>
                  </a:lnTo>
                  <a:lnTo>
                    <a:pt x="15950" y="769118"/>
                  </a:lnTo>
                  <a:lnTo>
                    <a:pt x="4063" y="729999"/>
                  </a:lnTo>
                  <a:lnTo>
                    <a:pt x="0" y="688928"/>
                  </a:lnTo>
                  <a:lnTo>
                    <a:pt x="0" y="209546"/>
                  </a:lnTo>
                  <a:lnTo>
                    <a:pt x="4063" y="168475"/>
                  </a:lnTo>
                  <a:lnTo>
                    <a:pt x="15950" y="129356"/>
                  </a:lnTo>
                  <a:lnTo>
                    <a:pt x="35205" y="93290"/>
                  </a:lnTo>
                  <a:lnTo>
                    <a:pt x="61374" y="61375"/>
                  </a:lnTo>
                  <a:lnTo>
                    <a:pt x="93289" y="35207"/>
                  </a:lnTo>
                  <a:lnTo>
                    <a:pt x="129355" y="15952"/>
                  </a:lnTo>
                  <a:lnTo>
                    <a:pt x="168473" y="4065"/>
                  </a:lnTo>
                  <a:lnTo>
                    <a:pt x="209544" y="0"/>
                  </a:lnTo>
                  <a:lnTo>
                    <a:pt x="5362877" y="0"/>
                  </a:lnTo>
                  <a:lnTo>
                    <a:pt x="5403948" y="4065"/>
                  </a:lnTo>
                  <a:lnTo>
                    <a:pt x="5443066" y="15952"/>
                  </a:lnTo>
                  <a:lnTo>
                    <a:pt x="5479132" y="35207"/>
                  </a:lnTo>
                  <a:lnTo>
                    <a:pt x="5511047" y="61375"/>
                  </a:lnTo>
                  <a:lnTo>
                    <a:pt x="5537215" y="93290"/>
                  </a:lnTo>
                  <a:lnTo>
                    <a:pt x="5556471" y="129356"/>
                  </a:lnTo>
                  <a:lnTo>
                    <a:pt x="5568358" y="168475"/>
                  </a:lnTo>
                  <a:lnTo>
                    <a:pt x="5572124" y="206539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6574796" y="6475970"/>
            <a:ext cx="47167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90">
                <a:latin typeface="Georgia"/>
                <a:cs typeface="Georgia"/>
              </a:rPr>
              <a:t>Data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30">
                <a:latin typeface="Georgia"/>
                <a:cs typeface="Georgia"/>
              </a:rPr>
              <a:t>Science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30">
                <a:latin typeface="Georgia"/>
                <a:cs typeface="Georgia"/>
              </a:rPr>
              <a:t>Category</a:t>
            </a:r>
            <a:r>
              <a:rPr dirty="0" sz="2800" spc="-20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—</a:t>
            </a:r>
            <a:r>
              <a:rPr dirty="0" sz="2800" spc="-204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5.28%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220200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028699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866978" y="2239040"/>
            <a:ext cx="3188970" cy="5227320"/>
          </a:xfrm>
          <a:custGeom>
            <a:avLst/>
            <a:gdLst/>
            <a:ahLst/>
            <a:cxnLst/>
            <a:rect l="l" t="t" r="r" b="b"/>
            <a:pathLst>
              <a:path w="3188969" h="5227320">
                <a:moveTo>
                  <a:pt x="3188523" y="3118674"/>
                </a:moveTo>
                <a:lnTo>
                  <a:pt x="3184827" y="3189779"/>
                </a:lnTo>
                <a:lnTo>
                  <a:pt x="3171163" y="3258221"/>
                </a:lnTo>
                <a:lnTo>
                  <a:pt x="3147243" y="3323639"/>
                </a:lnTo>
                <a:lnTo>
                  <a:pt x="3128489" y="3360141"/>
                </a:lnTo>
                <a:lnTo>
                  <a:pt x="3106562" y="3394643"/>
                </a:lnTo>
                <a:lnTo>
                  <a:pt x="3081557" y="3427144"/>
                </a:lnTo>
                <a:lnTo>
                  <a:pt x="3053568" y="3457640"/>
                </a:lnTo>
                <a:lnTo>
                  <a:pt x="3022688" y="3486129"/>
                </a:lnTo>
                <a:lnTo>
                  <a:pt x="2989011" y="3512609"/>
                </a:lnTo>
                <a:lnTo>
                  <a:pt x="2952632" y="3537075"/>
                </a:lnTo>
                <a:lnTo>
                  <a:pt x="2913644" y="3559526"/>
                </a:lnTo>
                <a:lnTo>
                  <a:pt x="2872142" y="3579959"/>
                </a:lnTo>
                <a:lnTo>
                  <a:pt x="2828219" y="3598372"/>
                </a:lnTo>
                <a:lnTo>
                  <a:pt x="2781968" y="3614761"/>
                </a:lnTo>
                <a:lnTo>
                  <a:pt x="2733485" y="3629124"/>
                </a:lnTo>
                <a:lnTo>
                  <a:pt x="2682864" y="3641458"/>
                </a:lnTo>
                <a:lnTo>
                  <a:pt x="2630197" y="3651761"/>
                </a:lnTo>
                <a:lnTo>
                  <a:pt x="2575579" y="3660029"/>
                </a:lnTo>
                <a:lnTo>
                  <a:pt x="2519104" y="3666261"/>
                </a:lnTo>
                <a:lnTo>
                  <a:pt x="2460866" y="3670453"/>
                </a:lnTo>
                <a:lnTo>
                  <a:pt x="2511432" y="3706628"/>
                </a:lnTo>
                <a:lnTo>
                  <a:pt x="2560480" y="3743357"/>
                </a:lnTo>
                <a:lnTo>
                  <a:pt x="2607975" y="3780594"/>
                </a:lnTo>
                <a:lnTo>
                  <a:pt x="2653879" y="3818293"/>
                </a:lnTo>
                <a:lnTo>
                  <a:pt x="2698158" y="3856410"/>
                </a:lnTo>
                <a:lnTo>
                  <a:pt x="2740775" y="3894900"/>
                </a:lnTo>
                <a:lnTo>
                  <a:pt x="2781693" y="3933718"/>
                </a:lnTo>
                <a:lnTo>
                  <a:pt x="2820878" y="3972817"/>
                </a:lnTo>
                <a:lnTo>
                  <a:pt x="2858292" y="4012153"/>
                </a:lnTo>
                <a:lnTo>
                  <a:pt x="2893900" y="4051681"/>
                </a:lnTo>
                <a:lnTo>
                  <a:pt x="2927665" y="4091356"/>
                </a:lnTo>
                <a:lnTo>
                  <a:pt x="2959552" y="4131132"/>
                </a:lnTo>
                <a:lnTo>
                  <a:pt x="2989525" y="4170964"/>
                </a:lnTo>
                <a:lnTo>
                  <a:pt x="3017547" y="4210806"/>
                </a:lnTo>
                <a:lnTo>
                  <a:pt x="3043582" y="4250615"/>
                </a:lnTo>
                <a:lnTo>
                  <a:pt x="3067594" y="4290344"/>
                </a:lnTo>
                <a:lnTo>
                  <a:pt x="3089547" y="4329948"/>
                </a:lnTo>
                <a:lnTo>
                  <a:pt x="3109405" y="4369383"/>
                </a:lnTo>
                <a:lnTo>
                  <a:pt x="3127133" y="4408602"/>
                </a:lnTo>
                <a:lnTo>
                  <a:pt x="3142693" y="4447561"/>
                </a:lnTo>
                <a:lnTo>
                  <a:pt x="3156050" y="4486215"/>
                </a:lnTo>
                <a:lnTo>
                  <a:pt x="3167167" y="4524518"/>
                </a:lnTo>
                <a:lnTo>
                  <a:pt x="3176009" y="4562425"/>
                </a:lnTo>
                <a:lnTo>
                  <a:pt x="3186723" y="4636870"/>
                </a:lnTo>
                <a:lnTo>
                  <a:pt x="3188523" y="4673318"/>
                </a:lnTo>
                <a:lnTo>
                  <a:pt x="3187902" y="4709189"/>
                </a:lnTo>
                <a:lnTo>
                  <a:pt x="3179259" y="4779021"/>
                </a:lnTo>
                <a:lnTo>
                  <a:pt x="3160503" y="4846003"/>
                </a:lnTo>
                <a:lnTo>
                  <a:pt x="3133032" y="4906642"/>
                </a:lnTo>
                <a:lnTo>
                  <a:pt x="3098926" y="4959741"/>
                </a:lnTo>
                <a:lnTo>
                  <a:pt x="3057533" y="5008080"/>
                </a:lnTo>
                <a:lnTo>
                  <a:pt x="3009199" y="5051647"/>
                </a:lnTo>
                <a:lnTo>
                  <a:pt x="2954273" y="5090426"/>
                </a:lnTo>
                <a:lnTo>
                  <a:pt x="2893102" y="5124405"/>
                </a:lnTo>
                <a:lnTo>
                  <a:pt x="2826033" y="5153569"/>
                </a:lnTo>
                <a:lnTo>
                  <a:pt x="2753416" y="5177904"/>
                </a:lnTo>
                <a:lnTo>
                  <a:pt x="2715135" y="5188256"/>
                </a:lnTo>
                <a:lnTo>
                  <a:pt x="2675597" y="5197396"/>
                </a:lnTo>
                <a:lnTo>
                  <a:pt x="2634846" y="5205322"/>
                </a:lnTo>
                <a:lnTo>
                  <a:pt x="2592924" y="5212031"/>
                </a:lnTo>
                <a:lnTo>
                  <a:pt x="2549876" y="5217523"/>
                </a:lnTo>
                <a:lnTo>
                  <a:pt x="2505746" y="5221796"/>
                </a:lnTo>
                <a:lnTo>
                  <a:pt x="2460575" y="5224847"/>
                </a:lnTo>
                <a:lnTo>
                  <a:pt x="2414409" y="5226676"/>
                </a:lnTo>
                <a:lnTo>
                  <a:pt x="2367289" y="5227280"/>
                </a:lnTo>
                <a:lnTo>
                  <a:pt x="2319261" y="5226658"/>
                </a:lnTo>
                <a:lnTo>
                  <a:pt x="2270367" y="5224807"/>
                </a:lnTo>
                <a:lnTo>
                  <a:pt x="2220651" y="5221726"/>
                </a:lnTo>
                <a:lnTo>
                  <a:pt x="2170156" y="5217414"/>
                </a:lnTo>
                <a:lnTo>
                  <a:pt x="2118926" y="5211869"/>
                </a:lnTo>
                <a:lnTo>
                  <a:pt x="2067004" y="5205088"/>
                </a:lnTo>
                <a:lnTo>
                  <a:pt x="2014434" y="5197071"/>
                </a:lnTo>
                <a:lnTo>
                  <a:pt x="1961259" y="5187815"/>
                </a:lnTo>
                <a:lnTo>
                  <a:pt x="1907522" y="5177319"/>
                </a:lnTo>
                <a:lnTo>
                  <a:pt x="1853268" y="5165580"/>
                </a:lnTo>
                <a:lnTo>
                  <a:pt x="1798539" y="5152598"/>
                </a:lnTo>
                <a:lnTo>
                  <a:pt x="1743379" y="5138370"/>
                </a:lnTo>
                <a:lnTo>
                  <a:pt x="1687832" y="5122895"/>
                </a:lnTo>
                <a:lnTo>
                  <a:pt x="1631941" y="5106171"/>
                </a:lnTo>
                <a:lnTo>
                  <a:pt x="1575749" y="5088196"/>
                </a:lnTo>
                <a:lnTo>
                  <a:pt x="1519300" y="5068968"/>
                </a:lnTo>
                <a:lnTo>
                  <a:pt x="1462637" y="5048486"/>
                </a:lnTo>
                <a:lnTo>
                  <a:pt x="1405804" y="5026748"/>
                </a:lnTo>
                <a:lnTo>
                  <a:pt x="1348845" y="5003753"/>
                </a:lnTo>
                <a:lnTo>
                  <a:pt x="1291802" y="4979497"/>
                </a:lnTo>
                <a:lnTo>
                  <a:pt x="1234720" y="4953981"/>
                </a:lnTo>
                <a:lnTo>
                  <a:pt x="1178112" y="4927427"/>
                </a:lnTo>
                <a:lnTo>
                  <a:pt x="1122479" y="4900085"/>
                </a:lnTo>
                <a:lnTo>
                  <a:pt x="1067851" y="4871987"/>
                </a:lnTo>
                <a:lnTo>
                  <a:pt x="1014253" y="4843167"/>
                </a:lnTo>
                <a:lnTo>
                  <a:pt x="961714" y="4813660"/>
                </a:lnTo>
                <a:lnTo>
                  <a:pt x="910261" y="4783499"/>
                </a:lnTo>
                <a:lnTo>
                  <a:pt x="859920" y="4752719"/>
                </a:lnTo>
                <a:lnTo>
                  <a:pt x="810720" y="4721352"/>
                </a:lnTo>
                <a:lnTo>
                  <a:pt x="762687" y="4689434"/>
                </a:lnTo>
                <a:lnTo>
                  <a:pt x="715849" y="4656997"/>
                </a:lnTo>
                <a:lnTo>
                  <a:pt x="670233" y="4624075"/>
                </a:lnTo>
                <a:lnTo>
                  <a:pt x="625867" y="4590703"/>
                </a:lnTo>
                <a:lnTo>
                  <a:pt x="582777" y="4556914"/>
                </a:lnTo>
                <a:lnTo>
                  <a:pt x="540991" y="4522743"/>
                </a:lnTo>
                <a:lnTo>
                  <a:pt x="500537" y="4488222"/>
                </a:lnTo>
                <a:lnTo>
                  <a:pt x="461441" y="4453387"/>
                </a:lnTo>
                <a:lnTo>
                  <a:pt x="423731" y="4418270"/>
                </a:lnTo>
                <a:lnTo>
                  <a:pt x="387434" y="4382905"/>
                </a:lnTo>
                <a:lnTo>
                  <a:pt x="352578" y="4347327"/>
                </a:lnTo>
                <a:lnTo>
                  <a:pt x="319190" y="4311570"/>
                </a:lnTo>
                <a:lnTo>
                  <a:pt x="287296" y="4275666"/>
                </a:lnTo>
                <a:lnTo>
                  <a:pt x="256925" y="4239651"/>
                </a:lnTo>
                <a:lnTo>
                  <a:pt x="228104" y="4203557"/>
                </a:lnTo>
                <a:lnTo>
                  <a:pt x="200860" y="4167420"/>
                </a:lnTo>
                <a:lnTo>
                  <a:pt x="175220" y="4131271"/>
                </a:lnTo>
                <a:lnTo>
                  <a:pt x="151212" y="4095147"/>
                </a:lnTo>
                <a:lnTo>
                  <a:pt x="128862" y="4059079"/>
                </a:lnTo>
                <a:lnTo>
                  <a:pt x="108199" y="4023103"/>
                </a:lnTo>
                <a:lnTo>
                  <a:pt x="89249" y="3987252"/>
                </a:lnTo>
                <a:lnTo>
                  <a:pt x="72040" y="3951559"/>
                </a:lnTo>
                <a:lnTo>
                  <a:pt x="56599" y="3916060"/>
                </a:lnTo>
                <a:lnTo>
                  <a:pt x="31131" y="3845774"/>
                </a:lnTo>
                <a:lnTo>
                  <a:pt x="13063" y="3776666"/>
                </a:lnTo>
                <a:lnTo>
                  <a:pt x="2613" y="3709006"/>
                </a:lnTo>
                <a:lnTo>
                  <a:pt x="0" y="3643065"/>
                </a:lnTo>
                <a:lnTo>
                  <a:pt x="1700" y="3610824"/>
                </a:lnTo>
                <a:lnTo>
                  <a:pt x="11251" y="3547970"/>
                </a:lnTo>
                <a:lnTo>
                  <a:pt x="29185" y="3487512"/>
                </a:lnTo>
                <a:lnTo>
                  <a:pt x="60118" y="3421764"/>
                </a:lnTo>
                <a:lnTo>
                  <a:pt x="82045" y="3387261"/>
                </a:lnTo>
                <a:lnTo>
                  <a:pt x="107050" y="3354761"/>
                </a:lnTo>
                <a:lnTo>
                  <a:pt x="135039" y="3324264"/>
                </a:lnTo>
                <a:lnTo>
                  <a:pt x="165919" y="3295775"/>
                </a:lnTo>
                <a:lnTo>
                  <a:pt x="199596" y="3269296"/>
                </a:lnTo>
                <a:lnTo>
                  <a:pt x="235975" y="3244830"/>
                </a:lnTo>
                <a:lnTo>
                  <a:pt x="274963" y="3222379"/>
                </a:lnTo>
                <a:lnTo>
                  <a:pt x="316465" y="3201945"/>
                </a:lnTo>
                <a:lnTo>
                  <a:pt x="360388" y="3183533"/>
                </a:lnTo>
                <a:lnTo>
                  <a:pt x="406639" y="3167144"/>
                </a:lnTo>
                <a:lnTo>
                  <a:pt x="455121" y="3152781"/>
                </a:lnTo>
                <a:lnTo>
                  <a:pt x="505743" y="3140447"/>
                </a:lnTo>
                <a:lnTo>
                  <a:pt x="558410" y="3130144"/>
                </a:lnTo>
                <a:lnTo>
                  <a:pt x="613028" y="3121875"/>
                </a:lnTo>
                <a:lnTo>
                  <a:pt x="669503" y="3115644"/>
                </a:lnTo>
                <a:lnTo>
                  <a:pt x="727741" y="3111452"/>
                </a:lnTo>
                <a:lnTo>
                  <a:pt x="677175" y="3075277"/>
                </a:lnTo>
                <a:lnTo>
                  <a:pt x="628127" y="3038548"/>
                </a:lnTo>
                <a:lnTo>
                  <a:pt x="580632" y="3001312"/>
                </a:lnTo>
                <a:lnTo>
                  <a:pt x="534728" y="2963613"/>
                </a:lnTo>
                <a:lnTo>
                  <a:pt x="490449" y="2925497"/>
                </a:lnTo>
                <a:lnTo>
                  <a:pt x="447832" y="2887009"/>
                </a:lnTo>
                <a:lnTo>
                  <a:pt x="406913" y="2848194"/>
                </a:lnTo>
                <a:lnTo>
                  <a:pt x="367729" y="2809098"/>
                </a:lnTo>
                <a:lnTo>
                  <a:pt x="330315" y="2769766"/>
                </a:lnTo>
                <a:lnTo>
                  <a:pt x="294707" y="2730243"/>
                </a:lnTo>
                <a:lnTo>
                  <a:pt x="260941" y="2690575"/>
                </a:lnTo>
                <a:lnTo>
                  <a:pt x="229054" y="2650806"/>
                </a:lnTo>
                <a:lnTo>
                  <a:pt x="199082" y="2610984"/>
                </a:lnTo>
                <a:lnTo>
                  <a:pt x="171060" y="2571151"/>
                </a:lnTo>
                <a:lnTo>
                  <a:pt x="145025" y="2531355"/>
                </a:lnTo>
                <a:lnTo>
                  <a:pt x="121013" y="2491640"/>
                </a:lnTo>
                <a:lnTo>
                  <a:pt x="99060" y="2452051"/>
                </a:lnTo>
                <a:lnTo>
                  <a:pt x="79201" y="2412634"/>
                </a:lnTo>
                <a:lnTo>
                  <a:pt x="61474" y="2373434"/>
                </a:lnTo>
                <a:lnTo>
                  <a:pt x="45914" y="2334497"/>
                </a:lnTo>
                <a:lnTo>
                  <a:pt x="32557" y="2295868"/>
                </a:lnTo>
                <a:lnTo>
                  <a:pt x="21440" y="2257592"/>
                </a:lnTo>
                <a:lnTo>
                  <a:pt x="12598" y="2219714"/>
                </a:lnTo>
                <a:lnTo>
                  <a:pt x="1884" y="2145335"/>
                </a:lnTo>
                <a:lnTo>
                  <a:pt x="84" y="2108925"/>
                </a:lnTo>
                <a:lnTo>
                  <a:pt x="704" y="2073094"/>
                </a:lnTo>
                <a:lnTo>
                  <a:pt x="9348" y="2003353"/>
                </a:lnTo>
                <a:lnTo>
                  <a:pt x="28104" y="1936475"/>
                </a:lnTo>
                <a:lnTo>
                  <a:pt x="60118" y="1867669"/>
                </a:lnTo>
                <a:lnTo>
                  <a:pt x="82045" y="1833120"/>
                </a:lnTo>
                <a:lnTo>
                  <a:pt x="107050" y="1800580"/>
                </a:lnTo>
                <a:lnTo>
                  <a:pt x="135039" y="1770051"/>
                </a:lnTo>
                <a:lnTo>
                  <a:pt x="165919" y="1741536"/>
                </a:lnTo>
                <a:lnTo>
                  <a:pt x="199596" y="1715037"/>
                </a:lnTo>
                <a:lnTo>
                  <a:pt x="235975" y="1690558"/>
                </a:lnTo>
                <a:lnTo>
                  <a:pt x="274963" y="1668100"/>
                </a:lnTo>
                <a:lnTo>
                  <a:pt x="316465" y="1647667"/>
                </a:lnTo>
                <a:lnTo>
                  <a:pt x="360388" y="1629261"/>
                </a:lnTo>
                <a:lnTo>
                  <a:pt x="406639" y="1612885"/>
                </a:lnTo>
                <a:lnTo>
                  <a:pt x="455121" y="1598541"/>
                </a:lnTo>
                <a:lnTo>
                  <a:pt x="505743" y="1586233"/>
                </a:lnTo>
                <a:lnTo>
                  <a:pt x="558410" y="1575963"/>
                </a:lnTo>
                <a:lnTo>
                  <a:pt x="613028" y="1567734"/>
                </a:lnTo>
                <a:lnTo>
                  <a:pt x="669503" y="1561548"/>
                </a:lnTo>
                <a:lnTo>
                  <a:pt x="727741" y="1557409"/>
                </a:lnTo>
                <a:lnTo>
                  <a:pt x="677175" y="1521233"/>
                </a:lnTo>
                <a:lnTo>
                  <a:pt x="628127" y="1484505"/>
                </a:lnTo>
                <a:lnTo>
                  <a:pt x="580632" y="1447268"/>
                </a:lnTo>
                <a:lnTo>
                  <a:pt x="534728" y="1409569"/>
                </a:lnTo>
                <a:lnTo>
                  <a:pt x="490449" y="1371451"/>
                </a:lnTo>
                <a:lnTo>
                  <a:pt x="447832" y="1332961"/>
                </a:lnTo>
                <a:lnTo>
                  <a:pt x="406913" y="1294144"/>
                </a:lnTo>
                <a:lnTo>
                  <a:pt x="367729" y="1255045"/>
                </a:lnTo>
                <a:lnTo>
                  <a:pt x="330315" y="1215708"/>
                </a:lnTo>
                <a:lnTo>
                  <a:pt x="294707" y="1176180"/>
                </a:lnTo>
                <a:lnTo>
                  <a:pt x="260941" y="1136506"/>
                </a:lnTo>
                <a:lnTo>
                  <a:pt x="229054" y="1096730"/>
                </a:lnTo>
                <a:lnTo>
                  <a:pt x="199082" y="1056898"/>
                </a:lnTo>
                <a:lnTo>
                  <a:pt x="171060" y="1017055"/>
                </a:lnTo>
                <a:lnTo>
                  <a:pt x="145025" y="977247"/>
                </a:lnTo>
                <a:lnTo>
                  <a:pt x="121013" y="937518"/>
                </a:lnTo>
                <a:lnTo>
                  <a:pt x="99060" y="897913"/>
                </a:lnTo>
                <a:lnTo>
                  <a:pt x="79201" y="858479"/>
                </a:lnTo>
                <a:lnTo>
                  <a:pt x="61474" y="819259"/>
                </a:lnTo>
                <a:lnTo>
                  <a:pt x="45914" y="780300"/>
                </a:lnTo>
                <a:lnTo>
                  <a:pt x="32557" y="741647"/>
                </a:lnTo>
                <a:lnTo>
                  <a:pt x="21440" y="703344"/>
                </a:lnTo>
                <a:lnTo>
                  <a:pt x="12598" y="665437"/>
                </a:lnTo>
                <a:lnTo>
                  <a:pt x="1884" y="590992"/>
                </a:lnTo>
                <a:lnTo>
                  <a:pt x="84" y="554544"/>
                </a:lnTo>
                <a:lnTo>
                  <a:pt x="704" y="518673"/>
                </a:lnTo>
                <a:lnTo>
                  <a:pt x="9348" y="448841"/>
                </a:lnTo>
                <a:lnTo>
                  <a:pt x="28104" y="381859"/>
                </a:lnTo>
                <a:lnTo>
                  <a:pt x="55573" y="321198"/>
                </a:lnTo>
                <a:lnTo>
                  <a:pt x="89665" y="268054"/>
                </a:lnTo>
                <a:lnTo>
                  <a:pt x="131032" y="219666"/>
                </a:lnTo>
                <a:lnTo>
                  <a:pt x="179330" y="176050"/>
                </a:lnTo>
                <a:lnTo>
                  <a:pt x="234213" y="137218"/>
                </a:lnTo>
                <a:lnTo>
                  <a:pt x="295334" y="103187"/>
                </a:lnTo>
                <a:lnTo>
                  <a:pt x="362349" y="73971"/>
                </a:lnTo>
                <a:lnTo>
                  <a:pt x="434911" y="49584"/>
                </a:lnTo>
                <a:lnTo>
                  <a:pt x="473164" y="39207"/>
                </a:lnTo>
                <a:lnTo>
                  <a:pt x="512674" y="30042"/>
                </a:lnTo>
                <a:lnTo>
                  <a:pt x="553398" y="22091"/>
                </a:lnTo>
                <a:lnTo>
                  <a:pt x="595293" y="15357"/>
                </a:lnTo>
                <a:lnTo>
                  <a:pt x="638315" y="9842"/>
                </a:lnTo>
                <a:lnTo>
                  <a:pt x="682422" y="5547"/>
                </a:lnTo>
                <a:lnTo>
                  <a:pt x="727570" y="2473"/>
                </a:lnTo>
                <a:lnTo>
                  <a:pt x="773715" y="623"/>
                </a:lnTo>
                <a:lnTo>
                  <a:pt x="820815" y="0"/>
                </a:lnTo>
                <a:lnTo>
                  <a:pt x="868827" y="603"/>
                </a:lnTo>
                <a:lnTo>
                  <a:pt x="917707" y="2436"/>
                </a:lnTo>
                <a:lnTo>
                  <a:pt x="967411" y="5500"/>
                </a:lnTo>
                <a:lnTo>
                  <a:pt x="1017897" y="9796"/>
                </a:lnTo>
                <a:lnTo>
                  <a:pt x="1069122" y="15328"/>
                </a:lnTo>
                <a:lnTo>
                  <a:pt x="1121042" y="22096"/>
                </a:lnTo>
                <a:lnTo>
                  <a:pt x="1173615" y="30103"/>
                </a:lnTo>
                <a:lnTo>
                  <a:pt x="1226796" y="39349"/>
                </a:lnTo>
                <a:lnTo>
                  <a:pt x="1280542" y="49838"/>
                </a:lnTo>
                <a:lnTo>
                  <a:pt x="1334811" y="61571"/>
                </a:lnTo>
                <a:lnTo>
                  <a:pt x="1389559" y="74549"/>
                </a:lnTo>
                <a:lnTo>
                  <a:pt x="1444744" y="88775"/>
                </a:lnTo>
                <a:lnTo>
                  <a:pt x="1500320" y="104251"/>
                </a:lnTo>
                <a:lnTo>
                  <a:pt x="1556247" y="120977"/>
                </a:lnTo>
                <a:lnTo>
                  <a:pt x="1612479" y="138957"/>
                </a:lnTo>
                <a:lnTo>
                  <a:pt x="1668975" y="158191"/>
                </a:lnTo>
                <a:lnTo>
                  <a:pt x="1725691" y="178682"/>
                </a:lnTo>
                <a:lnTo>
                  <a:pt x="1782583" y="200432"/>
                </a:lnTo>
                <a:lnTo>
                  <a:pt x="1839608" y="223442"/>
                </a:lnTo>
                <a:lnTo>
                  <a:pt x="1896724" y="247714"/>
                </a:lnTo>
                <a:lnTo>
                  <a:pt x="1953887" y="273250"/>
                </a:lnTo>
                <a:lnTo>
                  <a:pt x="2010575" y="299824"/>
                </a:lnTo>
                <a:lnTo>
                  <a:pt x="2066278" y="327183"/>
                </a:lnTo>
                <a:lnTo>
                  <a:pt x="2120968" y="355296"/>
                </a:lnTo>
                <a:lnTo>
                  <a:pt x="2174619" y="384127"/>
                </a:lnTo>
                <a:lnTo>
                  <a:pt x="2227204" y="413644"/>
                </a:lnTo>
                <a:lnTo>
                  <a:pt x="2278696" y="443813"/>
                </a:lnTo>
                <a:lnTo>
                  <a:pt x="2329068" y="474599"/>
                </a:lnTo>
                <a:lnTo>
                  <a:pt x="2378293" y="505970"/>
                </a:lnTo>
                <a:lnTo>
                  <a:pt x="2426344" y="537891"/>
                </a:lnTo>
                <a:lnTo>
                  <a:pt x="2473194" y="570329"/>
                </a:lnTo>
                <a:lnTo>
                  <a:pt x="2518816" y="603250"/>
                </a:lnTo>
                <a:lnTo>
                  <a:pt x="2563184" y="636621"/>
                </a:lnTo>
                <a:lnTo>
                  <a:pt x="2606271" y="670407"/>
                </a:lnTo>
                <a:lnTo>
                  <a:pt x="2648048" y="704575"/>
                </a:lnTo>
                <a:lnTo>
                  <a:pt x="2688491" y="739091"/>
                </a:lnTo>
                <a:lnTo>
                  <a:pt x="2727571" y="773922"/>
                </a:lnTo>
                <a:lnTo>
                  <a:pt x="2765261" y="809033"/>
                </a:lnTo>
                <a:lnTo>
                  <a:pt x="2801536" y="844392"/>
                </a:lnTo>
                <a:lnTo>
                  <a:pt x="2836368" y="879964"/>
                </a:lnTo>
                <a:lnTo>
                  <a:pt x="2869729" y="915715"/>
                </a:lnTo>
                <a:lnTo>
                  <a:pt x="2901593" y="951613"/>
                </a:lnTo>
                <a:lnTo>
                  <a:pt x="2931934" y="987623"/>
                </a:lnTo>
                <a:lnTo>
                  <a:pt x="2960724" y="1023711"/>
                </a:lnTo>
                <a:lnTo>
                  <a:pt x="2987936" y="1059844"/>
                </a:lnTo>
                <a:lnTo>
                  <a:pt x="3013543" y="1095988"/>
                </a:lnTo>
                <a:lnTo>
                  <a:pt x="3037519" y="1132110"/>
                </a:lnTo>
                <a:lnTo>
                  <a:pt x="3059836" y="1168175"/>
                </a:lnTo>
                <a:lnTo>
                  <a:pt x="3080467" y="1204150"/>
                </a:lnTo>
                <a:lnTo>
                  <a:pt x="3099387" y="1240002"/>
                </a:lnTo>
                <a:lnTo>
                  <a:pt x="3116567" y="1275695"/>
                </a:lnTo>
                <a:lnTo>
                  <a:pt x="3131981" y="1311198"/>
                </a:lnTo>
                <a:lnTo>
                  <a:pt x="3157402" y="1381495"/>
                </a:lnTo>
                <a:lnTo>
                  <a:pt x="3175435" y="1450623"/>
                </a:lnTo>
                <a:lnTo>
                  <a:pt x="3185865" y="1518311"/>
                </a:lnTo>
                <a:lnTo>
                  <a:pt x="3188476" y="1584291"/>
                </a:lnTo>
                <a:lnTo>
                  <a:pt x="3186783" y="1616556"/>
                </a:lnTo>
                <a:lnTo>
                  <a:pt x="3177262" y="1679467"/>
                </a:lnTo>
                <a:lnTo>
                  <a:pt x="3159383" y="1739995"/>
                </a:lnTo>
                <a:lnTo>
                  <a:pt x="3128489" y="1805783"/>
                </a:lnTo>
                <a:lnTo>
                  <a:pt x="3106562" y="1840285"/>
                </a:lnTo>
                <a:lnTo>
                  <a:pt x="3081557" y="1872786"/>
                </a:lnTo>
                <a:lnTo>
                  <a:pt x="3053568" y="1903282"/>
                </a:lnTo>
                <a:lnTo>
                  <a:pt x="3022688" y="1931771"/>
                </a:lnTo>
                <a:lnTo>
                  <a:pt x="2989011" y="1958250"/>
                </a:lnTo>
                <a:lnTo>
                  <a:pt x="2952632" y="1982717"/>
                </a:lnTo>
                <a:lnTo>
                  <a:pt x="2913644" y="2005168"/>
                </a:lnTo>
                <a:lnTo>
                  <a:pt x="2872142" y="2025601"/>
                </a:lnTo>
                <a:lnTo>
                  <a:pt x="2828219" y="2044014"/>
                </a:lnTo>
                <a:lnTo>
                  <a:pt x="2781968" y="2060403"/>
                </a:lnTo>
                <a:lnTo>
                  <a:pt x="2733485" y="2074766"/>
                </a:lnTo>
                <a:lnTo>
                  <a:pt x="2682864" y="2087100"/>
                </a:lnTo>
                <a:lnTo>
                  <a:pt x="2630197" y="2097403"/>
                </a:lnTo>
                <a:lnTo>
                  <a:pt x="2575579" y="2105671"/>
                </a:lnTo>
                <a:lnTo>
                  <a:pt x="2519104" y="2111903"/>
                </a:lnTo>
                <a:lnTo>
                  <a:pt x="2460866" y="2116095"/>
                </a:lnTo>
                <a:lnTo>
                  <a:pt x="2511432" y="2152269"/>
                </a:lnTo>
                <a:lnTo>
                  <a:pt x="2560480" y="2188995"/>
                </a:lnTo>
                <a:lnTo>
                  <a:pt x="2607975" y="2226228"/>
                </a:lnTo>
                <a:lnTo>
                  <a:pt x="2653879" y="2263921"/>
                </a:lnTo>
                <a:lnTo>
                  <a:pt x="2698158" y="2302032"/>
                </a:lnTo>
                <a:lnTo>
                  <a:pt x="2740775" y="2340513"/>
                </a:lnTo>
                <a:lnTo>
                  <a:pt x="2781693" y="2379321"/>
                </a:lnTo>
                <a:lnTo>
                  <a:pt x="2820878" y="2418410"/>
                </a:lnTo>
                <a:lnTo>
                  <a:pt x="2858292" y="2457734"/>
                </a:lnTo>
                <a:lnTo>
                  <a:pt x="2893900" y="2497250"/>
                </a:lnTo>
                <a:lnTo>
                  <a:pt x="2927666" y="2536911"/>
                </a:lnTo>
                <a:lnTo>
                  <a:pt x="2959552" y="2576674"/>
                </a:lnTo>
                <a:lnTo>
                  <a:pt x="2989525" y="2616492"/>
                </a:lnTo>
                <a:lnTo>
                  <a:pt x="3017547" y="2656320"/>
                </a:lnTo>
                <a:lnTo>
                  <a:pt x="3043582" y="2696114"/>
                </a:lnTo>
                <a:lnTo>
                  <a:pt x="3067594" y="2735828"/>
                </a:lnTo>
                <a:lnTo>
                  <a:pt x="3089547" y="2775418"/>
                </a:lnTo>
                <a:lnTo>
                  <a:pt x="3109405" y="2814838"/>
                </a:lnTo>
                <a:lnTo>
                  <a:pt x="3127133" y="2854043"/>
                </a:lnTo>
                <a:lnTo>
                  <a:pt x="3142693" y="2892988"/>
                </a:lnTo>
                <a:lnTo>
                  <a:pt x="3156050" y="2931628"/>
                </a:lnTo>
                <a:lnTo>
                  <a:pt x="3167167" y="2969917"/>
                </a:lnTo>
                <a:lnTo>
                  <a:pt x="3176009" y="3007812"/>
                </a:lnTo>
                <a:lnTo>
                  <a:pt x="3186723" y="3082235"/>
                </a:lnTo>
                <a:lnTo>
                  <a:pt x="3188523" y="31186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97485" rIns="0" bIns="0" rtlCol="0" vert="horz">
            <a:spAutoFit/>
          </a:bodyPr>
          <a:lstStyle/>
          <a:p>
            <a:pPr marL="1667510">
              <a:lnSpc>
                <a:spcPct val="100000"/>
              </a:lnSpc>
              <a:spcBef>
                <a:spcPts val="100"/>
              </a:spcBef>
            </a:pPr>
            <a:r>
              <a:rPr dirty="0" spc="-285" b="0">
                <a:latin typeface="Georgia"/>
                <a:cs typeface="Georgia"/>
              </a:rPr>
              <a:t>Streamlit</a:t>
            </a:r>
            <a:r>
              <a:rPr dirty="0" spc="-710" b="0">
                <a:latin typeface="Georgia"/>
                <a:cs typeface="Georgia"/>
              </a:rPr>
              <a:t> </a:t>
            </a:r>
            <a:r>
              <a:rPr dirty="0" spc="-305" b="0">
                <a:latin typeface="Georgia"/>
                <a:cs typeface="Georgia"/>
              </a:rPr>
              <a:t>Dashboard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076" y="4383804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076" y="4879104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076" y="5374404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076" y="5869704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076" y="6365004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076" y="6860304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076" y="7850903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480576" y="2632468"/>
            <a:ext cx="11033760" cy="5473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z="2800" spc="-20">
                <a:latin typeface="Georgia"/>
                <a:cs typeface="Georgia"/>
              </a:rPr>
              <a:t>The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trained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models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were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integrated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into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a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85">
                <a:latin typeface="Georgia"/>
                <a:cs typeface="Georgia"/>
              </a:rPr>
              <a:t>Streamlit-</a:t>
            </a:r>
            <a:r>
              <a:rPr dirty="0" sz="2800" spc="-55">
                <a:latin typeface="Georgia"/>
                <a:cs typeface="Georgia"/>
              </a:rPr>
              <a:t>based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interactive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web application.</a:t>
            </a:r>
            <a:endParaRPr sz="2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800" spc="-20">
                <a:latin typeface="Georgia"/>
                <a:cs typeface="Georgia"/>
              </a:rPr>
              <a:t>The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85">
                <a:latin typeface="Georgia"/>
                <a:cs typeface="Georgia"/>
              </a:rPr>
              <a:t>dashboard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85">
                <a:latin typeface="Georgia"/>
                <a:cs typeface="Georgia"/>
              </a:rPr>
              <a:t>allows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users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to:</a:t>
            </a:r>
            <a:endParaRPr sz="2800">
              <a:latin typeface="Georgia"/>
              <a:cs typeface="Georgia"/>
            </a:endParaRPr>
          </a:p>
          <a:p>
            <a:pPr marL="616585" marR="3077845">
              <a:lnSpc>
                <a:spcPct val="116100"/>
              </a:lnSpc>
            </a:pPr>
            <a:r>
              <a:rPr dirty="0" sz="2800" spc="-75">
                <a:latin typeface="Georgia"/>
                <a:cs typeface="Georgia"/>
              </a:rPr>
              <a:t>Enter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price,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5">
                <a:latin typeface="Georgia"/>
                <a:cs typeface="Georgia"/>
              </a:rPr>
              <a:t>duration,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100">
                <a:latin typeface="Georgia"/>
                <a:cs typeface="Georgia"/>
              </a:rPr>
              <a:t>level,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rating. </a:t>
            </a:r>
            <a:r>
              <a:rPr dirty="0" sz="2800" spc="-75">
                <a:latin typeface="Georgia"/>
                <a:cs typeface="Georgia"/>
              </a:rPr>
              <a:t>Enter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instructor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experience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instructor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rating. </a:t>
            </a:r>
            <a:r>
              <a:rPr dirty="0" sz="2800" spc="-40">
                <a:latin typeface="Georgia"/>
                <a:cs typeface="Georgia"/>
              </a:rPr>
              <a:t>Generate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enrollment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predictions.</a:t>
            </a:r>
            <a:endParaRPr sz="2800">
              <a:latin typeface="Georgia"/>
              <a:cs typeface="Georgia"/>
            </a:endParaRPr>
          </a:p>
          <a:p>
            <a:pPr marL="616585">
              <a:lnSpc>
                <a:spcPct val="100000"/>
              </a:lnSpc>
              <a:spcBef>
                <a:spcPts val="535"/>
              </a:spcBef>
            </a:pPr>
            <a:r>
              <a:rPr dirty="0" sz="2800" spc="-70">
                <a:latin typeface="Georgia"/>
                <a:cs typeface="Georgia"/>
              </a:rPr>
              <a:t>View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revenue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forecasts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revenue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trends.</a:t>
            </a:r>
            <a:endParaRPr sz="2800">
              <a:latin typeface="Georgia"/>
              <a:cs typeface="Georgia"/>
            </a:endParaRPr>
          </a:p>
          <a:p>
            <a:pPr marL="616585" marR="1115060">
              <a:lnSpc>
                <a:spcPct val="116100"/>
              </a:lnSpc>
            </a:pPr>
            <a:r>
              <a:rPr dirty="0" sz="2800" spc="-55">
                <a:latin typeface="Georgia"/>
                <a:cs typeface="Georgia"/>
              </a:rPr>
              <a:t>Compare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categories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based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on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demand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9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revenue. </a:t>
            </a:r>
            <a:r>
              <a:rPr dirty="0" sz="2800" spc="-90">
                <a:latin typeface="Georgia"/>
                <a:cs typeface="Georgia"/>
              </a:rPr>
              <a:t>Explore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60">
                <a:latin typeface="Georgia"/>
                <a:cs typeface="Georgia"/>
              </a:rPr>
              <a:t>feature</a:t>
            </a:r>
            <a:r>
              <a:rPr dirty="0" sz="2800" spc="-16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importance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-16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understand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the</a:t>
            </a:r>
            <a:r>
              <a:rPr dirty="0" sz="2800" spc="-165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factors</a:t>
            </a:r>
            <a:r>
              <a:rPr dirty="0" sz="2800" spc="-17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affecting predictions.</a:t>
            </a:r>
            <a:endParaRPr sz="2800">
              <a:latin typeface="Georgia"/>
              <a:cs typeface="Georgia"/>
            </a:endParaRPr>
          </a:p>
          <a:p>
            <a:pPr marL="616585">
              <a:lnSpc>
                <a:spcPct val="100000"/>
              </a:lnSpc>
              <a:spcBef>
                <a:spcPts val="540"/>
              </a:spcBef>
            </a:pPr>
            <a:r>
              <a:rPr dirty="0" sz="2800" spc="-70">
                <a:latin typeface="Georgia"/>
                <a:cs typeface="Georgia"/>
              </a:rPr>
              <a:t>View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0">
                <a:latin typeface="Georgia"/>
                <a:cs typeface="Georgia"/>
              </a:rPr>
              <a:t>analytical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results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through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interactive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tables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30">
                <a:latin typeface="Georgia"/>
                <a:cs typeface="Georgia"/>
              </a:rPr>
              <a:t>visualizations.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560998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028699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010488" y="2165731"/>
            <a:ext cx="3277870" cy="2352040"/>
          </a:xfrm>
          <a:custGeom>
            <a:avLst/>
            <a:gdLst/>
            <a:ahLst/>
            <a:cxnLst/>
            <a:rect l="l" t="t" r="r" b="b"/>
            <a:pathLst>
              <a:path w="3277869" h="2352040">
                <a:moveTo>
                  <a:pt x="2706474" y="2351525"/>
                </a:moveTo>
                <a:lnTo>
                  <a:pt x="2641639" y="2347919"/>
                </a:lnTo>
                <a:lnTo>
                  <a:pt x="2579870" y="2333012"/>
                </a:lnTo>
                <a:lnTo>
                  <a:pt x="2512589" y="2300904"/>
                </a:lnTo>
                <a:lnTo>
                  <a:pt x="2477846" y="2275977"/>
                </a:lnTo>
                <a:lnTo>
                  <a:pt x="2446069" y="2246608"/>
                </a:lnTo>
                <a:lnTo>
                  <a:pt x="2417264" y="2212995"/>
                </a:lnTo>
                <a:lnTo>
                  <a:pt x="2391438" y="2175336"/>
                </a:lnTo>
                <a:lnTo>
                  <a:pt x="2368594" y="2133827"/>
                </a:lnTo>
                <a:lnTo>
                  <a:pt x="2348740" y="2088665"/>
                </a:lnTo>
                <a:lnTo>
                  <a:pt x="2331880" y="2040048"/>
                </a:lnTo>
                <a:lnTo>
                  <a:pt x="2318021" y="1988172"/>
                </a:lnTo>
                <a:lnTo>
                  <a:pt x="2307168" y="1933233"/>
                </a:lnTo>
                <a:lnTo>
                  <a:pt x="2299326" y="1875431"/>
                </a:lnTo>
                <a:lnTo>
                  <a:pt x="2294502" y="1814960"/>
                </a:lnTo>
                <a:lnTo>
                  <a:pt x="2257269" y="1866545"/>
                </a:lnTo>
                <a:lnTo>
                  <a:pt x="2219274" y="1915943"/>
                </a:lnTo>
                <a:lnTo>
                  <a:pt x="2180606" y="1963083"/>
                </a:lnTo>
                <a:lnTo>
                  <a:pt x="2141355" y="2007892"/>
                </a:lnTo>
                <a:lnTo>
                  <a:pt x="2101610" y="2050299"/>
                </a:lnTo>
                <a:lnTo>
                  <a:pt x="2061461" y="2090233"/>
                </a:lnTo>
                <a:lnTo>
                  <a:pt x="2020997" y="2127621"/>
                </a:lnTo>
                <a:lnTo>
                  <a:pt x="1980309" y="2162393"/>
                </a:lnTo>
                <a:lnTo>
                  <a:pt x="1939485" y="2194476"/>
                </a:lnTo>
                <a:lnTo>
                  <a:pt x="1898615" y="2223798"/>
                </a:lnTo>
                <a:lnTo>
                  <a:pt x="1857789" y="2250289"/>
                </a:lnTo>
                <a:lnTo>
                  <a:pt x="1817096" y="2273876"/>
                </a:lnTo>
                <a:lnTo>
                  <a:pt x="1776626" y="2294487"/>
                </a:lnTo>
                <a:lnTo>
                  <a:pt x="1736468" y="2312052"/>
                </a:lnTo>
                <a:lnTo>
                  <a:pt x="1696713" y="2326498"/>
                </a:lnTo>
                <a:lnTo>
                  <a:pt x="1657448" y="2337754"/>
                </a:lnTo>
                <a:lnTo>
                  <a:pt x="1618765" y="2345747"/>
                </a:lnTo>
                <a:lnTo>
                  <a:pt x="1580753" y="2350407"/>
                </a:lnTo>
                <a:lnTo>
                  <a:pt x="1543500" y="2351662"/>
                </a:lnTo>
                <a:lnTo>
                  <a:pt x="1507097" y="2349440"/>
                </a:lnTo>
                <a:lnTo>
                  <a:pt x="1437199" y="2334278"/>
                </a:lnTo>
                <a:lnTo>
                  <a:pt x="1366179" y="2300904"/>
                </a:lnTo>
                <a:lnTo>
                  <a:pt x="1331436" y="2275977"/>
                </a:lnTo>
                <a:lnTo>
                  <a:pt x="1299659" y="2246608"/>
                </a:lnTo>
                <a:lnTo>
                  <a:pt x="1270855" y="2212995"/>
                </a:lnTo>
                <a:lnTo>
                  <a:pt x="1245028" y="2175336"/>
                </a:lnTo>
                <a:lnTo>
                  <a:pt x="1222184" y="2133827"/>
                </a:lnTo>
                <a:lnTo>
                  <a:pt x="1202330" y="2088665"/>
                </a:lnTo>
                <a:lnTo>
                  <a:pt x="1185470" y="2040048"/>
                </a:lnTo>
                <a:lnTo>
                  <a:pt x="1171611" y="1988172"/>
                </a:lnTo>
                <a:lnTo>
                  <a:pt x="1160758" y="1933233"/>
                </a:lnTo>
                <a:lnTo>
                  <a:pt x="1152916" y="1875431"/>
                </a:lnTo>
                <a:lnTo>
                  <a:pt x="1148092" y="1814960"/>
                </a:lnTo>
                <a:lnTo>
                  <a:pt x="1110858" y="1866545"/>
                </a:lnTo>
                <a:lnTo>
                  <a:pt x="1072859" y="1915943"/>
                </a:lnTo>
                <a:lnTo>
                  <a:pt x="1034185" y="1963083"/>
                </a:lnTo>
                <a:lnTo>
                  <a:pt x="994926" y="2007892"/>
                </a:lnTo>
                <a:lnTo>
                  <a:pt x="955172" y="2050299"/>
                </a:lnTo>
                <a:lnTo>
                  <a:pt x="915012" y="2090233"/>
                </a:lnTo>
                <a:lnTo>
                  <a:pt x="874536" y="2127621"/>
                </a:lnTo>
                <a:lnTo>
                  <a:pt x="833834" y="2162393"/>
                </a:lnTo>
                <a:lnTo>
                  <a:pt x="792996" y="2194475"/>
                </a:lnTo>
                <a:lnTo>
                  <a:pt x="752112" y="2223798"/>
                </a:lnTo>
                <a:lnTo>
                  <a:pt x="711270" y="2250289"/>
                </a:lnTo>
                <a:lnTo>
                  <a:pt x="670562" y="2273875"/>
                </a:lnTo>
                <a:lnTo>
                  <a:pt x="630077" y="2294487"/>
                </a:lnTo>
                <a:lnTo>
                  <a:pt x="589905" y="2312052"/>
                </a:lnTo>
                <a:lnTo>
                  <a:pt x="550135" y="2326498"/>
                </a:lnTo>
                <a:lnTo>
                  <a:pt x="510858" y="2337753"/>
                </a:lnTo>
                <a:lnTo>
                  <a:pt x="472162" y="2345747"/>
                </a:lnTo>
                <a:lnTo>
                  <a:pt x="434138" y="2350407"/>
                </a:lnTo>
                <a:lnTo>
                  <a:pt x="396876" y="2351662"/>
                </a:lnTo>
                <a:lnTo>
                  <a:pt x="360466" y="2349440"/>
                </a:lnTo>
                <a:lnTo>
                  <a:pt x="290558" y="2334277"/>
                </a:lnTo>
                <a:lnTo>
                  <a:pt x="228965" y="2306551"/>
                </a:lnTo>
                <a:lnTo>
                  <a:pt x="177301" y="2269556"/>
                </a:lnTo>
                <a:lnTo>
                  <a:pt x="132174" y="2222826"/>
                </a:lnTo>
                <a:lnTo>
                  <a:pt x="93611" y="2167012"/>
                </a:lnTo>
                <a:lnTo>
                  <a:pt x="61637" y="2102762"/>
                </a:lnTo>
                <a:lnTo>
                  <a:pt x="36279" y="2030729"/>
                </a:lnTo>
                <a:lnTo>
                  <a:pt x="26088" y="1991997"/>
                </a:lnTo>
                <a:lnTo>
                  <a:pt x="17562" y="1951562"/>
                </a:lnTo>
                <a:lnTo>
                  <a:pt x="10703" y="1909507"/>
                </a:lnTo>
                <a:lnTo>
                  <a:pt x="5513" y="1865912"/>
                </a:lnTo>
                <a:lnTo>
                  <a:pt x="1998" y="1820858"/>
                </a:lnTo>
                <a:lnTo>
                  <a:pt x="159" y="1774428"/>
                </a:lnTo>
                <a:lnTo>
                  <a:pt x="0" y="1726703"/>
                </a:lnTo>
                <a:lnTo>
                  <a:pt x="1524" y="1677762"/>
                </a:lnTo>
                <a:lnTo>
                  <a:pt x="4734" y="1627689"/>
                </a:lnTo>
                <a:lnTo>
                  <a:pt x="9635" y="1576564"/>
                </a:lnTo>
                <a:lnTo>
                  <a:pt x="16229" y="1524469"/>
                </a:lnTo>
                <a:lnTo>
                  <a:pt x="24519" y="1471485"/>
                </a:lnTo>
                <a:lnTo>
                  <a:pt x="34508" y="1417692"/>
                </a:lnTo>
                <a:lnTo>
                  <a:pt x="46200" y="1363173"/>
                </a:lnTo>
                <a:lnTo>
                  <a:pt x="59599" y="1308009"/>
                </a:lnTo>
                <a:lnTo>
                  <a:pt x="74706" y="1252281"/>
                </a:lnTo>
                <a:lnTo>
                  <a:pt x="91527" y="1196070"/>
                </a:lnTo>
                <a:lnTo>
                  <a:pt x="110063" y="1139458"/>
                </a:lnTo>
                <a:lnTo>
                  <a:pt x="130318" y="1082526"/>
                </a:lnTo>
                <a:lnTo>
                  <a:pt x="152296" y="1025355"/>
                </a:lnTo>
                <a:lnTo>
                  <a:pt x="176000" y="968026"/>
                </a:lnTo>
                <a:lnTo>
                  <a:pt x="201432" y="910622"/>
                </a:lnTo>
                <a:lnTo>
                  <a:pt x="228284" y="853865"/>
                </a:lnTo>
                <a:lnTo>
                  <a:pt x="256201" y="798462"/>
                </a:lnTo>
                <a:lnTo>
                  <a:pt x="285120" y="744462"/>
                </a:lnTo>
                <a:lnTo>
                  <a:pt x="314978" y="691917"/>
                </a:lnTo>
                <a:lnTo>
                  <a:pt x="345711" y="640878"/>
                </a:lnTo>
                <a:lnTo>
                  <a:pt x="377257" y="591396"/>
                </a:lnTo>
                <a:lnTo>
                  <a:pt x="409551" y="543522"/>
                </a:lnTo>
                <a:lnTo>
                  <a:pt x="442531" y="497308"/>
                </a:lnTo>
                <a:lnTo>
                  <a:pt x="476133" y="452803"/>
                </a:lnTo>
                <a:lnTo>
                  <a:pt x="510294" y="410059"/>
                </a:lnTo>
                <a:lnTo>
                  <a:pt x="544950" y="369128"/>
                </a:lnTo>
                <a:lnTo>
                  <a:pt x="580039" y="330060"/>
                </a:lnTo>
                <a:lnTo>
                  <a:pt x="615496" y="292906"/>
                </a:lnTo>
                <a:lnTo>
                  <a:pt x="651259" y="257718"/>
                </a:lnTo>
                <a:lnTo>
                  <a:pt x="687264" y="224546"/>
                </a:lnTo>
                <a:lnTo>
                  <a:pt x="723448" y="193442"/>
                </a:lnTo>
                <a:lnTo>
                  <a:pt x="759748" y="164456"/>
                </a:lnTo>
                <a:lnTo>
                  <a:pt x="796100" y="137640"/>
                </a:lnTo>
                <a:lnTo>
                  <a:pt x="832440" y="113044"/>
                </a:lnTo>
                <a:lnTo>
                  <a:pt x="868707" y="90720"/>
                </a:lnTo>
                <a:lnTo>
                  <a:pt x="904836" y="70719"/>
                </a:lnTo>
                <a:lnTo>
                  <a:pt x="940763" y="53092"/>
                </a:lnTo>
                <a:lnTo>
                  <a:pt x="976427" y="37890"/>
                </a:lnTo>
                <a:lnTo>
                  <a:pt x="1046707" y="14964"/>
                </a:lnTo>
                <a:lnTo>
                  <a:pt x="1115170" y="2351"/>
                </a:lnTo>
                <a:lnTo>
                  <a:pt x="1148562" y="39"/>
                </a:lnTo>
                <a:lnTo>
                  <a:pt x="1181309" y="458"/>
                </a:lnTo>
                <a:lnTo>
                  <a:pt x="1244618" y="9694"/>
                </a:lnTo>
                <a:lnTo>
                  <a:pt x="1304590" y="30467"/>
                </a:lnTo>
                <a:lnTo>
                  <a:pt x="1342294" y="50757"/>
                </a:lnTo>
                <a:lnTo>
                  <a:pt x="1377037" y="75685"/>
                </a:lnTo>
                <a:lnTo>
                  <a:pt x="1408814" y="105054"/>
                </a:lnTo>
                <a:lnTo>
                  <a:pt x="1437618" y="138666"/>
                </a:lnTo>
                <a:lnTo>
                  <a:pt x="1463445" y="176325"/>
                </a:lnTo>
                <a:lnTo>
                  <a:pt x="1486289" y="217834"/>
                </a:lnTo>
                <a:lnTo>
                  <a:pt x="1506143" y="262996"/>
                </a:lnTo>
                <a:lnTo>
                  <a:pt x="1523003" y="311614"/>
                </a:lnTo>
                <a:lnTo>
                  <a:pt x="1536862" y="363490"/>
                </a:lnTo>
                <a:lnTo>
                  <a:pt x="1547715" y="418428"/>
                </a:lnTo>
                <a:lnTo>
                  <a:pt x="1555557" y="476231"/>
                </a:lnTo>
                <a:lnTo>
                  <a:pt x="1560381" y="536701"/>
                </a:lnTo>
                <a:lnTo>
                  <a:pt x="1597615" y="485116"/>
                </a:lnTo>
                <a:lnTo>
                  <a:pt x="1635614" y="435718"/>
                </a:lnTo>
                <a:lnTo>
                  <a:pt x="1674287" y="388579"/>
                </a:lnTo>
                <a:lnTo>
                  <a:pt x="1713544" y="343770"/>
                </a:lnTo>
                <a:lnTo>
                  <a:pt x="1753296" y="301362"/>
                </a:lnTo>
                <a:lnTo>
                  <a:pt x="1793453" y="261429"/>
                </a:lnTo>
                <a:lnTo>
                  <a:pt x="1833924" y="224040"/>
                </a:lnTo>
                <a:lnTo>
                  <a:pt x="1874619" y="189269"/>
                </a:lnTo>
                <a:lnTo>
                  <a:pt x="1915449" y="157186"/>
                </a:lnTo>
                <a:lnTo>
                  <a:pt x="1956323" y="127863"/>
                </a:lnTo>
                <a:lnTo>
                  <a:pt x="1997152" y="101373"/>
                </a:lnTo>
                <a:lnTo>
                  <a:pt x="2037844" y="77786"/>
                </a:lnTo>
                <a:lnTo>
                  <a:pt x="2078312" y="57174"/>
                </a:lnTo>
                <a:lnTo>
                  <a:pt x="2118463" y="39610"/>
                </a:lnTo>
                <a:lnTo>
                  <a:pt x="2158209" y="25164"/>
                </a:lnTo>
                <a:lnTo>
                  <a:pt x="2197459" y="13908"/>
                </a:lnTo>
                <a:lnTo>
                  <a:pt x="2236123" y="5914"/>
                </a:lnTo>
                <a:lnTo>
                  <a:pt x="2274112" y="1254"/>
                </a:lnTo>
                <a:lnTo>
                  <a:pt x="2311334" y="0"/>
                </a:lnTo>
                <a:lnTo>
                  <a:pt x="2347701" y="2222"/>
                </a:lnTo>
                <a:lnTo>
                  <a:pt x="2417508" y="17384"/>
                </a:lnTo>
                <a:lnTo>
                  <a:pt x="2488525" y="50757"/>
                </a:lnTo>
                <a:lnTo>
                  <a:pt x="2523311" y="75685"/>
                </a:lnTo>
                <a:lnTo>
                  <a:pt x="2555122" y="105054"/>
                </a:lnTo>
                <a:lnTo>
                  <a:pt x="2583951" y="138666"/>
                </a:lnTo>
                <a:lnTo>
                  <a:pt x="2609792" y="176325"/>
                </a:lnTo>
                <a:lnTo>
                  <a:pt x="2632641" y="217834"/>
                </a:lnTo>
                <a:lnTo>
                  <a:pt x="2652490" y="262996"/>
                </a:lnTo>
                <a:lnTo>
                  <a:pt x="2669335" y="311614"/>
                </a:lnTo>
                <a:lnTo>
                  <a:pt x="2683170" y="363490"/>
                </a:lnTo>
                <a:lnTo>
                  <a:pt x="2693990" y="418428"/>
                </a:lnTo>
                <a:lnTo>
                  <a:pt x="2701788" y="476231"/>
                </a:lnTo>
                <a:lnTo>
                  <a:pt x="2706559" y="536701"/>
                </a:lnTo>
                <a:lnTo>
                  <a:pt x="2743793" y="485116"/>
                </a:lnTo>
                <a:lnTo>
                  <a:pt x="2781792" y="435718"/>
                </a:lnTo>
                <a:lnTo>
                  <a:pt x="2820465" y="388579"/>
                </a:lnTo>
                <a:lnTo>
                  <a:pt x="2859724" y="343770"/>
                </a:lnTo>
                <a:lnTo>
                  <a:pt x="2899479" y="301362"/>
                </a:lnTo>
                <a:lnTo>
                  <a:pt x="2939639" y="261429"/>
                </a:lnTo>
                <a:lnTo>
                  <a:pt x="2980115" y="224040"/>
                </a:lnTo>
                <a:lnTo>
                  <a:pt x="3020816" y="189269"/>
                </a:lnTo>
                <a:lnTo>
                  <a:pt x="3061654" y="157186"/>
                </a:lnTo>
                <a:lnTo>
                  <a:pt x="3102539" y="127863"/>
                </a:lnTo>
                <a:lnTo>
                  <a:pt x="3143380" y="101373"/>
                </a:lnTo>
                <a:lnTo>
                  <a:pt x="3184088" y="77786"/>
                </a:lnTo>
                <a:lnTo>
                  <a:pt x="3224573" y="57174"/>
                </a:lnTo>
                <a:lnTo>
                  <a:pt x="3264746" y="39610"/>
                </a:lnTo>
                <a:lnTo>
                  <a:pt x="3277510" y="34973"/>
                </a:lnTo>
                <a:lnTo>
                  <a:pt x="3277510" y="2019126"/>
                </a:lnTo>
                <a:lnTo>
                  <a:pt x="3239570" y="2059028"/>
                </a:lnTo>
                <a:lnTo>
                  <a:pt x="3203813" y="2094192"/>
                </a:lnTo>
                <a:lnTo>
                  <a:pt x="3167814" y="2127336"/>
                </a:lnTo>
                <a:lnTo>
                  <a:pt x="3131635" y="2158410"/>
                </a:lnTo>
                <a:lnTo>
                  <a:pt x="3095341" y="2187364"/>
                </a:lnTo>
                <a:lnTo>
                  <a:pt x="3058994" y="2214148"/>
                </a:lnTo>
                <a:lnTo>
                  <a:pt x="3022656" y="2238710"/>
                </a:lnTo>
                <a:lnTo>
                  <a:pt x="2986392" y="2261002"/>
                </a:lnTo>
                <a:lnTo>
                  <a:pt x="2950264" y="2280971"/>
                </a:lnTo>
                <a:lnTo>
                  <a:pt x="2914335" y="2298569"/>
                </a:lnTo>
                <a:lnTo>
                  <a:pt x="2878668" y="2313745"/>
                </a:lnTo>
                <a:lnTo>
                  <a:pt x="2808373" y="2336627"/>
                </a:lnTo>
                <a:lnTo>
                  <a:pt x="2739884" y="2349217"/>
                </a:lnTo>
                <a:lnTo>
                  <a:pt x="2706474" y="23515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25553" rIns="0" bIns="0" rtlCol="0" vert="horz">
            <a:spAutoFit/>
          </a:bodyPr>
          <a:lstStyle/>
          <a:p>
            <a:pPr marL="1550670">
              <a:lnSpc>
                <a:spcPct val="100000"/>
              </a:lnSpc>
              <a:spcBef>
                <a:spcPts val="100"/>
              </a:spcBef>
            </a:pPr>
            <a:r>
              <a:rPr dirty="0" spc="-330"/>
              <a:t>Recommendations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5927" y="2763855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5927" y="3259155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5927" y="3754455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5927" y="4249755"/>
            <a:ext cx="114300" cy="1142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5927" y="4745055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5927" y="5240355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5927" y="6230954"/>
            <a:ext cx="114300" cy="11429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032818" y="2498419"/>
            <a:ext cx="10715625" cy="398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79450">
              <a:lnSpc>
                <a:spcPct val="116100"/>
              </a:lnSpc>
              <a:spcBef>
                <a:spcPts val="100"/>
              </a:spcBef>
            </a:pPr>
            <a:r>
              <a:rPr dirty="0" sz="2800" spc="-105">
                <a:latin typeface="Georgia"/>
                <a:cs typeface="Georgia"/>
              </a:rPr>
              <a:t>Improve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95">
                <a:latin typeface="Georgia"/>
                <a:cs typeface="Georgia"/>
              </a:rPr>
              <a:t>quality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85">
                <a:latin typeface="Georgia"/>
                <a:cs typeface="Georgia"/>
              </a:rPr>
              <a:t>ratings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increase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potential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enrollment. </a:t>
            </a:r>
            <a:r>
              <a:rPr dirty="0" sz="2800" spc="-65">
                <a:latin typeface="Georgia"/>
                <a:cs typeface="Georgia"/>
              </a:rPr>
              <a:t>Optimize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90">
                <a:latin typeface="Georgia"/>
                <a:cs typeface="Georgia"/>
              </a:rPr>
              <a:t>duration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based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on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70">
                <a:latin typeface="Georgia"/>
                <a:cs typeface="Georgia"/>
              </a:rPr>
              <a:t>learner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preferences.</a:t>
            </a:r>
            <a:endParaRPr sz="2800">
              <a:latin typeface="Georgia"/>
              <a:cs typeface="Georgia"/>
            </a:endParaRPr>
          </a:p>
          <a:p>
            <a:pPr marL="12700" marR="2949575">
              <a:lnSpc>
                <a:spcPct val="116100"/>
              </a:lnSpc>
            </a:pPr>
            <a:r>
              <a:rPr dirty="0" sz="2800" spc="-85">
                <a:latin typeface="Georgia"/>
                <a:cs typeface="Georgia"/>
              </a:rPr>
              <a:t>Prioritize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experienced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85">
                <a:latin typeface="Georgia"/>
                <a:cs typeface="Georgia"/>
              </a:rPr>
              <a:t>highly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rated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instructors. </a:t>
            </a:r>
            <a:r>
              <a:rPr dirty="0" sz="2800" spc="-45">
                <a:latin typeface="Georgia"/>
                <a:cs typeface="Georgia"/>
              </a:rPr>
              <a:t>Use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data-</a:t>
            </a:r>
            <a:r>
              <a:rPr dirty="0" sz="2800" spc="-85">
                <a:latin typeface="Georgia"/>
                <a:cs typeface="Georgia"/>
              </a:rPr>
              <a:t>driven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105">
                <a:latin typeface="Georgia"/>
                <a:cs typeface="Georgia"/>
              </a:rPr>
              <a:t>analysis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when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setting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prices.</a:t>
            </a:r>
            <a:endParaRPr sz="2800">
              <a:latin typeface="Georgia"/>
              <a:cs typeface="Georgia"/>
            </a:endParaRPr>
          </a:p>
          <a:p>
            <a:pPr marL="12700" marR="654050">
              <a:lnSpc>
                <a:spcPct val="116100"/>
              </a:lnSpc>
            </a:pPr>
            <a:r>
              <a:rPr dirty="0" sz="2800" spc="-105">
                <a:latin typeface="Georgia"/>
                <a:cs typeface="Georgia"/>
              </a:rPr>
              <a:t>Identify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high-</a:t>
            </a:r>
            <a:r>
              <a:rPr dirty="0" sz="2800" spc="-70">
                <a:latin typeface="Georgia"/>
                <a:cs typeface="Georgia"/>
              </a:rPr>
              <a:t>demand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categories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before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90">
                <a:latin typeface="Georgia"/>
                <a:cs typeface="Georgia"/>
              </a:rPr>
              <a:t>launching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new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courses.</a:t>
            </a:r>
            <a:r>
              <a:rPr dirty="0" sz="2800" spc="700">
                <a:latin typeface="Georgia"/>
                <a:cs typeface="Georgia"/>
              </a:rPr>
              <a:t> </a:t>
            </a:r>
            <a:r>
              <a:rPr dirty="0" sz="2800" spc="-45">
                <a:latin typeface="Georgia"/>
                <a:cs typeface="Georgia"/>
              </a:rPr>
              <a:t>Use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80">
                <a:latin typeface="Georgia"/>
                <a:cs typeface="Georgia"/>
              </a:rPr>
              <a:t>enrollment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50">
                <a:latin typeface="Georgia"/>
                <a:cs typeface="Georgia"/>
              </a:rPr>
              <a:t>revenue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75">
                <a:latin typeface="Georgia"/>
                <a:cs typeface="Georgia"/>
              </a:rPr>
              <a:t>predictions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for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35">
                <a:latin typeface="Georgia"/>
                <a:cs typeface="Georgia"/>
              </a:rPr>
              <a:t>resource</a:t>
            </a:r>
            <a:r>
              <a:rPr dirty="0" sz="2800" spc="-19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and</a:t>
            </a:r>
            <a:r>
              <a:rPr dirty="0" sz="2800" spc="-185">
                <a:latin typeface="Georgia"/>
                <a:cs typeface="Georgia"/>
              </a:rPr>
              <a:t> </a:t>
            </a:r>
            <a:r>
              <a:rPr dirty="0" sz="2800" spc="-10">
                <a:latin typeface="Georgia"/>
                <a:cs typeface="Georgia"/>
              </a:rPr>
              <a:t>instructor allocation.</a:t>
            </a:r>
            <a:endParaRPr sz="2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2800" spc="-120">
                <a:latin typeface="Georgia"/>
                <a:cs typeface="Georgia"/>
              </a:rPr>
              <a:t>Regularly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5">
                <a:latin typeface="Georgia"/>
                <a:cs typeface="Georgia"/>
              </a:rPr>
              <a:t>monitor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85">
                <a:latin typeface="Georgia"/>
                <a:cs typeface="Georgia"/>
              </a:rPr>
              <a:t>dashboard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85">
                <a:latin typeface="Georgia"/>
                <a:cs typeface="Georgia"/>
              </a:rPr>
              <a:t>insights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>
                <a:latin typeface="Georgia"/>
                <a:cs typeface="Georgia"/>
              </a:rPr>
              <a:t>to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55">
                <a:latin typeface="Georgia"/>
                <a:cs typeface="Georgia"/>
              </a:rPr>
              <a:t>support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60">
                <a:latin typeface="Georgia"/>
                <a:cs typeface="Georgia"/>
              </a:rPr>
              <a:t>future</a:t>
            </a:r>
            <a:r>
              <a:rPr dirty="0" sz="2800" spc="-175">
                <a:latin typeface="Georgia"/>
                <a:cs typeface="Georgia"/>
              </a:rPr>
              <a:t> </a:t>
            </a:r>
            <a:r>
              <a:rPr dirty="0" sz="2800" spc="-25">
                <a:latin typeface="Georgia"/>
                <a:cs typeface="Georgia"/>
              </a:rPr>
              <a:t>course</a:t>
            </a:r>
            <a:r>
              <a:rPr dirty="0" sz="2800" spc="-180">
                <a:latin typeface="Georgia"/>
                <a:cs typeface="Georgia"/>
              </a:rPr>
              <a:t> </a:t>
            </a:r>
            <a:r>
              <a:rPr dirty="0" sz="2800" spc="-40">
                <a:latin typeface="Georgia"/>
                <a:cs typeface="Georgia"/>
              </a:rPr>
              <a:t>planning.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8699"/>
            <a:ext cx="18288000" cy="38100"/>
          </a:xfrm>
          <a:custGeom>
            <a:avLst/>
            <a:gdLst/>
            <a:ahLst/>
            <a:cxnLst/>
            <a:rect l="l" t="t" r="r" b="b"/>
            <a:pathLst>
              <a:path w="18288000" h="38100">
                <a:moveTo>
                  <a:pt x="0" y="38099"/>
                </a:moveTo>
                <a:lnTo>
                  <a:pt x="0" y="0"/>
                </a:lnTo>
                <a:lnTo>
                  <a:pt x="18287999" y="0"/>
                </a:lnTo>
                <a:lnTo>
                  <a:pt x="18287999" y="38099"/>
                </a:lnTo>
                <a:lnTo>
                  <a:pt x="0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74050" rIns="0" bIns="0" rtlCol="0" vert="horz">
            <a:spAutoFit/>
          </a:bodyPr>
          <a:lstStyle/>
          <a:p>
            <a:pPr marL="2660650">
              <a:lnSpc>
                <a:spcPct val="100000"/>
              </a:lnSpc>
              <a:spcBef>
                <a:spcPts val="95"/>
              </a:spcBef>
            </a:pPr>
            <a:r>
              <a:rPr dirty="0" spc="-235"/>
              <a:t>Conclusion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97687" y="3644903"/>
            <a:ext cx="16692880" cy="4987925"/>
            <a:chOff x="797687" y="3644903"/>
            <a:chExt cx="16692880" cy="4987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5611" y="3683003"/>
              <a:ext cx="16615073" cy="49116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5787" y="3683003"/>
              <a:ext cx="16616680" cy="4911725"/>
            </a:xfrm>
            <a:custGeom>
              <a:avLst/>
              <a:gdLst/>
              <a:ahLst/>
              <a:cxnLst/>
              <a:rect l="l" t="t" r="r" b="b"/>
              <a:pathLst>
                <a:path w="16616680" h="4911725">
                  <a:moveTo>
                    <a:pt x="171445" y="0"/>
                  </a:moveTo>
                  <a:lnTo>
                    <a:pt x="16444860" y="0"/>
                  </a:lnTo>
                  <a:lnTo>
                    <a:pt x="16478464" y="3324"/>
                  </a:lnTo>
                  <a:lnTo>
                    <a:pt x="16539978" y="28805"/>
                  </a:lnTo>
                  <a:lnTo>
                    <a:pt x="16587500" y="76327"/>
                  </a:lnTo>
                  <a:lnTo>
                    <a:pt x="16612981" y="137841"/>
                  </a:lnTo>
                  <a:lnTo>
                    <a:pt x="16616305" y="171445"/>
                  </a:lnTo>
                  <a:lnTo>
                    <a:pt x="16616305" y="4740030"/>
                  </a:lnTo>
                  <a:lnTo>
                    <a:pt x="16603255" y="4805639"/>
                  </a:lnTo>
                  <a:lnTo>
                    <a:pt x="16566090" y="4861261"/>
                  </a:lnTo>
                  <a:lnTo>
                    <a:pt x="16510470" y="4898425"/>
                  </a:lnTo>
                  <a:lnTo>
                    <a:pt x="16444860" y="4911476"/>
                  </a:lnTo>
                  <a:lnTo>
                    <a:pt x="171445" y="4911476"/>
                  </a:lnTo>
                  <a:lnTo>
                    <a:pt x="137841" y="4908151"/>
                  </a:lnTo>
                  <a:lnTo>
                    <a:pt x="76327" y="4882671"/>
                  </a:lnTo>
                  <a:lnTo>
                    <a:pt x="28804" y="4835148"/>
                  </a:lnTo>
                  <a:lnTo>
                    <a:pt x="3324" y="4773634"/>
                  </a:lnTo>
                  <a:lnTo>
                    <a:pt x="0" y="4740030"/>
                  </a:lnTo>
                  <a:lnTo>
                    <a:pt x="0" y="171445"/>
                  </a:lnTo>
                  <a:lnTo>
                    <a:pt x="13050" y="105835"/>
                  </a:lnTo>
                  <a:lnTo>
                    <a:pt x="50215" y="50215"/>
                  </a:lnTo>
                  <a:lnTo>
                    <a:pt x="105835" y="13050"/>
                  </a:lnTo>
                  <a:lnTo>
                    <a:pt x="171445" y="0"/>
                  </a:lnTo>
                </a:path>
              </a:pathLst>
            </a:custGeom>
            <a:ln w="761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dirty="0" spc="-20"/>
              <a:t>The</a:t>
            </a:r>
            <a:r>
              <a:rPr dirty="0" spc="-180"/>
              <a:t> </a:t>
            </a:r>
            <a:r>
              <a:rPr dirty="0" spc="-110"/>
              <a:t>EduPro</a:t>
            </a:r>
            <a:r>
              <a:rPr dirty="0" spc="-180"/>
              <a:t> </a:t>
            </a:r>
            <a:r>
              <a:rPr dirty="0" spc="-80"/>
              <a:t>Predictive</a:t>
            </a:r>
            <a:r>
              <a:rPr dirty="0" spc="-175"/>
              <a:t> </a:t>
            </a:r>
            <a:r>
              <a:rPr dirty="0" spc="-90"/>
              <a:t>Intelligence</a:t>
            </a:r>
            <a:r>
              <a:rPr dirty="0" spc="-180"/>
              <a:t> </a:t>
            </a:r>
            <a:r>
              <a:rPr dirty="0" spc="-65"/>
              <a:t>project</a:t>
            </a:r>
            <a:r>
              <a:rPr dirty="0" spc="-175"/>
              <a:t> </a:t>
            </a:r>
            <a:r>
              <a:rPr dirty="0" spc="-80"/>
              <a:t>transformed</a:t>
            </a:r>
            <a:r>
              <a:rPr dirty="0" spc="-180"/>
              <a:t> </a:t>
            </a:r>
            <a:r>
              <a:rPr dirty="0" spc="-90"/>
              <a:t>historical</a:t>
            </a:r>
            <a:r>
              <a:rPr dirty="0" spc="-175"/>
              <a:t> </a:t>
            </a:r>
            <a:r>
              <a:rPr dirty="0" spc="-50"/>
              <a:t>course,</a:t>
            </a:r>
            <a:r>
              <a:rPr dirty="0" spc="-180"/>
              <a:t> </a:t>
            </a:r>
            <a:r>
              <a:rPr dirty="0" spc="-85"/>
              <a:t>instructor,</a:t>
            </a:r>
            <a:r>
              <a:rPr dirty="0" spc="-175"/>
              <a:t> </a:t>
            </a:r>
            <a:r>
              <a:rPr dirty="0" spc="-65"/>
              <a:t>and</a:t>
            </a:r>
            <a:r>
              <a:rPr dirty="0" spc="-180"/>
              <a:t> </a:t>
            </a:r>
            <a:r>
              <a:rPr dirty="0" spc="-75"/>
              <a:t>transaction</a:t>
            </a:r>
            <a:r>
              <a:rPr dirty="0" spc="-175"/>
              <a:t> </a:t>
            </a:r>
            <a:r>
              <a:rPr dirty="0" spc="-70"/>
              <a:t>data</a:t>
            </a:r>
            <a:r>
              <a:rPr dirty="0" spc="-180"/>
              <a:t> </a:t>
            </a:r>
            <a:r>
              <a:rPr dirty="0" spc="-65"/>
              <a:t>into</a:t>
            </a:r>
            <a:r>
              <a:rPr dirty="0" spc="-175"/>
              <a:t> </a:t>
            </a:r>
            <a:r>
              <a:rPr dirty="0" spc="-50"/>
              <a:t>a </a:t>
            </a:r>
            <a:r>
              <a:rPr dirty="0" spc="-55"/>
              <a:t>data-</a:t>
            </a:r>
            <a:r>
              <a:rPr dirty="0" spc="-85"/>
              <a:t>driven</a:t>
            </a:r>
            <a:r>
              <a:rPr dirty="0" spc="-175"/>
              <a:t> </a:t>
            </a:r>
            <a:r>
              <a:rPr dirty="0" spc="-75"/>
              <a:t>predictive</a:t>
            </a:r>
            <a:r>
              <a:rPr dirty="0" spc="-170"/>
              <a:t> </a:t>
            </a:r>
            <a:r>
              <a:rPr dirty="0" spc="-85"/>
              <a:t>analytics</a:t>
            </a:r>
            <a:r>
              <a:rPr dirty="0" spc="-175"/>
              <a:t> </a:t>
            </a:r>
            <a:r>
              <a:rPr dirty="0" spc="-70"/>
              <a:t>system.</a:t>
            </a:r>
            <a:r>
              <a:rPr dirty="0" spc="-170"/>
              <a:t> </a:t>
            </a:r>
            <a:r>
              <a:rPr dirty="0" spc="-80"/>
              <a:t>Machine</a:t>
            </a:r>
            <a:r>
              <a:rPr dirty="0" spc="-175"/>
              <a:t> </a:t>
            </a:r>
            <a:r>
              <a:rPr dirty="0" spc="-90"/>
              <a:t>learning</a:t>
            </a:r>
            <a:r>
              <a:rPr dirty="0" spc="-170"/>
              <a:t> </a:t>
            </a:r>
            <a:r>
              <a:rPr dirty="0" spc="-55"/>
              <a:t>techniques</a:t>
            </a:r>
            <a:r>
              <a:rPr dirty="0" spc="-175"/>
              <a:t> </a:t>
            </a:r>
            <a:r>
              <a:rPr dirty="0"/>
              <a:t>were</a:t>
            </a:r>
            <a:r>
              <a:rPr dirty="0" spc="-170"/>
              <a:t> </a:t>
            </a:r>
            <a:r>
              <a:rPr dirty="0" spc="-40"/>
              <a:t>used</a:t>
            </a:r>
            <a:r>
              <a:rPr dirty="0" spc="-175"/>
              <a:t> </a:t>
            </a:r>
            <a:r>
              <a:rPr dirty="0"/>
              <a:t>to</a:t>
            </a:r>
            <a:r>
              <a:rPr dirty="0" spc="-170"/>
              <a:t> </a:t>
            </a:r>
            <a:r>
              <a:rPr dirty="0" spc="-65"/>
              <a:t>analyze</a:t>
            </a:r>
            <a:r>
              <a:rPr dirty="0" spc="-175"/>
              <a:t> </a:t>
            </a:r>
            <a:r>
              <a:rPr dirty="0" spc="-25"/>
              <a:t>course</a:t>
            </a:r>
            <a:r>
              <a:rPr dirty="0" spc="-170"/>
              <a:t> </a:t>
            </a:r>
            <a:r>
              <a:rPr dirty="0" spc="-10"/>
              <a:t>enrollment </a:t>
            </a:r>
            <a:r>
              <a:rPr dirty="0" spc="-70"/>
              <a:t>demand</a:t>
            </a:r>
            <a:r>
              <a:rPr dirty="0" spc="-180"/>
              <a:t> </a:t>
            </a:r>
            <a:r>
              <a:rPr dirty="0" spc="-65"/>
              <a:t>and</a:t>
            </a:r>
            <a:r>
              <a:rPr dirty="0" spc="-175"/>
              <a:t> </a:t>
            </a:r>
            <a:r>
              <a:rPr dirty="0" spc="-50"/>
              <a:t>revenue</a:t>
            </a:r>
            <a:r>
              <a:rPr dirty="0" spc="-175"/>
              <a:t> </a:t>
            </a:r>
            <a:r>
              <a:rPr dirty="0" spc="-70"/>
              <a:t>performance,</a:t>
            </a:r>
            <a:r>
              <a:rPr dirty="0" spc="-175"/>
              <a:t> </a:t>
            </a:r>
            <a:r>
              <a:rPr dirty="0" spc="-70"/>
              <a:t>while</a:t>
            </a:r>
            <a:r>
              <a:rPr dirty="0" spc="-180"/>
              <a:t> </a:t>
            </a:r>
            <a:r>
              <a:rPr dirty="0" spc="-60"/>
              <a:t>feature</a:t>
            </a:r>
            <a:r>
              <a:rPr dirty="0" spc="-175"/>
              <a:t> </a:t>
            </a:r>
            <a:r>
              <a:rPr dirty="0" spc="-65"/>
              <a:t>importance</a:t>
            </a:r>
            <a:r>
              <a:rPr dirty="0" spc="-175"/>
              <a:t> </a:t>
            </a:r>
            <a:r>
              <a:rPr dirty="0" spc="-105"/>
              <a:t>analysis</a:t>
            </a:r>
            <a:r>
              <a:rPr dirty="0" spc="-175"/>
              <a:t> </a:t>
            </a:r>
            <a:r>
              <a:rPr dirty="0" spc="-90"/>
              <a:t>identified</a:t>
            </a:r>
            <a:r>
              <a:rPr dirty="0" spc="-180"/>
              <a:t> </a:t>
            </a:r>
            <a:r>
              <a:rPr dirty="0" spc="-30"/>
              <a:t>Course</a:t>
            </a:r>
            <a:r>
              <a:rPr dirty="0" spc="-175"/>
              <a:t> </a:t>
            </a:r>
            <a:r>
              <a:rPr dirty="0" spc="-140"/>
              <a:t>Rating,</a:t>
            </a:r>
            <a:r>
              <a:rPr dirty="0" spc="-175"/>
              <a:t> </a:t>
            </a:r>
            <a:r>
              <a:rPr dirty="0" spc="-10"/>
              <a:t>Course </a:t>
            </a:r>
            <a:r>
              <a:rPr dirty="0" spc="-110"/>
              <a:t>Duration,</a:t>
            </a:r>
            <a:r>
              <a:rPr dirty="0" spc="-185"/>
              <a:t> </a:t>
            </a:r>
            <a:r>
              <a:rPr dirty="0" spc="-65"/>
              <a:t>and</a:t>
            </a:r>
            <a:r>
              <a:rPr dirty="0" spc="-180"/>
              <a:t> </a:t>
            </a:r>
            <a:r>
              <a:rPr dirty="0" spc="-75"/>
              <a:t>Instructor</a:t>
            </a:r>
            <a:r>
              <a:rPr dirty="0" spc="-180"/>
              <a:t> </a:t>
            </a:r>
            <a:r>
              <a:rPr dirty="0" spc="-65"/>
              <a:t>Experience</a:t>
            </a:r>
            <a:r>
              <a:rPr dirty="0" spc="-180"/>
              <a:t> </a:t>
            </a:r>
            <a:r>
              <a:rPr dirty="0" spc="-30"/>
              <a:t>as</a:t>
            </a:r>
            <a:r>
              <a:rPr dirty="0" spc="-180"/>
              <a:t> </a:t>
            </a:r>
            <a:r>
              <a:rPr dirty="0" spc="-80"/>
              <a:t>important</a:t>
            </a:r>
            <a:r>
              <a:rPr dirty="0" spc="-185"/>
              <a:t> </a:t>
            </a:r>
            <a:r>
              <a:rPr dirty="0" spc="-50"/>
              <a:t>factors</a:t>
            </a:r>
            <a:r>
              <a:rPr dirty="0" spc="-180"/>
              <a:t> </a:t>
            </a:r>
            <a:r>
              <a:rPr dirty="0" spc="-75"/>
              <a:t>influencing</a:t>
            </a:r>
            <a:r>
              <a:rPr dirty="0" spc="-180"/>
              <a:t> </a:t>
            </a:r>
            <a:r>
              <a:rPr dirty="0" spc="-80"/>
              <a:t>enrollment</a:t>
            </a:r>
            <a:r>
              <a:rPr dirty="0" spc="-180"/>
              <a:t> </a:t>
            </a:r>
            <a:r>
              <a:rPr dirty="0" spc="-85"/>
              <a:t>predictions.</a:t>
            </a:r>
            <a:r>
              <a:rPr dirty="0" spc="-180"/>
              <a:t> </a:t>
            </a:r>
            <a:r>
              <a:rPr dirty="0" spc="-20"/>
              <a:t>The</a:t>
            </a:r>
            <a:r>
              <a:rPr dirty="0" spc="-180"/>
              <a:t> </a:t>
            </a:r>
            <a:r>
              <a:rPr dirty="0" spc="-10"/>
              <a:t>Streamlit </a:t>
            </a:r>
            <a:r>
              <a:rPr dirty="0" spc="-85"/>
              <a:t>dashboard</a:t>
            </a:r>
            <a:r>
              <a:rPr dirty="0" spc="-180"/>
              <a:t> </a:t>
            </a:r>
            <a:r>
              <a:rPr dirty="0" spc="-80"/>
              <a:t>provides</a:t>
            </a:r>
            <a:r>
              <a:rPr dirty="0" spc="-175"/>
              <a:t> </a:t>
            </a:r>
            <a:r>
              <a:rPr dirty="0" spc="-45"/>
              <a:t>an</a:t>
            </a:r>
            <a:r>
              <a:rPr dirty="0" spc="-180"/>
              <a:t> </a:t>
            </a:r>
            <a:r>
              <a:rPr dirty="0" spc="-75"/>
              <a:t>interactive</a:t>
            </a:r>
            <a:r>
              <a:rPr dirty="0" spc="-175"/>
              <a:t> </a:t>
            </a:r>
            <a:r>
              <a:rPr dirty="0" spc="-95"/>
              <a:t>platform</a:t>
            </a:r>
            <a:r>
              <a:rPr dirty="0" spc="-180"/>
              <a:t> </a:t>
            </a:r>
            <a:r>
              <a:rPr dirty="0" spc="-40"/>
              <a:t>for</a:t>
            </a:r>
            <a:r>
              <a:rPr dirty="0" spc="-175"/>
              <a:t> </a:t>
            </a:r>
            <a:r>
              <a:rPr dirty="0" spc="-70"/>
              <a:t>demand</a:t>
            </a:r>
            <a:r>
              <a:rPr dirty="0" spc="-180"/>
              <a:t> </a:t>
            </a:r>
            <a:r>
              <a:rPr dirty="0" spc="-85"/>
              <a:t>prediction,</a:t>
            </a:r>
            <a:r>
              <a:rPr dirty="0" spc="-175"/>
              <a:t> </a:t>
            </a:r>
            <a:r>
              <a:rPr dirty="0" spc="-50"/>
              <a:t>revenue</a:t>
            </a:r>
            <a:r>
              <a:rPr dirty="0" spc="-175"/>
              <a:t> </a:t>
            </a:r>
            <a:r>
              <a:rPr dirty="0" spc="-114"/>
              <a:t>analysis,</a:t>
            </a:r>
            <a:r>
              <a:rPr dirty="0" spc="-180"/>
              <a:t> </a:t>
            </a:r>
            <a:r>
              <a:rPr dirty="0" spc="-25"/>
              <a:t>category</a:t>
            </a:r>
            <a:r>
              <a:rPr dirty="0" spc="-175"/>
              <a:t> </a:t>
            </a:r>
            <a:r>
              <a:rPr dirty="0" spc="-85"/>
              <a:t>comparison,</a:t>
            </a:r>
            <a:r>
              <a:rPr dirty="0" spc="-180"/>
              <a:t> </a:t>
            </a:r>
            <a:r>
              <a:rPr dirty="0" spc="-25"/>
              <a:t>and </a:t>
            </a:r>
            <a:r>
              <a:rPr dirty="0" spc="-60"/>
              <a:t>feature</a:t>
            </a:r>
            <a:r>
              <a:rPr dirty="0" spc="-185"/>
              <a:t> </a:t>
            </a:r>
            <a:r>
              <a:rPr dirty="0" spc="-95"/>
              <a:t>exploration.</a:t>
            </a:r>
            <a:r>
              <a:rPr dirty="0" spc="-180"/>
              <a:t> </a:t>
            </a:r>
            <a:r>
              <a:rPr dirty="0" spc="-110"/>
              <a:t>Overall,</a:t>
            </a:r>
            <a:r>
              <a:rPr dirty="0" spc="-185"/>
              <a:t> </a:t>
            </a:r>
            <a:r>
              <a:rPr dirty="0"/>
              <a:t>the</a:t>
            </a:r>
            <a:r>
              <a:rPr dirty="0" spc="-180"/>
              <a:t> </a:t>
            </a:r>
            <a:r>
              <a:rPr dirty="0" spc="-65"/>
              <a:t>project</a:t>
            </a:r>
            <a:r>
              <a:rPr dirty="0" spc="-180"/>
              <a:t> </a:t>
            </a:r>
            <a:r>
              <a:rPr dirty="0" spc="-65"/>
              <a:t>helps</a:t>
            </a:r>
            <a:r>
              <a:rPr dirty="0" spc="-185"/>
              <a:t> </a:t>
            </a:r>
            <a:r>
              <a:rPr dirty="0" spc="-110"/>
              <a:t>EduPro</a:t>
            </a:r>
            <a:r>
              <a:rPr dirty="0" spc="-180"/>
              <a:t> </a:t>
            </a:r>
            <a:r>
              <a:rPr dirty="0" spc="-45"/>
              <a:t>move</a:t>
            </a:r>
            <a:r>
              <a:rPr dirty="0" spc="-185"/>
              <a:t> </a:t>
            </a:r>
            <a:r>
              <a:rPr dirty="0" spc="-65"/>
              <a:t>from</a:t>
            </a:r>
            <a:r>
              <a:rPr dirty="0" spc="-180"/>
              <a:t> </a:t>
            </a:r>
            <a:r>
              <a:rPr dirty="0" spc="-55"/>
              <a:t>reactive</a:t>
            </a:r>
            <a:r>
              <a:rPr dirty="0" spc="-180"/>
              <a:t> </a:t>
            </a:r>
            <a:r>
              <a:rPr dirty="0" spc="-65"/>
              <a:t>reporting</a:t>
            </a:r>
            <a:r>
              <a:rPr dirty="0" spc="-185"/>
              <a:t> </a:t>
            </a:r>
            <a:r>
              <a:rPr dirty="0"/>
              <a:t>to</a:t>
            </a:r>
            <a:r>
              <a:rPr dirty="0" spc="-180"/>
              <a:t> </a:t>
            </a:r>
            <a:r>
              <a:rPr dirty="0" spc="-65"/>
              <a:t>proactive</a:t>
            </a:r>
            <a:r>
              <a:rPr dirty="0" spc="-180"/>
              <a:t> </a:t>
            </a:r>
            <a:r>
              <a:rPr dirty="0" spc="-105"/>
              <a:t>planning</a:t>
            </a:r>
            <a:r>
              <a:rPr dirty="0" spc="-185"/>
              <a:t> </a:t>
            </a:r>
            <a:r>
              <a:rPr dirty="0" spc="-25"/>
              <a:t>and </a:t>
            </a:r>
            <a:r>
              <a:rPr dirty="0" spc="-60"/>
              <a:t>supports</a:t>
            </a:r>
            <a:r>
              <a:rPr dirty="0" spc="-170"/>
              <a:t> </a:t>
            </a:r>
            <a:r>
              <a:rPr dirty="0" spc="-20"/>
              <a:t>better</a:t>
            </a:r>
            <a:r>
              <a:rPr dirty="0" spc="-170"/>
              <a:t> </a:t>
            </a:r>
            <a:r>
              <a:rPr dirty="0" spc="-70"/>
              <a:t>decisions</a:t>
            </a:r>
            <a:r>
              <a:rPr dirty="0" spc="-170"/>
              <a:t> </a:t>
            </a:r>
            <a:r>
              <a:rPr dirty="0" spc="-65"/>
              <a:t>related</a:t>
            </a:r>
            <a:r>
              <a:rPr dirty="0" spc="-170"/>
              <a:t> </a:t>
            </a:r>
            <a:r>
              <a:rPr dirty="0"/>
              <a:t>to</a:t>
            </a:r>
            <a:r>
              <a:rPr dirty="0" spc="-170"/>
              <a:t> </a:t>
            </a:r>
            <a:r>
              <a:rPr dirty="0" spc="-25"/>
              <a:t>course</a:t>
            </a:r>
            <a:r>
              <a:rPr dirty="0" spc="-170"/>
              <a:t> </a:t>
            </a:r>
            <a:r>
              <a:rPr dirty="0" spc="-80"/>
              <a:t>development,</a:t>
            </a:r>
            <a:r>
              <a:rPr dirty="0" spc="-170"/>
              <a:t> </a:t>
            </a:r>
            <a:r>
              <a:rPr dirty="0" spc="-95"/>
              <a:t>pricing,</a:t>
            </a:r>
            <a:r>
              <a:rPr dirty="0" spc="-170"/>
              <a:t> </a:t>
            </a:r>
            <a:r>
              <a:rPr dirty="0" spc="-65"/>
              <a:t>instructor</a:t>
            </a:r>
            <a:r>
              <a:rPr dirty="0" spc="-170"/>
              <a:t> </a:t>
            </a:r>
            <a:r>
              <a:rPr dirty="0" spc="-100"/>
              <a:t>allocation,</a:t>
            </a:r>
            <a:r>
              <a:rPr dirty="0" spc="-170"/>
              <a:t> </a:t>
            </a:r>
            <a:r>
              <a:rPr dirty="0" spc="-65"/>
              <a:t>and</a:t>
            </a:r>
            <a:r>
              <a:rPr dirty="0" spc="-170"/>
              <a:t> </a:t>
            </a:r>
            <a:r>
              <a:rPr dirty="0" spc="-60"/>
              <a:t>future</a:t>
            </a:r>
            <a:r>
              <a:rPr dirty="0" spc="-170"/>
              <a:t> </a:t>
            </a:r>
            <a:r>
              <a:rPr dirty="0" spc="-10"/>
              <a:t>business strategy.</a:t>
            </a:r>
          </a:p>
        </p:txBody>
      </p:sp>
      <p:sp>
        <p:nvSpPr>
          <p:cNvPr id="8" name="object 8"/>
          <p:cNvSpPr/>
          <p:nvPr/>
        </p:nvSpPr>
        <p:spPr>
          <a:xfrm>
            <a:off x="890358" y="1802759"/>
            <a:ext cx="1637030" cy="1637030"/>
          </a:xfrm>
          <a:custGeom>
            <a:avLst/>
            <a:gdLst/>
            <a:ahLst/>
            <a:cxnLst/>
            <a:rect l="l" t="t" r="r" b="b"/>
            <a:pathLst>
              <a:path w="1637030" h="1637029">
                <a:moveTo>
                  <a:pt x="1475877" y="1636504"/>
                </a:moveTo>
                <a:lnTo>
                  <a:pt x="1434192" y="1633793"/>
                </a:lnTo>
                <a:lnTo>
                  <a:pt x="1388647" y="1624497"/>
                </a:lnTo>
                <a:lnTo>
                  <a:pt x="1339527" y="1608329"/>
                </a:lnTo>
                <a:lnTo>
                  <a:pt x="1287121" y="1585001"/>
                </a:lnTo>
                <a:lnTo>
                  <a:pt x="1231715" y="1554228"/>
                </a:lnTo>
                <a:lnTo>
                  <a:pt x="1173595" y="1515722"/>
                </a:lnTo>
                <a:lnTo>
                  <a:pt x="1113049" y="1469197"/>
                </a:lnTo>
                <a:lnTo>
                  <a:pt x="1081955" y="1442838"/>
                </a:lnTo>
                <a:lnTo>
                  <a:pt x="1050363" y="1414366"/>
                </a:lnTo>
                <a:lnTo>
                  <a:pt x="1018307" y="1383746"/>
                </a:lnTo>
                <a:lnTo>
                  <a:pt x="985824" y="1350942"/>
                </a:lnTo>
                <a:lnTo>
                  <a:pt x="952949" y="1315917"/>
                </a:lnTo>
                <a:lnTo>
                  <a:pt x="919719" y="1278637"/>
                </a:lnTo>
                <a:lnTo>
                  <a:pt x="886168" y="1239066"/>
                </a:lnTo>
                <a:lnTo>
                  <a:pt x="852334" y="1197166"/>
                </a:lnTo>
                <a:lnTo>
                  <a:pt x="818252" y="1152904"/>
                </a:lnTo>
                <a:lnTo>
                  <a:pt x="784170" y="1197166"/>
                </a:lnTo>
                <a:lnTo>
                  <a:pt x="750335" y="1239066"/>
                </a:lnTo>
                <a:lnTo>
                  <a:pt x="716785" y="1278637"/>
                </a:lnTo>
                <a:lnTo>
                  <a:pt x="683555" y="1315917"/>
                </a:lnTo>
                <a:lnTo>
                  <a:pt x="650680" y="1350942"/>
                </a:lnTo>
                <a:lnTo>
                  <a:pt x="618197" y="1383746"/>
                </a:lnTo>
                <a:lnTo>
                  <a:pt x="586141" y="1414366"/>
                </a:lnTo>
                <a:lnTo>
                  <a:pt x="554548" y="1442838"/>
                </a:lnTo>
                <a:lnTo>
                  <a:pt x="523455" y="1469197"/>
                </a:lnTo>
                <a:lnTo>
                  <a:pt x="492896" y="1493480"/>
                </a:lnTo>
                <a:lnTo>
                  <a:pt x="433527" y="1535960"/>
                </a:lnTo>
                <a:lnTo>
                  <a:pt x="376728" y="1570563"/>
                </a:lnTo>
                <a:lnTo>
                  <a:pt x="322786" y="1597578"/>
                </a:lnTo>
                <a:lnTo>
                  <a:pt x="271988" y="1617290"/>
                </a:lnTo>
                <a:lnTo>
                  <a:pt x="224619" y="1629986"/>
                </a:lnTo>
                <a:lnTo>
                  <a:pt x="180969" y="1635954"/>
                </a:lnTo>
                <a:lnTo>
                  <a:pt x="160627" y="1636504"/>
                </a:lnTo>
                <a:lnTo>
                  <a:pt x="141322" y="1635479"/>
                </a:lnTo>
                <a:lnTo>
                  <a:pt x="89986" y="1623316"/>
                </a:lnTo>
                <a:lnTo>
                  <a:pt x="49274" y="1598273"/>
                </a:lnTo>
                <a:lnTo>
                  <a:pt x="20151" y="1561316"/>
                </a:lnTo>
                <a:lnTo>
                  <a:pt x="3587" y="1513414"/>
                </a:lnTo>
                <a:lnTo>
                  <a:pt x="0" y="1475876"/>
                </a:lnTo>
                <a:lnTo>
                  <a:pt x="550" y="1455535"/>
                </a:lnTo>
                <a:lnTo>
                  <a:pt x="6517" y="1411884"/>
                </a:lnTo>
                <a:lnTo>
                  <a:pt x="19214" y="1364516"/>
                </a:lnTo>
                <a:lnTo>
                  <a:pt x="38926" y="1313717"/>
                </a:lnTo>
                <a:lnTo>
                  <a:pt x="65940" y="1259775"/>
                </a:lnTo>
                <a:lnTo>
                  <a:pt x="100544" y="1202976"/>
                </a:lnTo>
                <a:lnTo>
                  <a:pt x="143023" y="1143607"/>
                </a:lnTo>
                <a:lnTo>
                  <a:pt x="167306" y="1113049"/>
                </a:lnTo>
                <a:lnTo>
                  <a:pt x="193666" y="1081955"/>
                </a:lnTo>
                <a:lnTo>
                  <a:pt x="222138" y="1050363"/>
                </a:lnTo>
                <a:lnTo>
                  <a:pt x="252758" y="1018307"/>
                </a:lnTo>
                <a:lnTo>
                  <a:pt x="285562" y="985824"/>
                </a:lnTo>
                <a:lnTo>
                  <a:pt x="320586" y="952949"/>
                </a:lnTo>
                <a:lnTo>
                  <a:pt x="357866" y="919718"/>
                </a:lnTo>
                <a:lnTo>
                  <a:pt x="397438" y="886168"/>
                </a:lnTo>
                <a:lnTo>
                  <a:pt x="439337" y="852334"/>
                </a:lnTo>
                <a:lnTo>
                  <a:pt x="483600" y="818252"/>
                </a:lnTo>
                <a:lnTo>
                  <a:pt x="439337" y="784169"/>
                </a:lnTo>
                <a:lnTo>
                  <a:pt x="397438" y="750335"/>
                </a:lnTo>
                <a:lnTo>
                  <a:pt x="357866" y="716785"/>
                </a:lnTo>
                <a:lnTo>
                  <a:pt x="320586" y="683555"/>
                </a:lnTo>
                <a:lnTo>
                  <a:pt x="285562" y="650680"/>
                </a:lnTo>
                <a:lnTo>
                  <a:pt x="252758" y="618197"/>
                </a:lnTo>
                <a:lnTo>
                  <a:pt x="222138" y="586141"/>
                </a:lnTo>
                <a:lnTo>
                  <a:pt x="193666" y="554548"/>
                </a:lnTo>
                <a:lnTo>
                  <a:pt x="167306" y="523455"/>
                </a:lnTo>
                <a:lnTo>
                  <a:pt x="143023" y="492896"/>
                </a:lnTo>
                <a:lnTo>
                  <a:pt x="100544" y="433527"/>
                </a:lnTo>
                <a:lnTo>
                  <a:pt x="65940" y="376728"/>
                </a:lnTo>
                <a:lnTo>
                  <a:pt x="38926" y="322786"/>
                </a:lnTo>
                <a:lnTo>
                  <a:pt x="19214" y="271988"/>
                </a:lnTo>
                <a:lnTo>
                  <a:pt x="6517" y="224620"/>
                </a:lnTo>
                <a:lnTo>
                  <a:pt x="550" y="180969"/>
                </a:lnTo>
                <a:lnTo>
                  <a:pt x="0" y="160627"/>
                </a:lnTo>
                <a:lnTo>
                  <a:pt x="1024" y="141322"/>
                </a:lnTo>
                <a:lnTo>
                  <a:pt x="13187" y="89987"/>
                </a:lnTo>
                <a:lnTo>
                  <a:pt x="38231" y="49274"/>
                </a:lnTo>
                <a:lnTo>
                  <a:pt x="75187" y="20151"/>
                </a:lnTo>
                <a:lnTo>
                  <a:pt x="123089" y="3587"/>
                </a:lnTo>
                <a:lnTo>
                  <a:pt x="160627" y="0"/>
                </a:lnTo>
                <a:lnTo>
                  <a:pt x="180969" y="550"/>
                </a:lnTo>
                <a:lnTo>
                  <a:pt x="224619" y="6517"/>
                </a:lnTo>
                <a:lnTo>
                  <a:pt x="271988" y="19214"/>
                </a:lnTo>
                <a:lnTo>
                  <a:pt x="322786" y="38926"/>
                </a:lnTo>
                <a:lnTo>
                  <a:pt x="376728" y="65940"/>
                </a:lnTo>
                <a:lnTo>
                  <a:pt x="433527" y="100543"/>
                </a:lnTo>
                <a:lnTo>
                  <a:pt x="492896" y="143023"/>
                </a:lnTo>
                <a:lnTo>
                  <a:pt x="523455" y="167306"/>
                </a:lnTo>
                <a:lnTo>
                  <a:pt x="554548" y="193665"/>
                </a:lnTo>
                <a:lnTo>
                  <a:pt x="586141" y="222137"/>
                </a:lnTo>
                <a:lnTo>
                  <a:pt x="618197" y="252757"/>
                </a:lnTo>
                <a:lnTo>
                  <a:pt x="650680" y="285562"/>
                </a:lnTo>
                <a:lnTo>
                  <a:pt x="683555" y="320586"/>
                </a:lnTo>
                <a:lnTo>
                  <a:pt x="716785" y="357866"/>
                </a:lnTo>
                <a:lnTo>
                  <a:pt x="750335" y="397438"/>
                </a:lnTo>
                <a:lnTo>
                  <a:pt x="784170" y="439337"/>
                </a:lnTo>
                <a:lnTo>
                  <a:pt x="818252" y="483600"/>
                </a:lnTo>
                <a:lnTo>
                  <a:pt x="852334" y="439337"/>
                </a:lnTo>
                <a:lnTo>
                  <a:pt x="886168" y="397438"/>
                </a:lnTo>
                <a:lnTo>
                  <a:pt x="919719" y="357866"/>
                </a:lnTo>
                <a:lnTo>
                  <a:pt x="952949" y="320586"/>
                </a:lnTo>
                <a:lnTo>
                  <a:pt x="985824" y="285562"/>
                </a:lnTo>
                <a:lnTo>
                  <a:pt x="1018307" y="252757"/>
                </a:lnTo>
                <a:lnTo>
                  <a:pt x="1050363" y="222137"/>
                </a:lnTo>
                <a:lnTo>
                  <a:pt x="1081955" y="193665"/>
                </a:lnTo>
                <a:lnTo>
                  <a:pt x="1113049" y="167306"/>
                </a:lnTo>
                <a:lnTo>
                  <a:pt x="1143607" y="143023"/>
                </a:lnTo>
                <a:lnTo>
                  <a:pt x="1202976" y="100543"/>
                </a:lnTo>
                <a:lnTo>
                  <a:pt x="1259775" y="65940"/>
                </a:lnTo>
                <a:lnTo>
                  <a:pt x="1313717" y="38926"/>
                </a:lnTo>
                <a:lnTo>
                  <a:pt x="1364516" y="19214"/>
                </a:lnTo>
                <a:lnTo>
                  <a:pt x="1411884" y="6517"/>
                </a:lnTo>
                <a:lnTo>
                  <a:pt x="1455535" y="550"/>
                </a:lnTo>
                <a:lnTo>
                  <a:pt x="1475877" y="0"/>
                </a:lnTo>
                <a:lnTo>
                  <a:pt x="1495182" y="1024"/>
                </a:lnTo>
                <a:lnTo>
                  <a:pt x="1546517" y="13187"/>
                </a:lnTo>
                <a:lnTo>
                  <a:pt x="1587230" y="38231"/>
                </a:lnTo>
                <a:lnTo>
                  <a:pt x="1616352" y="75188"/>
                </a:lnTo>
                <a:lnTo>
                  <a:pt x="1632916" y="123090"/>
                </a:lnTo>
                <a:lnTo>
                  <a:pt x="1636504" y="160627"/>
                </a:lnTo>
                <a:lnTo>
                  <a:pt x="1635954" y="180969"/>
                </a:lnTo>
                <a:lnTo>
                  <a:pt x="1629986" y="224620"/>
                </a:lnTo>
                <a:lnTo>
                  <a:pt x="1617290" y="271988"/>
                </a:lnTo>
                <a:lnTo>
                  <a:pt x="1597578" y="322786"/>
                </a:lnTo>
                <a:lnTo>
                  <a:pt x="1570564" y="376728"/>
                </a:lnTo>
                <a:lnTo>
                  <a:pt x="1535960" y="433527"/>
                </a:lnTo>
                <a:lnTo>
                  <a:pt x="1493481" y="492896"/>
                </a:lnTo>
                <a:lnTo>
                  <a:pt x="1469198" y="523455"/>
                </a:lnTo>
                <a:lnTo>
                  <a:pt x="1442838" y="554548"/>
                </a:lnTo>
                <a:lnTo>
                  <a:pt x="1414366" y="586141"/>
                </a:lnTo>
                <a:lnTo>
                  <a:pt x="1383746" y="618197"/>
                </a:lnTo>
                <a:lnTo>
                  <a:pt x="1350942" y="650680"/>
                </a:lnTo>
                <a:lnTo>
                  <a:pt x="1315918" y="683555"/>
                </a:lnTo>
                <a:lnTo>
                  <a:pt x="1278638" y="716785"/>
                </a:lnTo>
                <a:lnTo>
                  <a:pt x="1239066" y="750335"/>
                </a:lnTo>
                <a:lnTo>
                  <a:pt x="1197167" y="784169"/>
                </a:lnTo>
                <a:lnTo>
                  <a:pt x="1152904" y="818252"/>
                </a:lnTo>
                <a:lnTo>
                  <a:pt x="1197167" y="852334"/>
                </a:lnTo>
                <a:lnTo>
                  <a:pt x="1239066" y="886168"/>
                </a:lnTo>
                <a:lnTo>
                  <a:pt x="1278638" y="919718"/>
                </a:lnTo>
                <a:lnTo>
                  <a:pt x="1315918" y="952949"/>
                </a:lnTo>
                <a:lnTo>
                  <a:pt x="1350942" y="985824"/>
                </a:lnTo>
                <a:lnTo>
                  <a:pt x="1383746" y="1018307"/>
                </a:lnTo>
                <a:lnTo>
                  <a:pt x="1414366" y="1050363"/>
                </a:lnTo>
                <a:lnTo>
                  <a:pt x="1442838" y="1081955"/>
                </a:lnTo>
                <a:lnTo>
                  <a:pt x="1469198" y="1113049"/>
                </a:lnTo>
                <a:lnTo>
                  <a:pt x="1493481" y="1143607"/>
                </a:lnTo>
                <a:lnTo>
                  <a:pt x="1535960" y="1202976"/>
                </a:lnTo>
                <a:lnTo>
                  <a:pt x="1570564" y="1259775"/>
                </a:lnTo>
                <a:lnTo>
                  <a:pt x="1597578" y="1313717"/>
                </a:lnTo>
                <a:lnTo>
                  <a:pt x="1617290" y="1364516"/>
                </a:lnTo>
                <a:lnTo>
                  <a:pt x="1629986" y="1411884"/>
                </a:lnTo>
                <a:lnTo>
                  <a:pt x="1635954" y="1455535"/>
                </a:lnTo>
                <a:lnTo>
                  <a:pt x="1636504" y="1475876"/>
                </a:lnTo>
                <a:lnTo>
                  <a:pt x="1635480" y="1495181"/>
                </a:lnTo>
                <a:lnTo>
                  <a:pt x="1623317" y="1546517"/>
                </a:lnTo>
                <a:lnTo>
                  <a:pt x="1598273" y="1587229"/>
                </a:lnTo>
                <a:lnTo>
                  <a:pt x="1561316" y="1616352"/>
                </a:lnTo>
                <a:lnTo>
                  <a:pt x="1513414" y="1632916"/>
                </a:lnTo>
                <a:lnTo>
                  <a:pt x="1495182" y="1635479"/>
                </a:lnTo>
                <a:lnTo>
                  <a:pt x="1475877" y="16365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461281" y="1773513"/>
            <a:ext cx="1637030" cy="1637030"/>
          </a:xfrm>
          <a:custGeom>
            <a:avLst/>
            <a:gdLst/>
            <a:ahLst/>
            <a:cxnLst/>
            <a:rect l="l" t="t" r="r" b="b"/>
            <a:pathLst>
              <a:path w="1637030" h="1637029">
                <a:moveTo>
                  <a:pt x="1475877" y="1636504"/>
                </a:moveTo>
                <a:lnTo>
                  <a:pt x="1434192" y="1633793"/>
                </a:lnTo>
                <a:lnTo>
                  <a:pt x="1388647" y="1624497"/>
                </a:lnTo>
                <a:lnTo>
                  <a:pt x="1339527" y="1608329"/>
                </a:lnTo>
                <a:lnTo>
                  <a:pt x="1287121" y="1585001"/>
                </a:lnTo>
                <a:lnTo>
                  <a:pt x="1231715" y="1554228"/>
                </a:lnTo>
                <a:lnTo>
                  <a:pt x="1173595" y="1515722"/>
                </a:lnTo>
                <a:lnTo>
                  <a:pt x="1113049" y="1469197"/>
                </a:lnTo>
                <a:lnTo>
                  <a:pt x="1081955" y="1442838"/>
                </a:lnTo>
                <a:lnTo>
                  <a:pt x="1050363" y="1414366"/>
                </a:lnTo>
                <a:lnTo>
                  <a:pt x="1018307" y="1383746"/>
                </a:lnTo>
                <a:lnTo>
                  <a:pt x="985824" y="1350942"/>
                </a:lnTo>
                <a:lnTo>
                  <a:pt x="952949" y="1315917"/>
                </a:lnTo>
                <a:lnTo>
                  <a:pt x="919719" y="1278637"/>
                </a:lnTo>
                <a:lnTo>
                  <a:pt x="886168" y="1239066"/>
                </a:lnTo>
                <a:lnTo>
                  <a:pt x="852334" y="1197166"/>
                </a:lnTo>
                <a:lnTo>
                  <a:pt x="818252" y="1152904"/>
                </a:lnTo>
                <a:lnTo>
                  <a:pt x="784170" y="1197166"/>
                </a:lnTo>
                <a:lnTo>
                  <a:pt x="750335" y="1239066"/>
                </a:lnTo>
                <a:lnTo>
                  <a:pt x="716785" y="1278637"/>
                </a:lnTo>
                <a:lnTo>
                  <a:pt x="683555" y="1315917"/>
                </a:lnTo>
                <a:lnTo>
                  <a:pt x="650680" y="1350942"/>
                </a:lnTo>
                <a:lnTo>
                  <a:pt x="618197" y="1383746"/>
                </a:lnTo>
                <a:lnTo>
                  <a:pt x="586141" y="1414366"/>
                </a:lnTo>
                <a:lnTo>
                  <a:pt x="554548" y="1442838"/>
                </a:lnTo>
                <a:lnTo>
                  <a:pt x="523455" y="1469197"/>
                </a:lnTo>
                <a:lnTo>
                  <a:pt x="492896" y="1493480"/>
                </a:lnTo>
                <a:lnTo>
                  <a:pt x="433527" y="1535960"/>
                </a:lnTo>
                <a:lnTo>
                  <a:pt x="376728" y="1570563"/>
                </a:lnTo>
                <a:lnTo>
                  <a:pt x="322786" y="1597578"/>
                </a:lnTo>
                <a:lnTo>
                  <a:pt x="271988" y="1617290"/>
                </a:lnTo>
                <a:lnTo>
                  <a:pt x="224619" y="1629986"/>
                </a:lnTo>
                <a:lnTo>
                  <a:pt x="180969" y="1635954"/>
                </a:lnTo>
                <a:lnTo>
                  <a:pt x="160627" y="1636504"/>
                </a:lnTo>
                <a:lnTo>
                  <a:pt x="141322" y="1635479"/>
                </a:lnTo>
                <a:lnTo>
                  <a:pt x="89986" y="1623316"/>
                </a:lnTo>
                <a:lnTo>
                  <a:pt x="49274" y="1598273"/>
                </a:lnTo>
                <a:lnTo>
                  <a:pt x="20151" y="1561316"/>
                </a:lnTo>
                <a:lnTo>
                  <a:pt x="3587" y="1513414"/>
                </a:lnTo>
                <a:lnTo>
                  <a:pt x="0" y="1475876"/>
                </a:lnTo>
                <a:lnTo>
                  <a:pt x="550" y="1455535"/>
                </a:lnTo>
                <a:lnTo>
                  <a:pt x="6517" y="1411884"/>
                </a:lnTo>
                <a:lnTo>
                  <a:pt x="19214" y="1364516"/>
                </a:lnTo>
                <a:lnTo>
                  <a:pt x="38926" y="1313717"/>
                </a:lnTo>
                <a:lnTo>
                  <a:pt x="65940" y="1259775"/>
                </a:lnTo>
                <a:lnTo>
                  <a:pt x="100544" y="1202976"/>
                </a:lnTo>
                <a:lnTo>
                  <a:pt x="143023" y="1143607"/>
                </a:lnTo>
                <a:lnTo>
                  <a:pt x="167306" y="1113049"/>
                </a:lnTo>
                <a:lnTo>
                  <a:pt x="193666" y="1081955"/>
                </a:lnTo>
                <a:lnTo>
                  <a:pt x="222138" y="1050363"/>
                </a:lnTo>
                <a:lnTo>
                  <a:pt x="252758" y="1018307"/>
                </a:lnTo>
                <a:lnTo>
                  <a:pt x="285562" y="985824"/>
                </a:lnTo>
                <a:lnTo>
                  <a:pt x="320586" y="952949"/>
                </a:lnTo>
                <a:lnTo>
                  <a:pt x="357866" y="919718"/>
                </a:lnTo>
                <a:lnTo>
                  <a:pt x="397438" y="886168"/>
                </a:lnTo>
                <a:lnTo>
                  <a:pt x="439337" y="852334"/>
                </a:lnTo>
                <a:lnTo>
                  <a:pt x="483600" y="818252"/>
                </a:lnTo>
                <a:lnTo>
                  <a:pt x="439337" y="784169"/>
                </a:lnTo>
                <a:lnTo>
                  <a:pt x="397438" y="750335"/>
                </a:lnTo>
                <a:lnTo>
                  <a:pt x="357866" y="716785"/>
                </a:lnTo>
                <a:lnTo>
                  <a:pt x="320586" y="683555"/>
                </a:lnTo>
                <a:lnTo>
                  <a:pt x="285562" y="650680"/>
                </a:lnTo>
                <a:lnTo>
                  <a:pt x="252758" y="618197"/>
                </a:lnTo>
                <a:lnTo>
                  <a:pt x="222138" y="586141"/>
                </a:lnTo>
                <a:lnTo>
                  <a:pt x="193666" y="554548"/>
                </a:lnTo>
                <a:lnTo>
                  <a:pt x="167306" y="523455"/>
                </a:lnTo>
                <a:lnTo>
                  <a:pt x="143023" y="492896"/>
                </a:lnTo>
                <a:lnTo>
                  <a:pt x="100544" y="433527"/>
                </a:lnTo>
                <a:lnTo>
                  <a:pt x="65940" y="376728"/>
                </a:lnTo>
                <a:lnTo>
                  <a:pt x="38926" y="322786"/>
                </a:lnTo>
                <a:lnTo>
                  <a:pt x="19214" y="271988"/>
                </a:lnTo>
                <a:lnTo>
                  <a:pt x="6517" y="224620"/>
                </a:lnTo>
                <a:lnTo>
                  <a:pt x="550" y="180969"/>
                </a:lnTo>
                <a:lnTo>
                  <a:pt x="0" y="160627"/>
                </a:lnTo>
                <a:lnTo>
                  <a:pt x="1024" y="141322"/>
                </a:lnTo>
                <a:lnTo>
                  <a:pt x="13187" y="89987"/>
                </a:lnTo>
                <a:lnTo>
                  <a:pt x="38231" y="49274"/>
                </a:lnTo>
                <a:lnTo>
                  <a:pt x="75187" y="20151"/>
                </a:lnTo>
                <a:lnTo>
                  <a:pt x="123089" y="3587"/>
                </a:lnTo>
                <a:lnTo>
                  <a:pt x="160627" y="0"/>
                </a:lnTo>
                <a:lnTo>
                  <a:pt x="180969" y="550"/>
                </a:lnTo>
                <a:lnTo>
                  <a:pt x="224619" y="6517"/>
                </a:lnTo>
                <a:lnTo>
                  <a:pt x="271988" y="19214"/>
                </a:lnTo>
                <a:lnTo>
                  <a:pt x="322786" y="38926"/>
                </a:lnTo>
                <a:lnTo>
                  <a:pt x="376728" y="65940"/>
                </a:lnTo>
                <a:lnTo>
                  <a:pt x="433527" y="100543"/>
                </a:lnTo>
                <a:lnTo>
                  <a:pt x="492896" y="143023"/>
                </a:lnTo>
                <a:lnTo>
                  <a:pt x="523455" y="167306"/>
                </a:lnTo>
                <a:lnTo>
                  <a:pt x="554548" y="193665"/>
                </a:lnTo>
                <a:lnTo>
                  <a:pt x="586141" y="222137"/>
                </a:lnTo>
                <a:lnTo>
                  <a:pt x="618197" y="252757"/>
                </a:lnTo>
                <a:lnTo>
                  <a:pt x="650680" y="285562"/>
                </a:lnTo>
                <a:lnTo>
                  <a:pt x="683555" y="320586"/>
                </a:lnTo>
                <a:lnTo>
                  <a:pt x="716785" y="357866"/>
                </a:lnTo>
                <a:lnTo>
                  <a:pt x="750335" y="397438"/>
                </a:lnTo>
                <a:lnTo>
                  <a:pt x="784170" y="439337"/>
                </a:lnTo>
                <a:lnTo>
                  <a:pt x="818252" y="483600"/>
                </a:lnTo>
                <a:lnTo>
                  <a:pt x="852334" y="439337"/>
                </a:lnTo>
                <a:lnTo>
                  <a:pt x="886168" y="397438"/>
                </a:lnTo>
                <a:lnTo>
                  <a:pt x="919719" y="357866"/>
                </a:lnTo>
                <a:lnTo>
                  <a:pt x="952949" y="320586"/>
                </a:lnTo>
                <a:lnTo>
                  <a:pt x="985824" y="285562"/>
                </a:lnTo>
                <a:lnTo>
                  <a:pt x="1018307" y="252757"/>
                </a:lnTo>
                <a:lnTo>
                  <a:pt x="1050363" y="222137"/>
                </a:lnTo>
                <a:lnTo>
                  <a:pt x="1081955" y="193665"/>
                </a:lnTo>
                <a:lnTo>
                  <a:pt x="1113049" y="167306"/>
                </a:lnTo>
                <a:lnTo>
                  <a:pt x="1143607" y="143023"/>
                </a:lnTo>
                <a:lnTo>
                  <a:pt x="1202976" y="100543"/>
                </a:lnTo>
                <a:lnTo>
                  <a:pt x="1259775" y="65940"/>
                </a:lnTo>
                <a:lnTo>
                  <a:pt x="1313717" y="38926"/>
                </a:lnTo>
                <a:lnTo>
                  <a:pt x="1364516" y="19214"/>
                </a:lnTo>
                <a:lnTo>
                  <a:pt x="1411884" y="6517"/>
                </a:lnTo>
                <a:lnTo>
                  <a:pt x="1455535" y="550"/>
                </a:lnTo>
                <a:lnTo>
                  <a:pt x="1475877" y="0"/>
                </a:lnTo>
                <a:lnTo>
                  <a:pt x="1495182" y="1024"/>
                </a:lnTo>
                <a:lnTo>
                  <a:pt x="1546517" y="13187"/>
                </a:lnTo>
                <a:lnTo>
                  <a:pt x="1587230" y="38231"/>
                </a:lnTo>
                <a:lnTo>
                  <a:pt x="1616352" y="75188"/>
                </a:lnTo>
                <a:lnTo>
                  <a:pt x="1632916" y="123090"/>
                </a:lnTo>
                <a:lnTo>
                  <a:pt x="1636504" y="160627"/>
                </a:lnTo>
                <a:lnTo>
                  <a:pt x="1635954" y="180969"/>
                </a:lnTo>
                <a:lnTo>
                  <a:pt x="1629986" y="224620"/>
                </a:lnTo>
                <a:lnTo>
                  <a:pt x="1617290" y="271988"/>
                </a:lnTo>
                <a:lnTo>
                  <a:pt x="1597578" y="322786"/>
                </a:lnTo>
                <a:lnTo>
                  <a:pt x="1570564" y="376728"/>
                </a:lnTo>
                <a:lnTo>
                  <a:pt x="1535960" y="433527"/>
                </a:lnTo>
                <a:lnTo>
                  <a:pt x="1493481" y="492896"/>
                </a:lnTo>
                <a:lnTo>
                  <a:pt x="1469198" y="523455"/>
                </a:lnTo>
                <a:lnTo>
                  <a:pt x="1442838" y="554548"/>
                </a:lnTo>
                <a:lnTo>
                  <a:pt x="1414366" y="586141"/>
                </a:lnTo>
                <a:lnTo>
                  <a:pt x="1383746" y="618197"/>
                </a:lnTo>
                <a:lnTo>
                  <a:pt x="1350942" y="650680"/>
                </a:lnTo>
                <a:lnTo>
                  <a:pt x="1315918" y="683555"/>
                </a:lnTo>
                <a:lnTo>
                  <a:pt x="1278638" y="716785"/>
                </a:lnTo>
                <a:lnTo>
                  <a:pt x="1239066" y="750335"/>
                </a:lnTo>
                <a:lnTo>
                  <a:pt x="1197167" y="784169"/>
                </a:lnTo>
                <a:lnTo>
                  <a:pt x="1152904" y="818252"/>
                </a:lnTo>
                <a:lnTo>
                  <a:pt x="1197167" y="852334"/>
                </a:lnTo>
                <a:lnTo>
                  <a:pt x="1239066" y="886168"/>
                </a:lnTo>
                <a:lnTo>
                  <a:pt x="1278638" y="919718"/>
                </a:lnTo>
                <a:lnTo>
                  <a:pt x="1315918" y="952949"/>
                </a:lnTo>
                <a:lnTo>
                  <a:pt x="1350942" y="985824"/>
                </a:lnTo>
                <a:lnTo>
                  <a:pt x="1383746" y="1018307"/>
                </a:lnTo>
                <a:lnTo>
                  <a:pt x="1414366" y="1050363"/>
                </a:lnTo>
                <a:lnTo>
                  <a:pt x="1442838" y="1081955"/>
                </a:lnTo>
                <a:lnTo>
                  <a:pt x="1469198" y="1113049"/>
                </a:lnTo>
                <a:lnTo>
                  <a:pt x="1493481" y="1143607"/>
                </a:lnTo>
                <a:lnTo>
                  <a:pt x="1535960" y="1202976"/>
                </a:lnTo>
                <a:lnTo>
                  <a:pt x="1570564" y="1259775"/>
                </a:lnTo>
                <a:lnTo>
                  <a:pt x="1597578" y="1313717"/>
                </a:lnTo>
                <a:lnTo>
                  <a:pt x="1617290" y="1364516"/>
                </a:lnTo>
                <a:lnTo>
                  <a:pt x="1629986" y="1411884"/>
                </a:lnTo>
                <a:lnTo>
                  <a:pt x="1635954" y="1455535"/>
                </a:lnTo>
                <a:lnTo>
                  <a:pt x="1636504" y="1475876"/>
                </a:lnTo>
                <a:lnTo>
                  <a:pt x="1635480" y="1495181"/>
                </a:lnTo>
                <a:lnTo>
                  <a:pt x="1623317" y="1546517"/>
                </a:lnTo>
                <a:lnTo>
                  <a:pt x="1598273" y="1587229"/>
                </a:lnTo>
                <a:lnTo>
                  <a:pt x="1561316" y="1616352"/>
                </a:lnTo>
                <a:lnTo>
                  <a:pt x="1513414" y="1632916"/>
                </a:lnTo>
                <a:lnTo>
                  <a:pt x="1495182" y="1635479"/>
                </a:lnTo>
                <a:lnTo>
                  <a:pt x="1475877" y="16365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86749" y="2708444"/>
            <a:ext cx="14094460" cy="379539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700" spc="-2475" b="0">
                <a:latin typeface="Lucida Sans Unicode"/>
                <a:cs typeface="Lucida Sans Unicode"/>
              </a:rPr>
              <a:t>T</a:t>
            </a:r>
            <a:r>
              <a:rPr dirty="0" sz="24700" spc="-2055" b="0">
                <a:latin typeface="Lucida Sans Unicode"/>
                <a:cs typeface="Lucida Sans Unicode"/>
              </a:rPr>
              <a:t>h</a:t>
            </a:r>
            <a:r>
              <a:rPr dirty="0" sz="24700" spc="-1739" b="0">
                <a:latin typeface="Lucida Sans Unicode"/>
                <a:cs typeface="Lucida Sans Unicode"/>
              </a:rPr>
              <a:t>a</a:t>
            </a:r>
            <a:r>
              <a:rPr dirty="0" sz="24700" spc="-2055" b="0">
                <a:latin typeface="Lucida Sans Unicode"/>
                <a:cs typeface="Lucida Sans Unicode"/>
              </a:rPr>
              <a:t>n</a:t>
            </a:r>
            <a:r>
              <a:rPr dirty="0" sz="24700" spc="-55" b="0">
                <a:latin typeface="Lucida Sans Unicode"/>
                <a:cs typeface="Lucida Sans Unicode"/>
              </a:rPr>
              <a:t>k</a:t>
            </a:r>
            <a:r>
              <a:rPr dirty="0" sz="24700" spc="-5315" b="0">
                <a:latin typeface="Lucida Sans Unicode"/>
                <a:cs typeface="Lucida Sans Unicode"/>
              </a:rPr>
              <a:t> </a:t>
            </a:r>
            <a:r>
              <a:rPr dirty="0" sz="24700" spc="-2140" b="0" i="1">
                <a:latin typeface="Verdana"/>
                <a:cs typeface="Verdana"/>
              </a:rPr>
              <a:t>Y</a:t>
            </a:r>
            <a:r>
              <a:rPr dirty="0" sz="24700" spc="-1935" b="0" i="1">
                <a:latin typeface="Verdana"/>
                <a:cs typeface="Verdana"/>
              </a:rPr>
              <a:t>o</a:t>
            </a:r>
            <a:r>
              <a:rPr dirty="0" sz="24700" spc="25" b="0" i="1">
                <a:latin typeface="Verdana"/>
                <a:cs typeface="Verdana"/>
              </a:rPr>
              <a:t>u</a:t>
            </a:r>
            <a:endParaRPr sz="24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Shriya Mehta</dc:creator>
  <cp:keywords>DAHTvaXg0Is,BAGsUAtPpQA</cp:keywords>
  <dc:title>Predictive Modeling for Course Demand and Revenue Forecasting on EduPro</dc:title>
  <dcterms:created xsi:type="dcterms:W3CDTF">2026-08-31T08:23:38Z</dcterms:created>
  <dcterms:modified xsi:type="dcterms:W3CDTF">2026-08-31T08:23:38Z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2026-08-30T00:00:00Z</vt:filetime>
  </property>
  <property fmtid="{D5CDD505-2E9C-101B-9397-08002B2CF9AE}" pid="4" name="Creator">
    <vt:lpwstr>Canva</vt:lpwstr>
  </property>
  <property fmtid="{D5CDD505-2E9C-101B-9397-08002B2CF9AE}" pid="5" name="LastSaved">
    <vt:filetime>2026-08-31T00:00:00Z</vt:filetime>
  </property>
  <property fmtid="{D5CDD505-2E9C-101B-9397-08002B2CF9AE}" pid="6" name="Producer">
    <vt:lpwstr>Canva</vt:lpwstr>
  </property>
</Properties>
</file>